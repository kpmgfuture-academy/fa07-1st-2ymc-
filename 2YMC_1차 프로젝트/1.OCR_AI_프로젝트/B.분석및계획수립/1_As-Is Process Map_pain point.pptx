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6.xml" ContentType="application/vnd.openxmlformats-officedocument.theme+xml"/>
  <Override PartName="/ppt/slideLayouts/slideLayout2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  <p:sldMasterId id="2147483653" r:id="rId2"/>
    <p:sldMasterId id="2147483660" r:id="rId3"/>
    <p:sldMasterId id="2147483662" r:id="rId4"/>
    <p:sldMasterId id="2147483664" r:id="rId5"/>
    <p:sldMasterId id="2147483666" r:id="rId6"/>
    <p:sldMasterId id="2147483673" r:id="rId7"/>
  </p:sldMasterIdLst>
  <p:notesMasterIdLst>
    <p:notesMasterId r:id="rId11"/>
  </p:notesMasterIdLst>
  <p:sldIdLst>
    <p:sldId id="256" r:id="rId8"/>
    <p:sldId id="257" r:id="rId9"/>
    <p:sldId id="258" r:id="rId10"/>
  </p:sldIdLst>
  <p:sldSz cx="9906000" cy="6858000" type="A4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1253">
          <p15:clr>
            <a:srgbClr val="A4A3A4"/>
          </p15:clr>
        </p15:guide>
        <p15:guide id="3" orient="horz" pos="4020">
          <p15:clr>
            <a:srgbClr val="A4A3A4"/>
          </p15:clr>
        </p15:guide>
        <p15:guide id="4" orient="horz" pos="4201">
          <p15:clr>
            <a:srgbClr val="A4A3A4"/>
          </p15:clr>
        </p15:guide>
        <p15:guide id="5" pos="262">
          <p15:clr>
            <a:srgbClr val="A4A3A4"/>
          </p15:clr>
        </p15:guide>
        <p15:guide id="6" pos="5978">
          <p15:clr>
            <a:srgbClr val="A4A3A4"/>
          </p15:clr>
        </p15:guide>
        <p15:guide id="7" pos="3120">
          <p15:clr>
            <a:srgbClr val="A4A3A4"/>
          </p15:clr>
        </p15:guide>
        <p15:guide id="8" orient="horz" pos="1207">
          <p15:clr>
            <a:srgbClr val="A4A3A4"/>
          </p15:clr>
        </p15:guide>
        <p15:guide id="9" orient="horz" pos="3974">
          <p15:clr>
            <a:srgbClr val="A4A3A4"/>
          </p15:clr>
        </p15:guide>
        <p15:guide id="10" orient="horz" pos="3929">
          <p15:clr>
            <a:srgbClr val="A4A3A4"/>
          </p15:clr>
        </p15:guide>
        <p15:guide id="11" orient="horz" pos="935">
          <p15:clr>
            <a:srgbClr val="A4A3A4"/>
          </p15:clr>
        </p15:guide>
        <p15:guide id="12" orient="horz" pos="391">
          <p15:clr>
            <a:srgbClr val="A4A3A4"/>
          </p15:clr>
        </p15:guide>
        <p15:guide id="13" pos="1669">
          <p15:clr>
            <a:srgbClr val="A4A3A4"/>
          </p15:clr>
        </p15:guide>
        <p15:guide id="14" pos="4572">
          <p15:clr>
            <a:srgbClr val="A4A3A4"/>
          </p15:clr>
        </p15:guide>
        <p15:guide id="15" orient="horz" pos="4156">
          <p15:clr>
            <a:srgbClr val="A4A3A4"/>
          </p15:clr>
        </p15:guide>
        <p15:guide id="16" pos="2349">
          <p15:clr>
            <a:srgbClr val="A4A3A4"/>
          </p15:clr>
        </p15:guide>
        <p15:guide id="17" orient="horz" pos="4065">
          <p15:clr>
            <a:srgbClr val="A4A3A4"/>
          </p15:clr>
        </p15:guide>
        <p15:guide id="18" orient="horz" pos="436">
          <p15:clr>
            <a:srgbClr val="A4A3A4"/>
          </p15:clr>
        </p15:guide>
        <p15:guide id="19" pos="3891">
          <p15:clr>
            <a:srgbClr val="A4A3A4"/>
          </p15:clr>
        </p15:guide>
        <p15:guide id="20" pos="10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45">
          <p15:clr>
            <a:srgbClr val="A4A3A4"/>
          </p15:clr>
        </p15:guide>
        <p15:guide id="3" orient="horz" pos="3128">
          <p15:clr>
            <a:srgbClr val="A4A3A4"/>
          </p15:clr>
        </p15:guide>
        <p15:guide id="4" pos="2141">
          <p15:clr>
            <a:srgbClr val="A4A3A4"/>
          </p15:clr>
        </p15:guide>
        <p15:guide id="5" orient="horz" pos="3132">
          <p15:clr>
            <a:srgbClr val="A4A3A4"/>
          </p15:clr>
        </p15:guide>
        <p15:guide id="6" orient="horz" pos="3127">
          <p15:clr>
            <a:srgbClr val="A4A3A4"/>
          </p15:clr>
        </p15:guide>
        <p15:guide id="7" orient="horz" pos="3134">
          <p15:clr>
            <a:srgbClr val="A4A3A4"/>
          </p15:clr>
        </p15:guide>
        <p15:guide id="8" orient="horz" pos="3129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itoGF24MRN5qAdpMIoUs8/SOEA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B31678-F45E-4B1D-A3EF-1DC8ED5C2641}">
  <a:tblStyle styleId="{48B31678-F45E-4B1D-A3EF-1DC8ED5C26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008" y="36"/>
      </p:cViewPr>
      <p:guideLst>
        <p:guide orient="horz" pos="4110"/>
        <p:guide orient="horz" pos="1253"/>
        <p:guide orient="horz" pos="4020"/>
        <p:guide orient="horz" pos="4201"/>
        <p:guide pos="262"/>
        <p:guide pos="5978"/>
        <p:guide pos="3120"/>
        <p:guide orient="horz" pos="1207"/>
        <p:guide orient="horz" pos="3974"/>
        <p:guide orient="horz" pos="3929"/>
        <p:guide orient="horz" pos="935"/>
        <p:guide orient="horz" pos="391"/>
        <p:guide pos="1669"/>
        <p:guide pos="4572"/>
        <p:guide orient="horz" pos="4156"/>
        <p:guide pos="2349"/>
        <p:guide orient="horz" pos="4065"/>
        <p:guide orient="horz" pos="436"/>
        <p:guide pos="3891"/>
        <p:guide pos="10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33"/>
        <p:guide pos="2145"/>
        <p:guide orient="horz" pos="3128"/>
        <p:guide pos="2141"/>
        <p:guide orient="horz" pos="3132"/>
        <p:guide orient="horz" pos="3127"/>
        <p:guide orient="horz" pos="3134"/>
        <p:guide orient="horz" pos="3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3"/>
            <a:ext cx="2949306" cy="49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372" y="3"/>
            <a:ext cx="2949306" cy="49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20725" y="747713"/>
            <a:ext cx="5380038" cy="3725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06993" y="4711190"/>
            <a:ext cx="4983694" cy="447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9435068"/>
            <a:ext cx="2949306" cy="493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372" y="9435068"/>
            <a:ext cx="2949306" cy="493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906993" y="4711190"/>
            <a:ext cx="4983600" cy="4470300"/>
          </a:xfrm>
          <a:prstGeom prst="rect">
            <a:avLst/>
          </a:prstGeom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0725" y="747713"/>
            <a:ext cx="5379900" cy="3726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906993" y="4711190"/>
            <a:ext cx="4983694" cy="4470158"/>
          </a:xfrm>
          <a:prstGeom prst="rect">
            <a:avLst/>
          </a:prstGeom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0725" y="747713"/>
            <a:ext cx="5380038" cy="3725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/>
          <p:cNvSpPr txBox="1">
            <a:spLocks noGrp="1"/>
          </p:cNvSpPr>
          <p:nvPr>
            <p:ph type="body" idx="1"/>
          </p:nvPr>
        </p:nvSpPr>
        <p:spPr>
          <a:xfrm>
            <a:off x="906993" y="4711190"/>
            <a:ext cx="4983694" cy="4470158"/>
          </a:xfrm>
          <a:prstGeom prst="rect">
            <a:avLst/>
          </a:prstGeom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0725" y="747713"/>
            <a:ext cx="5380038" cy="3725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3838575" y="6492875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ldNum" idx="12"/>
          </p:nvPr>
        </p:nvSpPr>
        <p:spPr>
          <a:xfrm>
            <a:off x="3838575" y="6492875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3838575" y="652760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고객사 로고 있는 내지">
  <p:cSld name="7_고객사 로고 있는 내지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076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51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8"/>
          <p:cNvSpPr/>
          <p:nvPr/>
        </p:nvSpPr>
        <p:spPr>
          <a:xfrm>
            <a:off x="4642659" y="6575015"/>
            <a:ext cx="620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fld id="{00000000-1234-1234-1234-123412341234}" type="slidenum">
              <a:rPr lang="ko-KR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lang="ko-KR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endParaRPr sz="9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8"/>
          <p:cNvSpPr/>
          <p:nvPr/>
        </p:nvSpPr>
        <p:spPr>
          <a:xfrm>
            <a:off x="450982" y="458132"/>
            <a:ext cx="60960" cy="16575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8"/>
          <p:cNvCxnSpPr/>
          <p:nvPr/>
        </p:nvCxnSpPr>
        <p:spPr>
          <a:xfrm>
            <a:off x="415925" y="676256"/>
            <a:ext cx="9074150" cy="1588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8"/>
          <p:cNvSpPr txBox="1"/>
          <p:nvPr/>
        </p:nvSpPr>
        <p:spPr>
          <a:xfrm>
            <a:off x="7130408" y="269829"/>
            <a:ext cx="2372400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Ⅴ. 기타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간지">
  <p:cSld name="19_간지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0" y="3500440"/>
            <a:ext cx="99060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orient="horz" pos="256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고객사 로고 있는 내지">
  <p:cSld name="4_고객사 로고 있는 내지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34" name="Google Shape;34;p11"/>
          <p:cNvSpPr/>
          <p:nvPr/>
        </p:nvSpPr>
        <p:spPr>
          <a:xfrm>
            <a:off x="4642659" y="6575015"/>
            <a:ext cx="620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1"/>
          <p:cNvSpPr/>
          <p:nvPr/>
        </p:nvSpPr>
        <p:spPr>
          <a:xfrm>
            <a:off x="450982" y="458132"/>
            <a:ext cx="60900" cy="165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15925" y="676256"/>
            <a:ext cx="9074100" cy="1500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11"/>
          <p:cNvSpPr txBox="1"/>
          <p:nvPr/>
        </p:nvSpPr>
        <p:spPr>
          <a:xfrm>
            <a:off x="7130408" y="269829"/>
            <a:ext cx="2372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Ⅱ. 제안개요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고객사 로고 있는 내지">
  <p:cSld name="5_고객사 로고 있는 내지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1" name="Google Shape;41;p12"/>
          <p:cNvSpPr/>
          <p:nvPr/>
        </p:nvSpPr>
        <p:spPr>
          <a:xfrm>
            <a:off x="4642659" y="6575015"/>
            <a:ext cx="620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2"/>
          <p:cNvSpPr/>
          <p:nvPr/>
        </p:nvSpPr>
        <p:spPr>
          <a:xfrm>
            <a:off x="450982" y="458132"/>
            <a:ext cx="60900" cy="165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12"/>
          <p:cNvCxnSpPr/>
          <p:nvPr/>
        </p:nvCxnSpPr>
        <p:spPr>
          <a:xfrm>
            <a:off x="415925" y="676256"/>
            <a:ext cx="9074100" cy="1500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12"/>
          <p:cNvSpPr txBox="1"/>
          <p:nvPr/>
        </p:nvSpPr>
        <p:spPr>
          <a:xfrm>
            <a:off x="7130408" y="269829"/>
            <a:ext cx="2372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Ⅲ. 사업관리 부문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고객사 로고 있는 내지">
  <p:cSld name="6_고객사 로고 있는 내지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/>
          <p:nvPr/>
        </p:nvSpPr>
        <p:spPr>
          <a:xfrm>
            <a:off x="4642659" y="6575015"/>
            <a:ext cx="620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3"/>
          <p:cNvSpPr/>
          <p:nvPr/>
        </p:nvSpPr>
        <p:spPr>
          <a:xfrm>
            <a:off x="450982" y="458132"/>
            <a:ext cx="60900" cy="165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13"/>
          <p:cNvCxnSpPr/>
          <p:nvPr/>
        </p:nvCxnSpPr>
        <p:spPr>
          <a:xfrm>
            <a:off x="415925" y="676256"/>
            <a:ext cx="9074100" cy="1500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13"/>
          <p:cNvSpPr txBox="1"/>
          <p:nvPr/>
        </p:nvSpPr>
        <p:spPr>
          <a:xfrm>
            <a:off x="7130408" y="269829"/>
            <a:ext cx="2372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Ⅳ. 사업내용 부문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고객사 로고 있는 내지">
  <p:cSld name="7_고객사 로고 있는 내지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/>
          <p:nvPr/>
        </p:nvSpPr>
        <p:spPr>
          <a:xfrm>
            <a:off x="4642659" y="6575015"/>
            <a:ext cx="620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450982" y="458132"/>
            <a:ext cx="60900" cy="165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14"/>
          <p:cNvCxnSpPr/>
          <p:nvPr/>
        </p:nvCxnSpPr>
        <p:spPr>
          <a:xfrm>
            <a:off x="415925" y="676256"/>
            <a:ext cx="9074100" cy="1500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4"/>
          <p:cNvSpPr txBox="1"/>
          <p:nvPr/>
        </p:nvSpPr>
        <p:spPr>
          <a:xfrm>
            <a:off x="7130408" y="269829"/>
            <a:ext cx="2372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Ⅴ. 기타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고객사 로고 있는 내지">
  <p:cSld name="8_고객사 로고 있는 내지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4642659" y="6575015"/>
            <a:ext cx="620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50982" y="458132"/>
            <a:ext cx="60900" cy="165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15"/>
          <p:cNvCxnSpPr/>
          <p:nvPr/>
        </p:nvCxnSpPr>
        <p:spPr>
          <a:xfrm>
            <a:off x="415925" y="676256"/>
            <a:ext cx="9074100" cy="1500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" name="Google Shape;65;p15"/>
          <p:cNvSpPr txBox="1"/>
          <p:nvPr/>
        </p:nvSpPr>
        <p:spPr>
          <a:xfrm>
            <a:off x="7130408" y="269829"/>
            <a:ext cx="2372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별첨자료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번호있는 슬라이드">
  <p:cSld name="번호있는 슬라이드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9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번호있는 슬라이드">
  <p:cSld name="번호있는 슬라이드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9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번호있는 슬라이드">
  <p:cSld name="번호있는 슬라이드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9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간지">
  <p:cSld name="19_간지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>
            <a:off x="0" y="3500440"/>
            <a:ext cx="99060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orient="horz" pos="256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고객사 로고 있는 내지">
  <p:cSld name="4_고객사 로고 있는 내지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4" name="Google Shape;84;p24"/>
          <p:cNvSpPr/>
          <p:nvPr/>
        </p:nvSpPr>
        <p:spPr>
          <a:xfrm>
            <a:off x="4642659" y="6575015"/>
            <a:ext cx="620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4"/>
          <p:cNvSpPr/>
          <p:nvPr/>
        </p:nvSpPr>
        <p:spPr>
          <a:xfrm>
            <a:off x="450982" y="458132"/>
            <a:ext cx="60900" cy="165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p24"/>
          <p:cNvCxnSpPr/>
          <p:nvPr/>
        </p:nvCxnSpPr>
        <p:spPr>
          <a:xfrm>
            <a:off x="415925" y="676256"/>
            <a:ext cx="9074100" cy="1500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24"/>
          <p:cNvSpPr txBox="1"/>
          <p:nvPr/>
        </p:nvSpPr>
        <p:spPr>
          <a:xfrm>
            <a:off x="7130408" y="269829"/>
            <a:ext cx="2372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Ⅱ. 제안개요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고객사 로고 있는 내지">
  <p:cSld name="5_고객사 로고 있는 내지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5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91" name="Google Shape;91;p25"/>
          <p:cNvSpPr/>
          <p:nvPr/>
        </p:nvSpPr>
        <p:spPr>
          <a:xfrm>
            <a:off x="4642659" y="6575015"/>
            <a:ext cx="620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5"/>
          <p:cNvSpPr/>
          <p:nvPr/>
        </p:nvSpPr>
        <p:spPr>
          <a:xfrm>
            <a:off x="450982" y="458132"/>
            <a:ext cx="60900" cy="165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25"/>
          <p:cNvCxnSpPr/>
          <p:nvPr/>
        </p:nvCxnSpPr>
        <p:spPr>
          <a:xfrm>
            <a:off x="415925" y="676256"/>
            <a:ext cx="9074100" cy="1500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25"/>
          <p:cNvSpPr txBox="1"/>
          <p:nvPr/>
        </p:nvSpPr>
        <p:spPr>
          <a:xfrm>
            <a:off x="7130408" y="269829"/>
            <a:ext cx="2372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Ⅲ. 사업관리 부문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고객사 로고 있는 내지">
  <p:cSld name="6_고객사 로고 있는 내지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6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98" name="Google Shape;98;p26"/>
          <p:cNvSpPr/>
          <p:nvPr/>
        </p:nvSpPr>
        <p:spPr>
          <a:xfrm>
            <a:off x="4642659" y="6575015"/>
            <a:ext cx="620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6"/>
          <p:cNvSpPr/>
          <p:nvPr/>
        </p:nvSpPr>
        <p:spPr>
          <a:xfrm>
            <a:off x="450982" y="458132"/>
            <a:ext cx="60900" cy="165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26"/>
          <p:cNvCxnSpPr/>
          <p:nvPr/>
        </p:nvCxnSpPr>
        <p:spPr>
          <a:xfrm>
            <a:off x="415925" y="676256"/>
            <a:ext cx="9074100" cy="1500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p26"/>
          <p:cNvSpPr txBox="1"/>
          <p:nvPr/>
        </p:nvSpPr>
        <p:spPr>
          <a:xfrm>
            <a:off x="7130408" y="269829"/>
            <a:ext cx="2372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Ⅳ. 사업내용 부문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고객사 로고 있는 내지">
  <p:cSld name="7_고객사 로고 있는 내지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05" name="Google Shape;105;p27"/>
          <p:cNvSpPr/>
          <p:nvPr/>
        </p:nvSpPr>
        <p:spPr>
          <a:xfrm>
            <a:off x="4642659" y="6575015"/>
            <a:ext cx="620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7"/>
          <p:cNvSpPr/>
          <p:nvPr/>
        </p:nvSpPr>
        <p:spPr>
          <a:xfrm>
            <a:off x="450982" y="458132"/>
            <a:ext cx="60900" cy="165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27"/>
          <p:cNvCxnSpPr/>
          <p:nvPr/>
        </p:nvCxnSpPr>
        <p:spPr>
          <a:xfrm>
            <a:off x="415925" y="676256"/>
            <a:ext cx="9074100" cy="1500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27"/>
          <p:cNvSpPr txBox="1"/>
          <p:nvPr/>
        </p:nvSpPr>
        <p:spPr>
          <a:xfrm>
            <a:off x="7130408" y="269829"/>
            <a:ext cx="2372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Ⅴ. 기타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고객사 로고 있는 내지">
  <p:cSld name="8_고객사 로고 있는 내지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2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2" name="Google Shape;112;p28"/>
          <p:cNvSpPr/>
          <p:nvPr/>
        </p:nvSpPr>
        <p:spPr>
          <a:xfrm>
            <a:off x="4642659" y="6575015"/>
            <a:ext cx="620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8"/>
          <p:cNvSpPr/>
          <p:nvPr/>
        </p:nvSpPr>
        <p:spPr>
          <a:xfrm>
            <a:off x="450982" y="458132"/>
            <a:ext cx="60900" cy="165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8"/>
          <p:cNvCxnSpPr/>
          <p:nvPr/>
        </p:nvCxnSpPr>
        <p:spPr>
          <a:xfrm>
            <a:off x="415925" y="676256"/>
            <a:ext cx="9074100" cy="1500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p28"/>
          <p:cNvSpPr txBox="1"/>
          <p:nvPr/>
        </p:nvSpPr>
        <p:spPr>
          <a:xfrm>
            <a:off x="7130408" y="269829"/>
            <a:ext cx="2372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별첨자료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간지">
  <p:cSld name="19_간지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>
            <a:spLocks noGrp="1"/>
          </p:cNvSpPr>
          <p:nvPr>
            <p:ph type="body" idx="1"/>
          </p:nvPr>
        </p:nvSpPr>
        <p:spPr>
          <a:xfrm>
            <a:off x="0" y="3500440"/>
            <a:ext cx="99060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9" name="Google Shape;119;p30"/>
          <p:cNvSpPr/>
          <p:nvPr/>
        </p:nvSpPr>
        <p:spPr>
          <a:xfrm>
            <a:off x="4448944" y="2428868"/>
            <a:ext cx="1008000" cy="1008000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0"/>
          <p:cNvSpPr txBox="1">
            <a:spLocks noGrp="1"/>
          </p:cNvSpPr>
          <p:nvPr>
            <p:ph type="body" idx="2"/>
          </p:nvPr>
        </p:nvSpPr>
        <p:spPr>
          <a:xfrm>
            <a:off x="4445000" y="2428868"/>
            <a:ext cx="10161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orient="horz" pos="256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3838575" y="6492875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9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9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9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"/>
          <p:cNvSpPr/>
          <p:nvPr/>
        </p:nvSpPr>
        <p:spPr>
          <a:xfrm>
            <a:off x="817190" y="3484760"/>
            <a:ext cx="8208900" cy="7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000"/>
              <a:buFont typeface="Malgun Gothic"/>
              <a:buNone/>
            </a:pPr>
            <a:r>
              <a:rPr lang="ko-KR" sz="40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보험 청구 문서 처리 Process 분석</a:t>
            </a:r>
            <a:endParaRPr sz="4000" b="1" i="0" u="none" strike="noStrike" cap="none">
              <a:solidFill>
                <a:srgbClr val="1F386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4563600" y="2404640"/>
            <a:ext cx="716100" cy="650100"/>
          </a:xfrm>
          <a:prstGeom prst="rect">
            <a:avLst/>
          </a:prstGeom>
          <a:solidFill>
            <a:srgbClr val="1F3662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algun Gothic"/>
              <a:buNone/>
            </a:pPr>
            <a:r>
              <a:rPr lang="ko-KR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44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/>
          <p:nvPr/>
        </p:nvSpPr>
        <p:spPr>
          <a:xfrm>
            <a:off x="0" y="542002"/>
            <a:ext cx="9906000" cy="72873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2" name="Google Shape;132;p2"/>
          <p:cNvCxnSpPr/>
          <p:nvPr/>
        </p:nvCxnSpPr>
        <p:spPr>
          <a:xfrm>
            <a:off x="0" y="542002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" name="Google Shape;133;p2"/>
          <p:cNvSpPr txBox="1"/>
          <p:nvPr/>
        </p:nvSpPr>
        <p:spPr>
          <a:xfrm>
            <a:off x="260410" y="99710"/>
            <a:ext cx="4037277" cy="37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Malgun Gothic"/>
              <a:buNone/>
            </a:pPr>
            <a:r>
              <a:rPr lang="ko-KR" sz="1800" b="0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현황 분석</a:t>
            </a:r>
            <a:endParaRPr sz="1800" b="0" i="0" u="none" strike="noStrike" cap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200025" y="153593"/>
            <a:ext cx="60385" cy="284671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338987" y="645742"/>
            <a:ext cx="4188069" cy="33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보험 청구 문서 처리 프로세스 분석</a:t>
            </a:r>
            <a:endParaRPr/>
          </a:p>
        </p:txBody>
      </p:sp>
      <p:grpSp>
        <p:nvGrpSpPr>
          <p:cNvPr id="136" name="Google Shape;136;p2"/>
          <p:cNvGrpSpPr/>
          <p:nvPr/>
        </p:nvGrpSpPr>
        <p:grpSpPr>
          <a:xfrm>
            <a:off x="200025" y="717415"/>
            <a:ext cx="175563" cy="170983"/>
            <a:chOff x="4188618" y="3162300"/>
            <a:chExt cx="547687" cy="533400"/>
          </a:xfrm>
        </p:grpSpPr>
        <p:sp>
          <p:nvSpPr>
            <p:cNvPr id="137" name="Google Shape;137;p2"/>
            <p:cNvSpPr/>
            <p:nvPr/>
          </p:nvSpPr>
          <p:spPr>
            <a:xfrm>
              <a:off x="44172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119063" y="0"/>
                  </a:move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41886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0" y="533400"/>
                  </a:move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39" name="Google Shape;139;p2"/>
          <p:cNvSpPr txBox="1"/>
          <p:nvPr/>
        </p:nvSpPr>
        <p:spPr>
          <a:xfrm>
            <a:off x="375588" y="946596"/>
            <a:ext cx="8376139" cy="29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82064" marR="0" lvl="0" indent="-82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Malgun Gothic"/>
              <a:buNone/>
            </a:pPr>
            <a:r>
              <a:rPr lang="ko-KR" sz="1100" b="1" i="0" u="none" strike="noStrik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현행(As-Is) 보험 청구 프로세스는OCR + 수동검증 혼합 구조로 이루어져 있으며,인식 → 분류 → 추출 → 검증까지는 자동화되었음.</a:t>
            </a:r>
            <a:endParaRPr sz="1100" b="1" i="0" u="none" strike="noStrike" cap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210680" y="1708243"/>
            <a:ext cx="9507786" cy="4781457"/>
          </a:xfrm>
          <a:prstGeom prst="rect">
            <a:avLst/>
          </a:prstGeom>
          <a:solidFill>
            <a:srgbClr val="EBF0F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523484" y="4442784"/>
            <a:ext cx="1427974" cy="1270704"/>
          </a:xfrm>
          <a:custGeom>
            <a:avLst/>
            <a:gdLst/>
            <a:ahLst/>
            <a:cxnLst/>
            <a:rect l="l" t="t" r="r" b="b"/>
            <a:pathLst>
              <a:path w="1427974" h="1270704" extrusionOk="0">
                <a:moveTo>
                  <a:pt x="1007524" y="0"/>
                </a:moveTo>
                <a:lnTo>
                  <a:pt x="420451" y="0"/>
                </a:lnTo>
                <a:cubicBezTo>
                  <a:pt x="375087" y="0"/>
                  <a:pt x="333200" y="24213"/>
                  <a:pt x="310518" y="63450"/>
                </a:cubicBezTo>
                <a:lnTo>
                  <a:pt x="17011" y="571873"/>
                </a:lnTo>
                <a:cubicBezTo>
                  <a:pt x="-5670" y="611168"/>
                  <a:pt x="-5670" y="659536"/>
                  <a:pt x="17011" y="698832"/>
                </a:cubicBezTo>
                <a:lnTo>
                  <a:pt x="310518" y="1207255"/>
                </a:lnTo>
                <a:cubicBezTo>
                  <a:pt x="333200" y="1246550"/>
                  <a:pt x="375087" y="1270705"/>
                  <a:pt x="420451" y="1270705"/>
                </a:cubicBezTo>
                <a:lnTo>
                  <a:pt x="1007524" y="1270705"/>
                </a:lnTo>
                <a:cubicBezTo>
                  <a:pt x="1052887" y="1270705"/>
                  <a:pt x="1094774" y="1246491"/>
                  <a:pt x="1117456" y="1207255"/>
                </a:cubicBezTo>
                <a:lnTo>
                  <a:pt x="1410963" y="698832"/>
                </a:lnTo>
                <a:cubicBezTo>
                  <a:pt x="1433645" y="659536"/>
                  <a:pt x="1433645" y="611168"/>
                  <a:pt x="1410963" y="571873"/>
                </a:cubicBezTo>
                <a:lnTo>
                  <a:pt x="1117515" y="63450"/>
                </a:lnTo>
                <a:cubicBezTo>
                  <a:pt x="1094833" y="24155"/>
                  <a:pt x="1052946" y="0"/>
                  <a:pt x="100758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2"/>
          <p:cNvGrpSpPr/>
          <p:nvPr/>
        </p:nvGrpSpPr>
        <p:grpSpPr>
          <a:xfrm>
            <a:off x="1084490" y="4300080"/>
            <a:ext cx="320274" cy="320274"/>
            <a:chOff x="1461449" y="4063836"/>
            <a:chExt cx="271914" cy="271914"/>
          </a:xfrm>
        </p:grpSpPr>
        <p:sp>
          <p:nvSpPr>
            <p:cNvPr id="143" name="Google Shape;143;p2"/>
            <p:cNvSpPr/>
            <p:nvPr/>
          </p:nvSpPr>
          <p:spPr>
            <a:xfrm>
              <a:off x="1461449" y="4063836"/>
              <a:ext cx="271914" cy="271914"/>
            </a:xfrm>
            <a:prstGeom prst="ellipse">
              <a:avLst/>
            </a:prstGeom>
            <a:solidFill>
              <a:srgbClr val="99CD4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4" name="Google Shape;144;p2"/>
            <p:cNvSpPr txBox="1"/>
            <p:nvPr/>
          </p:nvSpPr>
          <p:spPr>
            <a:xfrm>
              <a:off x="1482585" y="4069634"/>
              <a:ext cx="250778" cy="262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algun Gothic"/>
                <a:buNone/>
              </a:pPr>
              <a:r>
                <a:rPr lang="ko-KR" sz="14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4</a:t>
              </a:r>
              <a:endParaRPr sz="1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45" name="Google Shape;145;p2"/>
          <p:cNvSpPr/>
          <p:nvPr/>
        </p:nvSpPr>
        <p:spPr>
          <a:xfrm>
            <a:off x="420445" y="5581300"/>
            <a:ext cx="1648365" cy="73469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420445" y="5448670"/>
            <a:ext cx="1648365" cy="256201"/>
          </a:xfrm>
          <a:prstGeom prst="round2SameRect">
            <a:avLst>
              <a:gd name="adj1" fmla="val 36511"/>
              <a:gd name="adj2" fmla="val 0"/>
            </a:avLst>
          </a:prstGeom>
          <a:solidFill>
            <a:srgbClr val="99CD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분류</a:t>
            </a:r>
            <a:endParaRPr sz="12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3434" y="4442784"/>
            <a:ext cx="1425706" cy="12725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148" name="Google Shape;148;p2"/>
          <p:cNvGrpSpPr/>
          <p:nvPr/>
        </p:nvGrpSpPr>
        <p:grpSpPr>
          <a:xfrm>
            <a:off x="3564454" y="4300080"/>
            <a:ext cx="320274" cy="320274"/>
            <a:chOff x="1461449" y="4063836"/>
            <a:chExt cx="271914" cy="271914"/>
          </a:xfrm>
        </p:grpSpPr>
        <p:sp>
          <p:nvSpPr>
            <p:cNvPr id="149" name="Google Shape;149;p2"/>
            <p:cNvSpPr/>
            <p:nvPr/>
          </p:nvSpPr>
          <p:spPr>
            <a:xfrm>
              <a:off x="1461449" y="4063836"/>
              <a:ext cx="271914" cy="271914"/>
            </a:xfrm>
            <a:prstGeom prst="ellipse">
              <a:avLst/>
            </a:prstGeom>
            <a:solidFill>
              <a:srgbClr val="41C5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0" name="Google Shape;150;p2"/>
            <p:cNvSpPr txBox="1"/>
            <p:nvPr/>
          </p:nvSpPr>
          <p:spPr>
            <a:xfrm>
              <a:off x="1464966" y="4069634"/>
              <a:ext cx="250778" cy="262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algun Gothic"/>
                <a:buNone/>
              </a:pPr>
              <a:r>
                <a:rPr lang="ko-KR" sz="1400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5</a:t>
              </a:r>
              <a:endParaRPr sz="1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51" name="Google Shape;151;p2"/>
          <p:cNvSpPr/>
          <p:nvPr/>
        </p:nvSpPr>
        <p:spPr>
          <a:xfrm>
            <a:off x="2900409" y="5581300"/>
            <a:ext cx="1648365" cy="73469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2774046" y="5725524"/>
            <a:ext cx="1911418" cy="5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환자명, 병원명, 진단명, 진단코드, 금액, 날짜 등 주요 필드 식별</a:t>
            </a: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2900409" y="5448669"/>
            <a:ext cx="1648365" cy="256201"/>
          </a:xfrm>
          <a:prstGeom prst="round2SameRect">
            <a:avLst>
              <a:gd name="adj1" fmla="val 36511"/>
              <a:gd name="adj2" fmla="val 0"/>
            </a:avLst>
          </a:prstGeom>
          <a:solidFill>
            <a:srgbClr val="41C5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필드 추출</a:t>
            </a:r>
            <a:endParaRPr sz="12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4" name="Google Shape;15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3398" y="4442784"/>
            <a:ext cx="1425706" cy="12725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155" name="Google Shape;155;p2"/>
          <p:cNvGrpSpPr/>
          <p:nvPr/>
        </p:nvGrpSpPr>
        <p:grpSpPr>
          <a:xfrm>
            <a:off x="6044418" y="4300080"/>
            <a:ext cx="320274" cy="320274"/>
            <a:chOff x="1461449" y="4063836"/>
            <a:chExt cx="271914" cy="271914"/>
          </a:xfrm>
        </p:grpSpPr>
        <p:sp>
          <p:nvSpPr>
            <p:cNvPr id="156" name="Google Shape;156;p2"/>
            <p:cNvSpPr/>
            <p:nvPr/>
          </p:nvSpPr>
          <p:spPr>
            <a:xfrm>
              <a:off x="1461449" y="4063836"/>
              <a:ext cx="271914" cy="271914"/>
            </a:xfrm>
            <a:prstGeom prst="ellipse">
              <a:avLst/>
            </a:prstGeom>
            <a:solidFill>
              <a:srgbClr val="3BC2C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7" name="Google Shape;157;p2"/>
            <p:cNvSpPr txBox="1"/>
            <p:nvPr/>
          </p:nvSpPr>
          <p:spPr>
            <a:xfrm>
              <a:off x="1476592" y="4069634"/>
              <a:ext cx="250778" cy="262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algun Gothic"/>
                <a:buNone/>
              </a:pPr>
              <a:r>
                <a:rPr lang="ko-KR" sz="14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6</a:t>
              </a:r>
              <a:endParaRPr sz="1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58" name="Google Shape;158;p2"/>
          <p:cNvSpPr/>
          <p:nvPr/>
        </p:nvSpPr>
        <p:spPr>
          <a:xfrm>
            <a:off x="5380373" y="5581300"/>
            <a:ext cx="1648365" cy="73469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5380373" y="5448670"/>
            <a:ext cx="1648365" cy="256201"/>
          </a:xfrm>
          <a:prstGeom prst="round2SameRect">
            <a:avLst>
              <a:gd name="adj1" fmla="val 36511"/>
              <a:gd name="adj2" fmla="val 0"/>
            </a:avLst>
          </a:prstGeom>
          <a:solidFill>
            <a:srgbClr val="3BC2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데이터검증</a:t>
            </a:r>
            <a:endParaRPr sz="12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0" name="Google Shape;16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3362" y="4442784"/>
            <a:ext cx="1425706" cy="12725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161" name="Google Shape;161;p2"/>
          <p:cNvGrpSpPr/>
          <p:nvPr/>
        </p:nvGrpSpPr>
        <p:grpSpPr>
          <a:xfrm>
            <a:off x="8524382" y="4300080"/>
            <a:ext cx="320274" cy="320274"/>
            <a:chOff x="1461449" y="4063836"/>
            <a:chExt cx="271914" cy="271914"/>
          </a:xfrm>
        </p:grpSpPr>
        <p:sp>
          <p:nvSpPr>
            <p:cNvPr id="162" name="Google Shape;162;p2"/>
            <p:cNvSpPr/>
            <p:nvPr/>
          </p:nvSpPr>
          <p:spPr>
            <a:xfrm>
              <a:off x="1461449" y="4063836"/>
              <a:ext cx="271914" cy="271914"/>
            </a:xfrm>
            <a:prstGeom prst="ellipse">
              <a:avLst/>
            </a:prstGeom>
            <a:solidFill>
              <a:srgbClr val="3D96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3" name="Google Shape;163;p2"/>
            <p:cNvSpPr txBox="1"/>
            <p:nvPr/>
          </p:nvSpPr>
          <p:spPr>
            <a:xfrm>
              <a:off x="1472017" y="4069634"/>
              <a:ext cx="250778" cy="262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algun Gothic"/>
                <a:buNone/>
              </a:pPr>
              <a:r>
                <a:rPr lang="ko-KR" sz="14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7</a:t>
              </a:r>
              <a:endParaRPr sz="1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64" name="Google Shape;164;p2"/>
          <p:cNvSpPr/>
          <p:nvPr/>
        </p:nvSpPr>
        <p:spPr>
          <a:xfrm>
            <a:off x="7860337" y="5581300"/>
            <a:ext cx="1648365" cy="73469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2"/>
          <p:cNvSpPr txBox="1"/>
          <p:nvPr/>
        </p:nvSpPr>
        <p:spPr>
          <a:xfrm>
            <a:off x="7720506" y="5787501"/>
            <a:ext cx="1911418" cy="41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OCR 결과 ↔ 보험시스템 DB ↔ 병원데이터 비교</a:t>
            </a:r>
            <a:endParaRPr/>
          </a:p>
        </p:txBody>
      </p:sp>
      <p:sp>
        <p:nvSpPr>
          <p:cNvPr id="166" name="Google Shape;166;p2"/>
          <p:cNvSpPr/>
          <p:nvPr/>
        </p:nvSpPr>
        <p:spPr>
          <a:xfrm>
            <a:off x="7860337" y="5448670"/>
            <a:ext cx="1648365" cy="256201"/>
          </a:xfrm>
          <a:prstGeom prst="round2SameRect">
            <a:avLst>
              <a:gd name="adj1" fmla="val 36511"/>
              <a:gd name="adj2" fmla="val 0"/>
            </a:avLst>
          </a:prstGeom>
          <a:solidFill>
            <a:srgbClr val="3D96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교차검증</a:t>
            </a:r>
            <a:endParaRPr sz="12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7" name="Google Shape;167;p2"/>
          <p:cNvGrpSpPr/>
          <p:nvPr/>
        </p:nvGrpSpPr>
        <p:grpSpPr>
          <a:xfrm>
            <a:off x="2200336" y="4753378"/>
            <a:ext cx="529168" cy="515364"/>
            <a:chOff x="4188618" y="3162300"/>
            <a:chExt cx="547687" cy="533400"/>
          </a:xfrm>
        </p:grpSpPr>
        <p:sp>
          <p:nvSpPr>
            <p:cNvPr id="168" name="Google Shape;168;p2"/>
            <p:cNvSpPr/>
            <p:nvPr/>
          </p:nvSpPr>
          <p:spPr>
            <a:xfrm>
              <a:off x="44172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119063" y="0"/>
                  </a:move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close/>
                </a:path>
              </a:pathLst>
            </a:cu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41886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0" y="533400"/>
                  </a:move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70" name="Google Shape;170;p2"/>
          <p:cNvGrpSpPr/>
          <p:nvPr/>
        </p:nvGrpSpPr>
        <p:grpSpPr>
          <a:xfrm>
            <a:off x="4719678" y="4753378"/>
            <a:ext cx="529168" cy="515364"/>
            <a:chOff x="4188618" y="3162300"/>
            <a:chExt cx="547687" cy="533400"/>
          </a:xfrm>
        </p:grpSpPr>
        <p:sp>
          <p:nvSpPr>
            <p:cNvPr id="171" name="Google Shape;171;p2"/>
            <p:cNvSpPr/>
            <p:nvPr/>
          </p:nvSpPr>
          <p:spPr>
            <a:xfrm>
              <a:off x="44172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119063" y="0"/>
                  </a:move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close/>
                </a:path>
              </a:pathLst>
            </a:cu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41886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0" y="533400"/>
                  </a:move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73" name="Google Shape;173;p2"/>
          <p:cNvGrpSpPr/>
          <p:nvPr/>
        </p:nvGrpSpPr>
        <p:grpSpPr>
          <a:xfrm>
            <a:off x="7199642" y="4753378"/>
            <a:ext cx="529168" cy="515364"/>
            <a:chOff x="4188618" y="3162300"/>
            <a:chExt cx="547687" cy="533400"/>
          </a:xfrm>
        </p:grpSpPr>
        <p:sp>
          <p:nvSpPr>
            <p:cNvPr id="174" name="Google Shape;174;p2"/>
            <p:cNvSpPr/>
            <p:nvPr/>
          </p:nvSpPr>
          <p:spPr>
            <a:xfrm>
              <a:off x="44172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119063" y="0"/>
                  </a:move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close/>
                </a:path>
              </a:pathLst>
            </a:cu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41886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0" y="533400"/>
                  </a:move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76" name="Google Shape;176;p2"/>
          <p:cNvCxnSpPr>
            <a:stCxn id="177" idx="2"/>
            <a:endCxn id="144" idx="0"/>
          </p:cNvCxnSpPr>
          <p:nvPr/>
        </p:nvCxnSpPr>
        <p:spPr>
          <a:xfrm rot="5400000">
            <a:off x="4130568" y="1000233"/>
            <a:ext cx="433200" cy="6180000"/>
          </a:xfrm>
          <a:prstGeom prst="bentConnector3">
            <a:avLst>
              <a:gd name="adj1" fmla="val 50000"/>
            </a:avLst>
          </a:prstGeom>
          <a:noFill/>
          <a:ln w="1587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8" name="Google Shape;178;p2"/>
          <p:cNvSpPr txBox="1"/>
          <p:nvPr/>
        </p:nvSpPr>
        <p:spPr>
          <a:xfrm>
            <a:off x="158887" y="6498503"/>
            <a:ext cx="8593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ko-KR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source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2"/>
          <p:cNvSpPr/>
          <p:nvPr/>
        </p:nvSpPr>
        <p:spPr>
          <a:xfrm>
            <a:off x="7773361" y="67378"/>
            <a:ext cx="2156604" cy="405510"/>
          </a:xfrm>
          <a:custGeom>
            <a:avLst/>
            <a:gdLst/>
            <a:ahLst/>
            <a:cxnLst/>
            <a:rect l="l" t="t" r="r" b="b"/>
            <a:pathLst>
              <a:path w="2156604" h="405510" extrusionOk="0">
                <a:moveTo>
                  <a:pt x="241539" y="8626"/>
                </a:moveTo>
                <a:lnTo>
                  <a:pt x="2156604" y="0"/>
                </a:lnTo>
                <a:lnTo>
                  <a:pt x="2156604" y="405510"/>
                </a:lnTo>
                <a:lnTo>
                  <a:pt x="0" y="405510"/>
                </a:lnTo>
                <a:lnTo>
                  <a:pt x="241539" y="8626"/>
                </a:lnTo>
                <a:close/>
              </a:path>
            </a:pathLst>
          </a:custGeom>
          <a:solidFill>
            <a:srgbClr val="20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2"/>
          <p:cNvSpPr txBox="1"/>
          <p:nvPr/>
        </p:nvSpPr>
        <p:spPr>
          <a:xfrm>
            <a:off x="7420512" y="99709"/>
            <a:ext cx="244937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lang="ko-KR" sz="16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ㅇㅇㅇ</a:t>
            </a:r>
            <a:endParaRPr sz="16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1" name="Google Shape;18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6046" y="2000419"/>
            <a:ext cx="1425706" cy="12725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182" name="Google Shape;182;p2"/>
          <p:cNvGrpSpPr/>
          <p:nvPr/>
        </p:nvGrpSpPr>
        <p:grpSpPr>
          <a:xfrm>
            <a:off x="4797066" y="1857715"/>
            <a:ext cx="320274" cy="320274"/>
            <a:chOff x="1461449" y="4063836"/>
            <a:chExt cx="271914" cy="271914"/>
          </a:xfrm>
        </p:grpSpPr>
        <p:sp>
          <p:nvSpPr>
            <p:cNvPr id="183" name="Google Shape;183;p2"/>
            <p:cNvSpPr/>
            <p:nvPr/>
          </p:nvSpPr>
          <p:spPr>
            <a:xfrm>
              <a:off x="1461449" y="4063836"/>
              <a:ext cx="271914" cy="271914"/>
            </a:xfrm>
            <a:prstGeom prst="ellipse">
              <a:avLst/>
            </a:prstGeom>
            <a:solidFill>
              <a:srgbClr val="3BC2C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4" name="Google Shape;184;p2"/>
            <p:cNvSpPr txBox="1"/>
            <p:nvPr/>
          </p:nvSpPr>
          <p:spPr>
            <a:xfrm>
              <a:off x="1479633" y="4069634"/>
              <a:ext cx="250778" cy="262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algun Gothic"/>
                <a:buNone/>
              </a:pPr>
              <a:r>
                <a:rPr lang="ko-KR" sz="14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 sz="1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5" name="Google Shape;185;p2"/>
          <p:cNvSpPr/>
          <p:nvPr/>
        </p:nvSpPr>
        <p:spPr>
          <a:xfrm>
            <a:off x="4133020" y="3138935"/>
            <a:ext cx="1648365" cy="73469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2"/>
          <p:cNvSpPr txBox="1"/>
          <p:nvPr/>
        </p:nvSpPr>
        <p:spPr>
          <a:xfrm>
            <a:off x="4024156" y="3356992"/>
            <a:ext cx="1911418" cy="41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회전보정, 노이즈 제거, </a:t>
            </a:r>
            <a:endParaRPr/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해상도 조정, 여백 제거</a:t>
            </a:r>
            <a:endParaRPr sz="800" b="1" i="0" u="none" strike="noStrike" cap="none">
              <a:solidFill>
                <a:srgbClr val="1F386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4133020" y="3006305"/>
            <a:ext cx="1648365" cy="256201"/>
          </a:xfrm>
          <a:prstGeom prst="round2SameRect">
            <a:avLst>
              <a:gd name="adj1" fmla="val 36511"/>
              <a:gd name="adj2" fmla="val 0"/>
            </a:avLst>
          </a:prstGeom>
          <a:solidFill>
            <a:srgbClr val="3BC2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전처리</a:t>
            </a:r>
            <a:endParaRPr sz="12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8" name="Google Shape;18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6010" y="2000419"/>
            <a:ext cx="1425706" cy="12725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189" name="Google Shape;189;p2"/>
          <p:cNvGrpSpPr/>
          <p:nvPr/>
        </p:nvGrpSpPr>
        <p:grpSpPr>
          <a:xfrm>
            <a:off x="7277030" y="1857715"/>
            <a:ext cx="320274" cy="320274"/>
            <a:chOff x="1461449" y="4063836"/>
            <a:chExt cx="271914" cy="271914"/>
          </a:xfrm>
        </p:grpSpPr>
        <p:sp>
          <p:nvSpPr>
            <p:cNvPr id="190" name="Google Shape;190;p2"/>
            <p:cNvSpPr/>
            <p:nvPr/>
          </p:nvSpPr>
          <p:spPr>
            <a:xfrm>
              <a:off x="1461449" y="4063836"/>
              <a:ext cx="271914" cy="271914"/>
            </a:xfrm>
            <a:prstGeom prst="ellipse">
              <a:avLst/>
            </a:prstGeom>
            <a:solidFill>
              <a:srgbClr val="41C5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Arial"/>
                <a:buNone/>
              </a:pPr>
              <a:endParaRPr sz="8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1" name="Google Shape;191;p2"/>
            <p:cNvSpPr txBox="1"/>
            <p:nvPr/>
          </p:nvSpPr>
          <p:spPr>
            <a:xfrm>
              <a:off x="1476592" y="4069634"/>
              <a:ext cx="250778" cy="262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algun Gothic"/>
                <a:buNone/>
              </a:pPr>
              <a:r>
                <a:rPr lang="ko-KR" sz="14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</a:t>
              </a:r>
              <a:endParaRPr sz="1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7" name="Google Shape;177;p2"/>
          <p:cNvSpPr/>
          <p:nvPr/>
        </p:nvSpPr>
        <p:spPr>
          <a:xfrm>
            <a:off x="6612985" y="3138935"/>
            <a:ext cx="1648365" cy="73469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2"/>
          <p:cNvSpPr txBox="1"/>
          <p:nvPr/>
        </p:nvSpPr>
        <p:spPr>
          <a:xfrm>
            <a:off x="6481458" y="3356992"/>
            <a:ext cx="1911418" cy="41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내 텍스트</a:t>
            </a:r>
            <a:endParaRPr sz="1000" b="1" i="0" u="none" strike="noStrike" cap="none">
              <a:solidFill>
                <a:srgbClr val="1F386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(한글·영문·숫자 등) 인식</a:t>
            </a:r>
            <a:endParaRPr sz="1000" b="1" i="0" u="none" strike="noStrike" cap="none">
              <a:solidFill>
                <a:srgbClr val="1F386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2"/>
          <p:cNvSpPr/>
          <p:nvPr/>
        </p:nvSpPr>
        <p:spPr>
          <a:xfrm>
            <a:off x="6612985" y="3006305"/>
            <a:ext cx="1648365" cy="256201"/>
          </a:xfrm>
          <a:prstGeom prst="round2SameRect">
            <a:avLst>
              <a:gd name="adj1" fmla="val 36511"/>
              <a:gd name="adj2" fmla="val 0"/>
            </a:avLst>
          </a:prstGeom>
          <a:solidFill>
            <a:srgbClr val="41C5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문자 인식 (OCR)</a:t>
            </a:r>
            <a:endParaRPr sz="12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94" name="Google Shape;194;p2"/>
          <p:cNvGrpSpPr/>
          <p:nvPr/>
        </p:nvGrpSpPr>
        <p:grpSpPr>
          <a:xfrm>
            <a:off x="3432948" y="2293030"/>
            <a:ext cx="529168" cy="515364"/>
            <a:chOff x="4188618" y="3162300"/>
            <a:chExt cx="547687" cy="533400"/>
          </a:xfrm>
        </p:grpSpPr>
        <p:sp>
          <p:nvSpPr>
            <p:cNvPr id="195" name="Google Shape;195;p2"/>
            <p:cNvSpPr/>
            <p:nvPr/>
          </p:nvSpPr>
          <p:spPr>
            <a:xfrm>
              <a:off x="44172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119063" y="0"/>
                  </a:move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close/>
                </a:path>
              </a:pathLst>
            </a:cu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41886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0" y="533400"/>
                  </a:move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97" name="Google Shape;197;p2"/>
          <p:cNvGrpSpPr/>
          <p:nvPr/>
        </p:nvGrpSpPr>
        <p:grpSpPr>
          <a:xfrm>
            <a:off x="5952290" y="2293030"/>
            <a:ext cx="529168" cy="515364"/>
            <a:chOff x="4188618" y="3162300"/>
            <a:chExt cx="547687" cy="533400"/>
          </a:xfrm>
        </p:grpSpPr>
        <p:sp>
          <p:nvSpPr>
            <p:cNvPr id="198" name="Google Shape;198;p2"/>
            <p:cNvSpPr/>
            <p:nvPr/>
          </p:nvSpPr>
          <p:spPr>
            <a:xfrm>
              <a:off x="44172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119063" y="0"/>
                  </a:move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close/>
                </a:path>
              </a:pathLst>
            </a:cu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41886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0" y="533400"/>
                  </a:move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200" name="Google Shape;2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6082" y="2000419"/>
            <a:ext cx="1425706" cy="12725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201" name="Google Shape;201;p2"/>
          <p:cNvGrpSpPr/>
          <p:nvPr/>
        </p:nvGrpSpPr>
        <p:grpSpPr>
          <a:xfrm>
            <a:off x="2317102" y="1857715"/>
            <a:ext cx="320274" cy="320274"/>
            <a:chOff x="1461449" y="4063836"/>
            <a:chExt cx="271914" cy="271914"/>
          </a:xfrm>
        </p:grpSpPr>
        <p:sp>
          <p:nvSpPr>
            <p:cNvPr id="202" name="Google Shape;202;p2"/>
            <p:cNvSpPr/>
            <p:nvPr/>
          </p:nvSpPr>
          <p:spPr>
            <a:xfrm>
              <a:off x="1461449" y="4063836"/>
              <a:ext cx="271914" cy="271914"/>
            </a:xfrm>
            <a:prstGeom prst="ellipse">
              <a:avLst/>
            </a:prstGeom>
            <a:solidFill>
              <a:srgbClr val="3D96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3" name="Google Shape;203;p2"/>
            <p:cNvSpPr txBox="1"/>
            <p:nvPr/>
          </p:nvSpPr>
          <p:spPr>
            <a:xfrm>
              <a:off x="1472017" y="4069634"/>
              <a:ext cx="250778" cy="262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algun Gothic"/>
                <a:buNone/>
              </a:pPr>
              <a:r>
                <a:rPr lang="ko-KR" sz="14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 sz="1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04" name="Google Shape;204;p2"/>
          <p:cNvSpPr/>
          <p:nvPr/>
        </p:nvSpPr>
        <p:spPr>
          <a:xfrm>
            <a:off x="1653057" y="3138935"/>
            <a:ext cx="1648365" cy="73469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p2"/>
          <p:cNvSpPr txBox="1"/>
          <p:nvPr/>
        </p:nvSpPr>
        <p:spPr>
          <a:xfrm>
            <a:off x="1513124" y="3356992"/>
            <a:ext cx="1911418" cy="41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algun Gothic"/>
              <a:buNone/>
            </a:pPr>
            <a:r>
              <a:rPr lang="ko-KR" sz="1000" b="1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고객이 업로드한 스캔본·사진·PDF 등 수집</a:t>
            </a:r>
            <a:endParaRPr sz="1000" b="1" i="0" u="none" strike="noStrike" cap="none">
              <a:solidFill>
                <a:srgbClr val="1F386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2"/>
          <p:cNvSpPr/>
          <p:nvPr/>
        </p:nvSpPr>
        <p:spPr>
          <a:xfrm>
            <a:off x="1653057" y="3006304"/>
            <a:ext cx="1648365" cy="256201"/>
          </a:xfrm>
          <a:prstGeom prst="round2SameRect">
            <a:avLst>
              <a:gd name="adj1" fmla="val 36511"/>
              <a:gd name="adj2" fmla="val 0"/>
            </a:avLst>
          </a:prstGeom>
          <a:solidFill>
            <a:srgbClr val="3D96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ko-KR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입력</a:t>
            </a:r>
            <a:endParaRPr sz="12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lang="ko-KR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08" name="Google Shape;208;p2"/>
          <p:cNvGraphicFramePr/>
          <p:nvPr/>
        </p:nvGraphicFramePr>
        <p:xfrm>
          <a:off x="681038" y="3818414"/>
          <a:ext cx="8543925" cy="365770"/>
        </p:xfrm>
        <a:graphic>
          <a:graphicData uri="http://schemas.openxmlformats.org/drawingml/2006/table">
            <a:tbl>
              <a:tblPr>
                <a:noFill/>
                <a:tableStyleId>{48B31678-F45E-4B1D-A3EF-1DC8ED5C2641}</a:tableStyleId>
              </a:tblPr>
              <a:tblGrid>
                <a:gridCol w="854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9" name="Google Shape;209;p2"/>
          <p:cNvGraphicFramePr/>
          <p:nvPr/>
        </p:nvGraphicFramePr>
        <p:xfrm>
          <a:off x="681038" y="3818414"/>
          <a:ext cx="8543925" cy="365770"/>
        </p:xfrm>
        <a:graphic>
          <a:graphicData uri="http://schemas.openxmlformats.org/drawingml/2006/table">
            <a:tbl>
              <a:tblPr>
                <a:noFill/>
                <a:tableStyleId>{48B31678-F45E-4B1D-A3EF-1DC8ED5C2641}</a:tableStyleId>
              </a:tblPr>
              <a:tblGrid>
                <a:gridCol w="854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0" name="Google Shape;210;p2"/>
          <p:cNvGraphicFramePr/>
          <p:nvPr/>
        </p:nvGraphicFramePr>
        <p:xfrm>
          <a:off x="681038" y="3818414"/>
          <a:ext cx="8543925" cy="365770"/>
        </p:xfrm>
        <a:graphic>
          <a:graphicData uri="http://schemas.openxmlformats.org/drawingml/2006/table">
            <a:tbl>
              <a:tblPr>
                <a:noFill/>
                <a:tableStyleId>{48B31678-F45E-4B1D-A3EF-1DC8ED5C2641}</a:tableStyleId>
              </a:tblPr>
              <a:tblGrid>
                <a:gridCol w="854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1" name="Google Shape;211;p2"/>
          <p:cNvSpPr txBox="1"/>
          <p:nvPr/>
        </p:nvSpPr>
        <p:spPr>
          <a:xfrm>
            <a:off x="288918" y="5792247"/>
            <a:ext cx="1911418" cy="41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algun Gothic"/>
              <a:buNone/>
            </a:pPr>
            <a:r>
              <a:rPr lang="ko-KR" sz="1000" b="1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진단서, 수술확인서, 영수증, 입퇴원확인서 등 자동 분류</a:t>
            </a:r>
            <a:endParaRPr sz="1000" b="1" i="0" u="none" strike="noStrike" cap="none">
              <a:solidFill>
                <a:srgbClr val="1F386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2" name="Google Shape;212;p2"/>
          <p:cNvGrpSpPr/>
          <p:nvPr/>
        </p:nvGrpSpPr>
        <p:grpSpPr>
          <a:xfrm>
            <a:off x="187529" y="1428434"/>
            <a:ext cx="4817744" cy="314456"/>
            <a:chOff x="187529" y="1428434"/>
            <a:chExt cx="4817744" cy="314456"/>
          </a:xfrm>
        </p:grpSpPr>
        <p:sp>
          <p:nvSpPr>
            <p:cNvPr id="213" name="Google Shape;213;p2"/>
            <p:cNvSpPr/>
            <p:nvPr/>
          </p:nvSpPr>
          <p:spPr>
            <a:xfrm>
              <a:off x="4054926" y="1428435"/>
              <a:ext cx="950347" cy="314455"/>
            </a:xfrm>
            <a:custGeom>
              <a:avLst/>
              <a:gdLst/>
              <a:ahLst/>
              <a:cxnLst/>
              <a:rect l="l" t="t" r="r" b="b"/>
              <a:pathLst>
                <a:path w="950347" h="314455" extrusionOk="0">
                  <a:moveTo>
                    <a:pt x="0" y="0"/>
                  </a:moveTo>
                  <a:lnTo>
                    <a:pt x="801022" y="0"/>
                  </a:lnTo>
                  <a:lnTo>
                    <a:pt x="950347" y="314455"/>
                  </a:lnTo>
                  <a:lnTo>
                    <a:pt x="0" y="3144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87529" y="1428434"/>
              <a:ext cx="3972109" cy="314456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15" name="Google Shape;215;p2"/>
          <p:cNvSpPr txBox="1"/>
          <p:nvPr/>
        </p:nvSpPr>
        <p:spPr>
          <a:xfrm>
            <a:off x="187531" y="1441537"/>
            <a:ext cx="4673198" cy="27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-KR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보험 청구 </a:t>
            </a:r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처리 </a:t>
            </a:r>
            <a:r>
              <a:rPr lang="ko-KR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프로세스</a:t>
            </a:r>
            <a:endParaRPr/>
          </a:p>
        </p:txBody>
      </p:sp>
      <p:sp>
        <p:nvSpPr>
          <p:cNvPr id="216" name="Google Shape;216;p2"/>
          <p:cNvSpPr txBox="1"/>
          <p:nvPr/>
        </p:nvSpPr>
        <p:spPr>
          <a:xfrm>
            <a:off x="5260359" y="5768059"/>
            <a:ext cx="1911418" cy="41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날짜·금액·질병코드 일치 </a:t>
            </a:r>
            <a:endParaRPr sz="1000" b="1" i="0" u="none" strike="noStrike" cap="none">
              <a:solidFill>
                <a:srgbClr val="1F386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여부 검증/중복 데이터 탐지</a:t>
            </a:r>
            <a:endParaRPr sz="600" b="1" i="0" u="none" strike="noStrike" cap="none">
              <a:solidFill>
                <a:srgbClr val="1F386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17" name="Google Shape;217;p2"/>
          <p:cNvGraphicFramePr/>
          <p:nvPr/>
        </p:nvGraphicFramePr>
        <p:xfrm>
          <a:off x="681038" y="3818414"/>
          <a:ext cx="8543925" cy="365770"/>
        </p:xfrm>
        <a:graphic>
          <a:graphicData uri="http://schemas.openxmlformats.org/drawingml/2006/table">
            <a:tbl>
              <a:tblPr>
                <a:noFill/>
                <a:tableStyleId>{48B31678-F45E-4B1D-A3EF-1DC8ED5C2641}</a:tableStyleId>
              </a:tblPr>
              <a:tblGrid>
                <a:gridCol w="854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8" name="Google Shape;218;p2" descr="전처리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78183" y="2298774"/>
            <a:ext cx="558037" cy="558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" descr="텍스트 인식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65190" y="2333077"/>
            <a:ext cx="510644" cy="51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" descr="분류학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8796" y="4716830"/>
            <a:ext cx="616156" cy="616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" descr="데이터 수집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24978" y="2323440"/>
            <a:ext cx="487709" cy="487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" descr="위험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57622" y="4763267"/>
            <a:ext cx="517329" cy="517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" descr="체크리스트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90271" y="4751140"/>
            <a:ext cx="491187" cy="491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" descr="투표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55752" y="4711813"/>
            <a:ext cx="578891" cy="578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"/>
          <p:cNvSpPr/>
          <p:nvPr/>
        </p:nvSpPr>
        <p:spPr>
          <a:xfrm>
            <a:off x="0" y="542002"/>
            <a:ext cx="9906000" cy="72873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30" name="Google Shape;230;p3"/>
          <p:cNvCxnSpPr/>
          <p:nvPr/>
        </p:nvCxnSpPr>
        <p:spPr>
          <a:xfrm>
            <a:off x="0" y="542002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1" name="Google Shape;231;p3"/>
          <p:cNvSpPr txBox="1"/>
          <p:nvPr/>
        </p:nvSpPr>
        <p:spPr>
          <a:xfrm>
            <a:off x="260410" y="99710"/>
            <a:ext cx="4037277" cy="37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Malgun Gothic"/>
              <a:buNone/>
            </a:pPr>
            <a:r>
              <a:rPr lang="ko-KR" sz="1800" b="0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현황 분석</a:t>
            </a:r>
            <a:endParaRPr sz="1800" b="0" i="0" u="none" strike="noStrike" cap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200025" y="153593"/>
            <a:ext cx="60385" cy="284671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3"/>
          <p:cNvSpPr txBox="1"/>
          <p:nvPr/>
        </p:nvSpPr>
        <p:spPr>
          <a:xfrm>
            <a:off x="338987" y="645742"/>
            <a:ext cx="4188069" cy="33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Pain Point 분석</a:t>
            </a:r>
            <a:endParaRPr/>
          </a:p>
        </p:txBody>
      </p:sp>
      <p:grpSp>
        <p:nvGrpSpPr>
          <p:cNvPr id="234" name="Google Shape;234;p3"/>
          <p:cNvGrpSpPr/>
          <p:nvPr/>
        </p:nvGrpSpPr>
        <p:grpSpPr>
          <a:xfrm>
            <a:off x="200025" y="717415"/>
            <a:ext cx="175563" cy="170983"/>
            <a:chOff x="4188618" y="3162300"/>
            <a:chExt cx="547687" cy="533400"/>
          </a:xfrm>
        </p:grpSpPr>
        <p:sp>
          <p:nvSpPr>
            <p:cNvPr id="235" name="Google Shape;235;p3"/>
            <p:cNvSpPr/>
            <p:nvPr/>
          </p:nvSpPr>
          <p:spPr>
            <a:xfrm>
              <a:off x="44172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119063" y="0"/>
                  </a:move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41886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0" y="533400"/>
                  </a:move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37" name="Google Shape;237;p3"/>
          <p:cNvSpPr/>
          <p:nvPr/>
        </p:nvSpPr>
        <p:spPr>
          <a:xfrm>
            <a:off x="210680" y="1708243"/>
            <a:ext cx="9507786" cy="4781457"/>
          </a:xfrm>
          <a:prstGeom prst="rect">
            <a:avLst/>
          </a:prstGeom>
          <a:solidFill>
            <a:srgbClr val="EBF0F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7773361" y="67378"/>
            <a:ext cx="2156604" cy="405510"/>
          </a:xfrm>
          <a:custGeom>
            <a:avLst/>
            <a:gdLst/>
            <a:ahLst/>
            <a:cxnLst/>
            <a:rect l="l" t="t" r="r" b="b"/>
            <a:pathLst>
              <a:path w="2156604" h="405510" extrusionOk="0">
                <a:moveTo>
                  <a:pt x="241539" y="8626"/>
                </a:moveTo>
                <a:lnTo>
                  <a:pt x="2156604" y="0"/>
                </a:lnTo>
                <a:lnTo>
                  <a:pt x="2156604" y="405510"/>
                </a:lnTo>
                <a:lnTo>
                  <a:pt x="0" y="405510"/>
                </a:lnTo>
                <a:lnTo>
                  <a:pt x="241539" y="8626"/>
                </a:lnTo>
                <a:close/>
              </a:path>
            </a:pathLst>
          </a:custGeom>
          <a:solidFill>
            <a:srgbClr val="20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9" name="Google Shape;239;p3"/>
          <p:cNvSpPr txBox="1"/>
          <p:nvPr/>
        </p:nvSpPr>
        <p:spPr>
          <a:xfrm>
            <a:off x="7420512" y="99709"/>
            <a:ext cx="244937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lang="ko-KR" sz="16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ㅇㅇㅇ</a:t>
            </a:r>
            <a:endParaRPr sz="16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" name="Google Shape;240;p3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lang="ko-KR"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41" name="Google Shape;241;p3"/>
          <p:cNvGrpSpPr/>
          <p:nvPr/>
        </p:nvGrpSpPr>
        <p:grpSpPr>
          <a:xfrm>
            <a:off x="187529" y="1428434"/>
            <a:ext cx="4817744" cy="314456"/>
            <a:chOff x="187529" y="1428434"/>
            <a:chExt cx="4817744" cy="314456"/>
          </a:xfrm>
        </p:grpSpPr>
        <p:sp>
          <p:nvSpPr>
            <p:cNvPr id="242" name="Google Shape;242;p3"/>
            <p:cNvSpPr/>
            <p:nvPr/>
          </p:nvSpPr>
          <p:spPr>
            <a:xfrm>
              <a:off x="4054926" y="1428435"/>
              <a:ext cx="950347" cy="314455"/>
            </a:xfrm>
            <a:custGeom>
              <a:avLst/>
              <a:gdLst/>
              <a:ahLst/>
              <a:cxnLst/>
              <a:rect l="l" t="t" r="r" b="b"/>
              <a:pathLst>
                <a:path w="950347" h="314455" extrusionOk="0">
                  <a:moveTo>
                    <a:pt x="0" y="0"/>
                  </a:moveTo>
                  <a:lnTo>
                    <a:pt x="801022" y="0"/>
                  </a:lnTo>
                  <a:lnTo>
                    <a:pt x="950347" y="314455"/>
                  </a:lnTo>
                  <a:lnTo>
                    <a:pt x="0" y="3144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187529" y="1428434"/>
              <a:ext cx="3972109" cy="314456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4" name="Google Shape;244;p3"/>
          <p:cNvSpPr txBox="1"/>
          <p:nvPr/>
        </p:nvSpPr>
        <p:spPr>
          <a:xfrm>
            <a:off x="187531" y="1441537"/>
            <a:ext cx="4673198" cy="27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-KR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보험 청구 </a:t>
            </a:r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처리 </a:t>
            </a:r>
            <a:r>
              <a:rPr lang="ko-KR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프로세스 Pain Point</a:t>
            </a:r>
            <a:endParaRPr sz="12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p3"/>
          <p:cNvSpPr txBox="1"/>
          <p:nvPr/>
        </p:nvSpPr>
        <p:spPr>
          <a:xfrm>
            <a:off x="158887" y="6498503"/>
            <a:ext cx="8593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ko-KR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source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46" name="Google Shape;246;p3"/>
          <p:cNvGrpSpPr/>
          <p:nvPr/>
        </p:nvGrpSpPr>
        <p:grpSpPr>
          <a:xfrm>
            <a:off x="513445" y="1902839"/>
            <a:ext cx="3816099" cy="1038602"/>
            <a:chOff x="1108763" y="2013162"/>
            <a:chExt cx="3898009" cy="1038602"/>
          </a:xfrm>
        </p:grpSpPr>
        <p:sp>
          <p:nvSpPr>
            <p:cNvPr id="247" name="Google Shape;247;p3"/>
            <p:cNvSpPr/>
            <p:nvPr/>
          </p:nvSpPr>
          <p:spPr>
            <a:xfrm>
              <a:off x="1108763" y="2013162"/>
              <a:ext cx="2211902" cy="401159"/>
            </a:xfrm>
            <a:custGeom>
              <a:avLst/>
              <a:gdLst/>
              <a:ahLst/>
              <a:cxnLst/>
              <a:rect l="l" t="t" r="r" b="b"/>
              <a:pathLst>
                <a:path w="6299712" h="953218" extrusionOk="0">
                  <a:moveTo>
                    <a:pt x="0" y="0"/>
                  </a:moveTo>
                  <a:lnTo>
                    <a:pt x="5557840" y="25879"/>
                  </a:lnTo>
                  <a:lnTo>
                    <a:pt x="6299712" y="953218"/>
                  </a:lnTo>
                  <a:lnTo>
                    <a:pt x="0" y="9532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96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1108764" y="2342109"/>
              <a:ext cx="3898008" cy="709655"/>
            </a:xfrm>
            <a:prstGeom prst="roundRect">
              <a:avLst>
                <a:gd name="adj" fmla="val 10244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9" name="Google Shape;249;p3"/>
          <p:cNvSpPr txBox="1"/>
          <p:nvPr/>
        </p:nvSpPr>
        <p:spPr>
          <a:xfrm>
            <a:off x="499566" y="1910562"/>
            <a:ext cx="2293613" cy="30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인식(OCR)</a:t>
            </a:r>
            <a:endParaRPr/>
          </a:p>
        </p:txBody>
      </p:sp>
      <p:sp>
        <p:nvSpPr>
          <p:cNvPr id="250" name="Google Shape;250;p3"/>
          <p:cNvSpPr txBox="1"/>
          <p:nvPr/>
        </p:nvSpPr>
        <p:spPr>
          <a:xfrm>
            <a:off x="699354" y="2289526"/>
            <a:ext cx="3706390" cy="34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200"/>
              <a:buFont typeface="Malgun Gothic"/>
              <a:buNone/>
            </a:pPr>
            <a:r>
              <a:rPr lang="ko-KR" sz="1200" b="1" i="0" u="none" strike="noStrike" cap="none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저해상도, 사진 왜곡 시 인식률 저하</a:t>
            </a:r>
            <a:endParaRPr dirty="0"/>
          </a:p>
        </p:txBody>
      </p:sp>
      <p:pic>
        <p:nvPicPr>
          <p:cNvPr id="251" name="Google Shape;251;p3" descr="배지 체크 표시1 단색으로 채워진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846" y="2345962"/>
            <a:ext cx="171759" cy="1717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3"/>
          <p:cNvGrpSpPr/>
          <p:nvPr/>
        </p:nvGrpSpPr>
        <p:grpSpPr>
          <a:xfrm>
            <a:off x="604846" y="2581843"/>
            <a:ext cx="3800898" cy="343420"/>
            <a:chOff x="604846" y="2545213"/>
            <a:chExt cx="3800898" cy="343420"/>
          </a:xfrm>
        </p:grpSpPr>
        <p:sp>
          <p:nvSpPr>
            <p:cNvPr id="253" name="Google Shape;253;p3"/>
            <p:cNvSpPr txBox="1"/>
            <p:nvPr/>
          </p:nvSpPr>
          <p:spPr>
            <a:xfrm>
              <a:off x="699354" y="2545213"/>
              <a:ext cx="3706390" cy="343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200"/>
                <a:buFont typeface="Malgun Gothic"/>
                <a:buNone/>
              </a:pPr>
              <a:r>
                <a:rPr lang="ko-KR" sz="1200" b="1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영문·의료용어 혼합 문서 인식 한계</a:t>
              </a:r>
              <a:endParaRPr/>
            </a:p>
          </p:txBody>
        </p:sp>
        <p:pic>
          <p:nvPicPr>
            <p:cNvPr id="254" name="Google Shape;254;p3" descr="배지 체크 표시1 단색으로 채워진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04846" y="2601649"/>
              <a:ext cx="171759" cy="1717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5" name="Google Shape;255;p3"/>
          <p:cNvGrpSpPr/>
          <p:nvPr/>
        </p:nvGrpSpPr>
        <p:grpSpPr>
          <a:xfrm>
            <a:off x="4520056" y="2360954"/>
            <a:ext cx="409183" cy="398509"/>
            <a:chOff x="4188618" y="3162300"/>
            <a:chExt cx="547687" cy="533400"/>
          </a:xfrm>
        </p:grpSpPr>
        <p:sp>
          <p:nvSpPr>
            <p:cNvPr id="256" name="Google Shape;256;p3"/>
            <p:cNvSpPr/>
            <p:nvPr/>
          </p:nvSpPr>
          <p:spPr>
            <a:xfrm>
              <a:off x="44172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119063" y="0"/>
                  </a:move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close/>
                </a:path>
              </a:pathLst>
            </a:cu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41886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0" y="533400"/>
                  </a:move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58" name="Google Shape;258;p3"/>
          <p:cNvGrpSpPr/>
          <p:nvPr/>
        </p:nvGrpSpPr>
        <p:grpSpPr>
          <a:xfrm>
            <a:off x="5100029" y="2164495"/>
            <a:ext cx="4360892" cy="799546"/>
            <a:chOff x="4900872" y="2250489"/>
            <a:chExt cx="3805546" cy="697726"/>
          </a:xfrm>
        </p:grpSpPr>
        <p:sp>
          <p:nvSpPr>
            <p:cNvPr id="259" name="Google Shape;259;p3"/>
            <p:cNvSpPr/>
            <p:nvPr/>
          </p:nvSpPr>
          <p:spPr>
            <a:xfrm>
              <a:off x="4909618" y="2258750"/>
              <a:ext cx="3756124" cy="681006"/>
            </a:xfrm>
            <a:prstGeom prst="roundRect">
              <a:avLst>
                <a:gd name="adj" fmla="val 50000"/>
              </a:avLst>
            </a:prstGeom>
            <a:solidFill>
              <a:srgbClr val="A3CD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4900872" y="2250489"/>
              <a:ext cx="697727" cy="697726"/>
            </a:xfrm>
            <a:prstGeom prst="blockArc">
              <a:avLst>
                <a:gd name="adj1" fmla="val 5245581"/>
                <a:gd name="adj2" fmla="val 16215652"/>
                <a:gd name="adj3" fmla="val 6458"/>
              </a:avLst>
            </a:prstGeom>
            <a:solidFill>
              <a:srgbClr val="3D96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1" name="Google Shape;261;p3"/>
            <p:cNvSpPr/>
            <p:nvPr/>
          </p:nvSpPr>
          <p:spPr>
            <a:xfrm rot="10800000">
              <a:off x="8008691" y="2250489"/>
              <a:ext cx="697727" cy="697726"/>
            </a:xfrm>
            <a:prstGeom prst="blockArc">
              <a:avLst>
                <a:gd name="adj1" fmla="val 5245581"/>
                <a:gd name="adj2" fmla="val 16215652"/>
                <a:gd name="adj3" fmla="val 6458"/>
              </a:avLst>
            </a:prstGeom>
            <a:solidFill>
              <a:srgbClr val="3D96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62" name="Google Shape;262;p3"/>
          <p:cNvSpPr txBox="1"/>
          <p:nvPr/>
        </p:nvSpPr>
        <p:spPr>
          <a:xfrm>
            <a:off x="5450080" y="2238899"/>
            <a:ext cx="36795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1600"/>
              <a:buFont typeface="Malgun Gothic"/>
              <a:buNone/>
            </a:pPr>
            <a:r>
              <a:rPr lang="ko-KR" sz="15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‘단순 텍스트 인식’</a:t>
            </a:r>
            <a:endParaRPr sz="1300"/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1600"/>
              <a:buFont typeface="Malgun Gothic"/>
              <a:buNone/>
            </a:pPr>
            <a:r>
              <a:rPr lang="ko-KR" sz="15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 → ‘문맥·레이아웃 인식으로 전환’ </a:t>
            </a:r>
            <a:r>
              <a:rPr lang="ko-KR" sz="1500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</a:t>
            </a:r>
            <a:endParaRPr sz="1300"/>
          </a:p>
        </p:txBody>
      </p:sp>
      <p:grpSp>
        <p:nvGrpSpPr>
          <p:cNvPr id="263" name="Google Shape;263;p3"/>
          <p:cNvGrpSpPr/>
          <p:nvPr/>
        </p:nvGrpSpPr>
        <p:grpSpPr>
          <a:xfrm>
            <a:off x="513445" y="3216287"/>
            <a:ext cx="3816099" cy="1480405"/>
            <a:chOff x="1108763" y="2013777"/>
            <a:chExt cx="3898009" cy="1480405"/>
          </a:xfrm>
        </p:grpSpPr>
        <p:sp>
          <p:nvSpPr>
            <p:cNvPr id="264" name="Google Shape;264;p3"/>
            <p:cNvSpPr/>
            <p:nvPr/>
          </p:nvSpPr>
          <p:spPr>
            <a:xfrm>
              <a:off x="1108763" y="2013777"/>
              <a:ext cx="2211902" cy="401159"/>
            </a:xfrm>
            <a:custGeom>
              <a:avLst/>
              <a:gdLst/>
              <a:ahLst/>
              <a:cxnLst/>
              <a:rect l="l" t="t" r="r" b="b"/>
              <a:pathLst>
                <a:path w="6299712" h="953218" extrusionOk="0">
                  <a:moveTo>
                    <a:pt x="0" y="0"/>
                  </a:moveTo>
                  <a:lnTo>
                    <a:pt x="5557840" y="25879"/>
                  </a:lnTo>
                  <a:lnTo>
                    <a:pt x="6299712" y="953218"/>
                  </a:lnTo>
                  <a:lnTo>
                    <a:pt x="0" y="9532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C2C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1108764" y="2342109"/>
              <a:ext cx="3898008" cy="1152073"/>
            </a:xfrm>
            <a:prstGeom prst="roundRect">
              <a:avLst>
                <a:gd name="adj" fmla="val 5434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66" name="Google Shape;266;p3"/>
          <p:cNvSpPr txBox="1"/>
          <p:nvPr/>
        </p:nvSpPr>
        <p:spPr>
          <a:xfrm>
            <a:off x="499568" y="3235367"/>
            <a:ext cx="1911124" cy="30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분류(Classification)</a:t>
            </a:r>
            <a:endParaRPr sz="14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67" name="Google Shape;267;p3"/>
          <p:cNvGrpSpPr/>
          <p:nvPr/>
        </p:nvGrpSpPr>
        <p:grpSpPr>
          <a:xfrm>
            <a:off x="604846" y="3602359"/>
            <a:ext cx="3744420" cy="599107"/>
            <a:chOff x="604846" y="3602359"/>
            <a:chExt cx="3744420" cy="599107"/>
          </a:xfrm>
        </p:grpSpPr>
        <p:sp>
          <p:nvSpPr>
            <p:cNvPr id="268" name="Google Shape;268;p3"/>
            <p:cNvSpPr txBox="1"/>
            <p:nvPr/>
          </p:nvSpPr>
          <p:spPr>
            <a:xfrm>
              <a:off x="699354" y="3602359"/>
              <a:ext cx="3649912" cy="599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200"/>
                <a:buFont typeface="Malgun Gothic"/>
                <a:buNone/>
              </a:pPr>
              <a:r>
                <a:rPr lang="ko-KR" sz="1200" b="1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문서 양식이 병원마다 상이해 오분류 빈번</a:t>
              </a:r>
              <a:endParaRPr/>
            </a:p>
          </p:txBody>
        </p:sp>
        <p:pic>
          <p:nvPicPr>
            <p:cNvPr id="269" name="Google Shape;269;p3" descr="배지 체크 표시1 단색으로 채워진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4846" y="3658795"/>
              <a:ext cx="171759" cy="1717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0" name="Google Shape;270;p3"/>
          <p:cNvGrpSpPr/>
          <p:nvPr/>
        </p:nvGrpSpPr>
        <p:grpSpPr>
          <a:xfrm>
            <a:off x="4520056" y="3915661"/>
            <a:ext cx="409183" cy="398509"/>
            <a:chOff x="4188618" y="3162300"/>
            <a:chExt cx="547687" cy="533400"/>
          </a:xfrm>
        </p:grpSpPr>
        <p:sp>
          <p:nvSpPr>
            <p:cNvPr id="271" name="Google Shape;271;p3"/>
            <p:cNvSpPr/>
            <p:nvPr/>
          </p:nvSpPr>
          <p:spPr>
            <a:xfrm>
              <a:off x="44172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119063" y="0"/>
                  </a:move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close/>
                </a:path>
              </a:pathLst>
            </a:cu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41886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0" y="533400"/>
                  </a:move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73" name="Google Shape;273;p3"/>
          <p:cNvGrpSpPr/>
          <p:nvPr/>
        </p:nvGrpSpPr>
        <p:grpSpPr>
          <a:xfrm>
            <a:off x="5100029" y="3715143"/>
            <a:ext cx="4360892" cy="799546"/>
            <a:chOff x="4900872" y="2250489"/>
            <a:chExt cx="3805546" cy="697726"/>
          </a:xfrm>
        </p:grpSpPr>
        <p:sp>
          <p:nvSpPr>
            <p:cNvPr id="274" name="Google Shape;274;p3"/>
            <p:cNvSpPr/>
            <p:nvPr/>
          </p:nvSpPr>
          <p:spPr>
            <a:xfrm>
              <a:off x="4909618" y="2258750"/>
              <a:ext cx="3756124" cy="681006"/>
            </a:xfrm>
            <a:prstGeom prst="roundRect">
              <a:avLst>
                <a:gd name="adj" fmla="val 50000"/>
              </a:avLst>
            </a:prstGeom>
            <a:solidFill>
              <a:srgbClr val="CEEF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4900872" y="2250489"/>
              <a:ext cx="697727" cy="697726"/>
            </a:xfrm>
            <a:prstGeom prst="blockArc">
              <a:avLst>
                <a:gd name="adj1" fmla="val 5245581"/>
                <a:gd name="adj2" fmla="val 16215652"/>
                <a:gd name="adj3" fmla="val 6458"/>
              </a:avLst>
            </a:prstGeom>
            <a:solidFill>
              <a:srgbClr val="3BC2C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6" name="Google Shape;276;p3"/>
            <p:cNvSpPr/>
            <p:nvPr/>
          </p:nvSpPr>
          <p:spPr>
            <a:xfrm rot="10800000">
              <a:off x="8008691" y="2250489"/>
              <a:ext cx="697727" cy="697726"/>
            </a:xfrm>
            <a:prstGeom prst="blockArc">
              <a:avLst>
                <a:gd name="adj1" fmla="val 5245581"/>
                <a:gd name="adj2" fmla="val 16215652"/>
                <a:gd name="adj3" fmla="val 6458"/>
              </a:avLst>
            </a:prstGeom>
            <a:solidFill>
              <a:srgbClr val="3BC2C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77" name="Google Shape;277;p3"/>
          <p:cNvGrpSpPr/>
          <p:nvPr/>
        </p:nvGrpSpPr>
        <p:grpSpPr>
          <a:xfrm>
            <a:off x="604846" y="3967603"/>
            <a:ext cx="3744420" cy="495218"/>
            <a:chOff x="604846" y="4005064"/>
            <a:chExt cx="3744420" cy="495218"/>
          </a:xfrm>
        </p:grpSpPr>
        <p:sp>
          <p:nvSpPr>
            <p:cNvPr id="278" name="Google Shape;278;p3"/>
            <p:cNvSpPr txBox="1"/>
            <p:nvPr/>
          </p:nvSpPr>
          <p:spPr>
            <a:xfrm>
              <a:off x="699354" y="4005064"/>
              <a:ext cx="3649912" cy="495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200"/>
                <a:buFont typeface="Malgun Gothic"/>
                <a:buNone/>
              </a:pPr>
              <a:r>
                <a:rPr lang="ko-KR" sz="1200" b="1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비정형 문서(사진</a:t>
              </a:r>
              <a:r>
                <a:rPr lang="en-US" altLang="ko-KR" sz="1200" b="1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200" b="1" i="0" u="none" strike="noStrike" cap="none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등) 분류 어려움</a:t>
              </a:r>
              <a:endParaRPr dirty="0"/>
            </a:p>
          </p:txBody>
        </p:sp>
        <p:pic>
          <p:nvPicPr>
            <p:cNvPr id="279" name="Google Shape;279;p3" descr="배지 체크 표시1 단색으로 채워진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4846" y="4061499"/>
              <a:ext cx="171759" cy="1717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0" name="Google Shape;280;p3"/>
          <p:cNvGrpSpPr/>
          <p:nvPr/>
        </p:nvGrpSpPr>
        <p:grpSpPr>
          <a:xfrm>
            <a:off x="513445" y="5005944"/>
            <a:ext cx="3816099" cy="1071958"/>
            <a:chOff x="1108763" y="2013162"/>
            <a:chExt cx="3898009" cy="985794"/>
          </a:xfrm>
        </p:grpSpPr>
        <p:sp>
          <p:nvSpPr>
            <p:cNvPr id="281" name="Google Shape;281;p3"/>
            <p:cNvSpPr/>
            <p:nvPr/>
          </p:nvSpPr>
          <p:spPr>
            <a:xfrm>
              <a:off x="1108763" y="2013162"/>
              <a:ext cx="2211902" cy="401159"/>
            </a:xfrm>
            <a:custGeom>
              <a:avLst/>
              <a:gdLst/>
              <a:ahLst/>
              <a:cxnLst/>
              <a:rect l="l" t="t" r="r" b="b"/>
              <a:pathLst>
                <a:path w="6299712" h="953218" extrusionOk="0">
                  <a:moveTo>
                    <a:pt x="0" y="0"/>
                  </a:moveTo>
                  <a:lnTo>
                    <a:pt x="5557840" y="25879"/>
                  </a:lnTo>
                  <a:lnTo>
                    <a:pt x="6299712" y="953218"/>
                  </a:lnTo>
                  <a:lnTo>
                    <a:pt x="0" y="9532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C5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1108764" y="2342109"/>
              <a:ext cx="3898008" cy="656847"/>
            </a:xfrm>
            <a:prstGeom prst="roundRect">
              <a:avLst>
                <a:gd name="adj" fmla="val 10244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83" name="Google Shape;283;p3"/>
          <p:cNvSpPr txBox="1"/>
          <p:nvPr/>
        </p:nvSpPr>
        <p:spPr>
          <a:xfrm>
            <a:off x="499567" y="5013667"/>
            <a:ext cx="1744870" cy="30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(Validation)</a:t>
            </a:r>
            <a:endParaRPr/>
          </a:p>
        </p:txBody>
      </p:sp>
      <p:grpSp>
        <p:nvGrpSpPr>
          <p:cNvPr id="284" name="Google Shape;284;p3"/>
          <p:cNvGrpSpPr/>
          <p:nvPr/>
        </p:nvGrpSpPr>
        <p:grpSpPr>
          <a:xfrm>
            <a:off x="604846" y="5445224"/>
            <a:ext cx="3800898" cy="343420"/>
            <a:chOff x="604846" y="5392631"/>
            <a:chExt cx="3800898" cy="343420"/>
          </a:xfrm>
        </p:grpSpPr>
        <p:sp>
          <p:nvSpPr>
            <p:cNvPr id="285" name="Google Shape;285;p3"/>
            <p:cNvSpPr txBox="1"/>
            <p:nvPr/>
          </p:nvSpPr>
          <p:spPr>
            <a:xfrm>
              <a:off x="699354" y="5392631"/>
              <a:ext cx="3706390" cy="343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200"/>
                <a:buFont typeface="Malgun Gothic"/>
                <a:buNone/>
              </a:pPr>
              <a:r>
                <a:rPr lang="ko-KR" sz="1200" b="1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질병코드·금액 간 논리검증 미흡</a:t>
              </a:r>
              <a:endParaRPr/>
            </a:p>
          </p:txBody>
        </p:sp>
        <p:pic>
          <p:nvPicPr>
            <p:cNvPr id="286" name="Google Shape;286;p3" descr="배지 체크 표시1 단색으로 채워진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04846" y="5449067"/>
              <a:ext cx="171759" cy="1717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7" name="Google Shape;287;p3"/>
          <p:cNvGrpSpPr/>
          <p:nvPr/>
        </p:nvGrpSpPr>
        <p:grpSpPr>
          <a:xfrm>
            <a:off x="604846" y="5733256"/>
            <a:ext cx="3800898" cy="343420"/>
            <a:chOff x="604846" y="5648318"/>
            <a:chExt cx="3800898" cy="343420"/>
          </a:xfrm>
        </p:grpSpPr>
        <p:sp>
          <p:nvSpPr>
            <p:cNvPr id="288" name="Google Shape;288;p3"/>
            <p:cNvSpPr txBox="1"/>
            <p:nvPr/>
          </p:nvSpPr>
          <p:spPr>
            <a:xfrm>
              <a:off x="699354" y="5648318"/>
              <a:ext cx="3706390" cy="343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200"/>
                <a:buFont typeface="Malgun Gothic"/>
                <a:buNone/>
              </a:pPr>
              <a:r>
                <a:rPr lang="ko-KR" sz="1200" b="1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LLM 기반 의미 검증 부재</a:t>
              </a:r>
              <a:endParaRPr/>
            </a:p>
          </p:txBody>
        </p:sp>
        <p:pic>
          <p:nvPicPr>
            <p:cNvPr id="289" name="Google Shape;289;p3" descr="배지 체크 표시1 단색으로 채워진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04846" y="5704754"/>
              <a:ext cx="171759" cy="1717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0" name="Google Shape;290;p3"/>
          <p:cNvGrpSpPr/>
          <p:nvPr/>
        </p:nvGrpSpPr>
        <p:grpSpPr>
          <a:xfrm>
            <a:off x="4520056" y="5464059"/>
            <a:ext cx="409183" cy="398509"/>
            <a:chOff x="4188618" y="3162300"/>
            <a:chExt cx="547687" cy="533400"/>
          </a:xfrm>
        </p:grpSpPr>
        <p:sp>
          <p:nvSpPr>
            <p:cNvPr id="291" name="Google Shape;291;p3"/>
            <p:cNvSpPr/>
            <p:nvPr/>
          </p:nvSpPr>
          <p:spPr>
            <a:xfrm>
              <a:off x="44172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119063" y="0"/>
                  </a:move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close/>
                </a:path>
              </a:pathLst>
            </a:cu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41886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0" y="533400"/>
                  </a:move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93" name="Google Shape;293;p3"/>
          <p:cNvGrpSpPr/>
          <p:nvPr/>
        </p:nvGrpSpPr>
        <p:grpSpPr>
          <a:xfrm>
            <a:off x="5100029" y="5288049"/>
            <a:ext cx="4360892" cy="799546"/>
            <a:chOff x="4900872" y="2250489"/>
            <a:chExt cx="3805546" cy="697726"/>
          </a:xfrm>
        </p:grpSpPr>
        <p:sp>
          <p:nvSpPr>
            <p:cNvPr id="294" name="Google Shape;294;p3"/>
            <p:cNvSpPr/>
            <p:nvPr/>
          </p:nvSpPr>
          <p:spPr>
            <a:xfrm>
              <a:off x="4909618" y="2258750"/>
              <a:ext cx="3756124" cy="681006"/>
            </a:xfrm>
            <a:prstGeom prst="roundRect">
              <a:avLst>
                <a:gd name="adj" fmla="val 50000"/>
              </a:avLst>
            </a:prstGeom>
            <a:solidFill>
              <a:srgbClr val="CCF0E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4900872" y="2250489"/>
              <a:ext cx="697727" cy="697726"/>
            </a:xfrm>
            <a:prstGeom prst="blockArc">
              <a:avLst>
                <a:gd name="adj1" fmla="val 5245581"/>
                <a:gd name="adj2" fmla="val 16215652"/>
                <a:gd name="adj3" fmla="val 6458"/>
              </a:avLst>
            </a:prstGeom>
            <a:solidFill>
              <a:srgbClr val="41C5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6" name="Google Shape;296;p3"/>
            <p:cNvSpPr/>
            <p:nvPr/>
          </p:nvSpPr>
          <p:spPr>
            <a:xfrm rot="10800000">
              <a:off x="8008691" y="2250489"/>
              <a:ext cx="697727" cy="697726"/>
            </a:xfrm>
            <a:prstGeom prst="blockArc">
              <a:avLst>
                <a:gd name="adj1" fmla="val 5245581"/>
                <a:gd name="adj2" fmla="val 16215652"/>
                <a:gd name="adj3" fmla="val 6458"/>
              </a:avLst>
            </a:prstGeom>
            <a:solidFill>
              <a:srgbClr val="41C5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endParaRPr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97" name="Google Shape;297;p3"/>
          <p:cNvGrpSpPr/>
          <p:nvPr/>
        </p:nvGrpSpPr>
        <p:grpSpPr>
          <a:xfrm>
            <a:off x="604846" y="4301934"/>
            <a:ext cx="3744420" cy="495218"/>
            <a:chOff x="604846" y="4301934"/>
            <a:chExt cx="3744420" cy="495218"/>
          </a:xfrm>
        </p:grpSpPr>
        <p:sp>
          <p:nvSpPr>
            <p:cNvPr id="298" name="Google Shape;298;p3"/>
            <p:cNvSpPr txBox="1"/>
            <p:nvPr/>
          </p:nvSpPr>
          <p:spPr>
            <a:xfrm>
              <a:off x="699354" y="4301934"/>
              <a:ext cx="3649912" cy="495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1200"/>
                <a:buFont typeface="Malgun Gothic"/>
                <a:buNone/>
              </a:pPr>
              <a:r>
                <a:rPr lang="ko-KR" sz="1200" b="1" i="0" u="none" strike="noStrike" cap="none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OCR 텍스트 기반만으로는 문맥 판단 불가</a:t>
              </a:r>
              <a:endParaRPr/>
            </a:p>
          </p:txBody>
        </p:sp>
        <p:pic>
          <p:nvPicPr>
            <p:cNvPr id="299" name="Google Shape;299;p3" descr="배지 체크 표시1 단색으로 채워진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4846" y="4358369"/>
              <a:ext cx="171759" cy="1717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3"/>
          <p:cNvSpPr txBox="1"/>
          <p:nvPr/>
        </p:nvSpPr>
        <p:spPr>
          <a:xfrm>
            <a:off x="375588" y="946596"/>
            <a:ext cx="8376139" cy="29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064" marR="0" lvl="0" indent="-82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Malgun Gothic"/>
              <a:buNone/>
            </a:pPr>
            <a:r>
              <a:rPr lang="ko-KR" sz="1100" b="1" i="0" u="none" strike="noStrik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보험 청구 자동화는 단순 OCR 수준을 넘어, 문서를 이해하고 의미를 검증하는 지능형 파이프라인으로 발전해야 함.</a:t>
            </a:r>
            <a:endParaRPr sz="1100" b="1" i="0" u="none" strike="noStrike" cap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" name="Google Shape;301;p3"/>
          <p:cNvSpPr txBox="1"/>
          <p:nvPr/>
        </p:nvSpPr>
        <p:spPr>
          <a:xfrm>
            <a:off x="5539471" y="3825852"/>
            <a:ext cx="3521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1600"/>
              <a:buFont typeface="Malgun Gothic"/>
              <a:buNone/>
            </a:pPr>
            <a:r>
              <a:rPr lang="ko-KR" sz="15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‘OCR 텍스트’ + ‘시각적 구조 기반 </a:t>
            </a:r>
            <a:endParaRPr sz="1500" b="1" i="0" u="none" strike="noStrike" cap="none">
              <a:solidFill>
                <a:srgbClr val="1F386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1600"/>
              <a:buFont typeface="Malgun Gothic"/>
              <a:buNone/>
            </a:pPr>
            <a:r>
              <a:rPr lang="ko-KR" sz="15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자동화’ </a:t>
            </a:r>
            <a:r>
              <a:rPr lang="ko-KR" sz="1500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</a:t>
            </a:r>
            <a:endParaRPr sz="1300"/>
          </a:p>
        </p:txBody>
      </p:sp>
      <p:sp>
        <p:nvSpPr>
          <p:cNvPr id="302" name="Google Shape;302;p3"/>
          <p:cNvSpPr txBox="1"/>
          <p:nvPr/>
        </p:nvSpPr>
        <p:spPr>
          <a:xfrm>
            <a:off x="5539471" y="5384417"/>
            <a:ext cx="35217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1600"/>
              <a:buFont typeface="Malgun Gothic"/>
              <a:buNone/>
            </a:pPr>
            <a:r>
              <a:rPr lang="ko-KR" sz="15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질병코드·금액 등 의미적 일치까지 자동 확인 </a:t>
            </a:r>
            <a:r>
              <a:rPr lang="ko-KR" sz="1500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표지">
  <a:themeElements>
    <a:clrScheme name="elio color">
      <a:dk1>
        <a:srgbClr val="000000"/>
      </a:dk1>
      <a:lt1>
        <a:srgbClr val="FFFFFF"/>
      </a:lt1>
      <a:dk2>
        <a:srgbClr val="E0CB7C"/>
      </a:dk2>
      <a:lt2>
        <a:srgbClr val="88929B"/>
      </a:lt2>
      <a:accent1>
        <a:srgbClr val="F36622"/>
      </a:accent1>
      <a:accent2>
        <a:srgbClr val="909194"/>
      </a:accent2>
      <a:accent3>
        <a:srgbClr val="76D094"/>
      </a:accent3>
      <a:accent4>
        <a:srgbClr val="797979"/>
      </a:accent4>
      <a:accent5>
        <a:srgbClr val="24A2CA"/>
      </a:accent5>
      <a:accent6>
        <a:srgbClr val="B2D22C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표지">
  <a:themeElements>
    <a:clrScheme name="elio color">
      <a:dk1>
        <a:srgbClr val="000000"/>
      </a:dk1>
      <a:lt1>
        <a:srgbClr val="FFFFFF"/>
      </a:lt1>
      <a:dk2>
        <a:srgbClr val="E0CB7C"/>
      </a:dk2>
      <a:lt2>
        <a:srgbClr val="88929B"/>
      </a:lt2>
      <a:accent1>
        <a:srgbClr val="F36622"/>
      </a:accent1>
      <a:accent2>
        <a:srgbClr val="909194"/>
      </a:accent2>
      <a:accent3>
        <a:srgbClr val="76D094"/>
      </a:accent3>
      <a:accent4>
        <a:srgbClr val="797979"/>
      </a:accent4>
      <a:accent5>
        <a:srgbClr val="24A2CA"/>
      </a:accent5>
      <a:accent6>
        <a:srgbClr val="B2D22C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표지">
  <a:themeElements>
    <a:clrScheme name="elio color">
      <a:dk1>
        <a:srgbClr val="000000"/>
      </a:dk1>
      <a:lt1>
        <a:srgbClr val="FFFFFF"/>
      </a:lt1>
      <a:dk2>
        <a:srgbClr val="E0CB7C"/>
      </a:dk2>
      <a:lt2>
        <a:srgbClr val="88929B"/>
      </a:lt2>
      <a:accent1>
        <a:srgbClr val="F36622"/>
      </a:accent1>
      <a:accent2>
        <a:srgbClr val="909194"/>
      </a:accent2>
      <a:accent3>
        <a:srgbClr val="76D094"/>
      </a:accent3>
      <a:accent4>
        <a:srgbClr val="797979"/>
      </a:accent4>
      <a:accent5>
        <a:srgbClr val="24A2CA"/>
      </a:accent5>
      <a:accent6>
        <a:srgbClr val="B2D22C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A4 용지(210x297mm)</PresentationFormat>
  <Paragraphs>55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7</vt:i4>
      </vt:variant>
      <vt:variant>
        <vt:lpstr>슬라이드 제목</vt:lpstr>
      </vt:variant>
      <vt:variant>
        <vt:i4>3</vt:i4>
      </vt:variant>
    </vt:vector>
  </HeadingPairs>
  <TitlesOfParts>
    <vt:vector size="15" baseType="lpstr">
      <vt:lpstr>Noto Sans Symbols</vt:lpstr>
      <vt:lpstr>굴림</vt:lpstr>
      <vt:lpstr>Arial</vt:lpstr>
      <vt:lpstr>Calibri</vt:lpstr>
      <vt:lpstr>맑은 고딕</vt:lpstr>
      <vt:lpstr>Office 테마</vt:lpstr>
      <vt:lpstr>3_표지</vt:lpstr>
      <vt:lpstr>1_Office 테마</vt:lpstr>
      <vt:lpstr>2_Office 테마</vt:lpstr>
      <vt:lpstr>3_Office 테마</vt:lpstr>
      <vt:lpstr>4_표지</vt:lpstr>
      <vt:lpstr>5_표지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kmac</dc:creator>
  <cp:lastModifiedBy>Admin</cp:lastModifiedBy>
  <cp:revision>1</cp:revision>
  <dcterms:created xsi:type="dcterms:W3CDTF">1999-11-26T05:46:53Z</dcterms:created>
  <dcterms:modified xsi:type="dcterms:W3CDTF">2025-11-06T03:01:57Z</dcterms:modified>
</cp:coreProperties>
</file>