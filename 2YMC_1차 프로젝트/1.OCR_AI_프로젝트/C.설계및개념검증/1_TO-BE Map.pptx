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Masters/slideMaster6.xml" ContentType="application/vnd.openxmlformats-officedocument.presentationml.slideMaster+xml"/>
  <Override PartName="/ppt/slideMasters/slideMaster7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theme/theme4.xml" ContentType="application/vnd.openxmlformats-officedocument.theme+xml"/>
  <Override PartName="/ppt/slideLayouts/slideLayout21.xml" ContentType="application/vnd.openxmlformats-officedocument.presentationml.slideLayout+xml"/>
  <Override PartName="/ppt/theme/theme5.xml" ContentType="application/vnd.openxmlformats-officedocument.theme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6.xml" ContentType="application/vnd.openxmlformats-officedocument.theme+xml"/>
  <Override PartName="/ppt/slideLayouts/slideLayout28.xml" ContentType="application/vnd.openxmlformats-officedocument.presentationml.slideLayout+xml"/>
  <Override PartName="/ppt/theme/theme7.xml" ContentType="application/vnd.openxmlformats-officedocument.theme+xml"/>
  <Override PartName="/ppt/theme/theme8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trictFirstAndLastChars="0" saveSubsetFonts="1" autoCompressPictures="0">
  <p:sldMasterIdLst>
    <p:sldMasterId id="2147483648" r:id="rId1"/>
    <p:sldMasterId id="2147483661" r:id="rId2"/>
    <p:sldMasterId id="2147483668" r:id="rId3"/>
    <p:sldMasterId id="2147483670" r:id="rId4"/>
    <p:sldMasterId id="2147483672" r:id="rId5"/>
    <p:sldMasterId id="2147483674" r:id="rId6"/>
    <p:sldMasterId id="2147483681" r:id="rId7"/>
  </p:sldMasterIdLst>
  <p:notesMasterIdLst>
    <p:notesMasterId r:id="rId12"/>
  </p:notesMasterIdLst>
  <p:sldIdLst>
    <p:sldId id="256" r:id="rId8"/>
    <p:sldId id="257" r:id="rId9"/>
    <p:sldId id="258" r:id="rId10"/>
    <p:sldId id="259" r:id="rId11"/>
  </p:sldIdLst>
  <p:sldSz cx="9906000" cy="6858000" type="A4"/>
  <p:notesSz cx="6797675" cy="9928225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110">
          <p15:clr>
            <a:srgbClr val="A4A3A4"/>
          </p15:clr>
        </p15:guide>
        <p15:guide id="2" orient="horz" pos="1253">
          <p15:clr>
            <a:srgbClr val="A4A3A4"/>
          </p15:clr>
        </p15:guide>
        <p15:guide id="3" orient="horz" pos="4020">
          <p15:clr>
            <a:srgbClr val="A4A3A4"/>
          </p15:clr>
        </p15:guide>
        <p15:guide id="4" orient="horz" pos="4201">
          <p15:clr>
            <a:srgbClr val="A4A3A4"/>
          </p15:clr>
        </p15:guide>
        <p15:guide id="5" pos="262">
          <p15:clr>
            <a:srgbClr val="A4A3A4"/>
          </p15:clr>
        </p15:guide>
        <p15:guide id="6" pos="5978">
          <p15:clr>
            <a:srgbClr val="A4A3A4"/>
          </p15:clr>
        </p15:guide>
        <p15:guide id="7" pos="3120">
          <p15:clr>
            <a:srgbClr val="A4A3A4"/>
          </p15:clr>
        </p15:guide>
        <p15:guide id="8" orient="horz" pos="1207">
          <p15:clr>
            <a:srgbClr val="A4A3A4"/>
          </p15:clr>
        </p15:guide>
        <p15:guide id="9" orient="horz" pos="3974">
          <p15:clr>
            <a:srgbClr val="A4A3A4"/>
          </p15:clr>
        </p15:guide>
        <p15:guide id="10" orient="horz" pos="3929">
          <p15:clr>
            <a:srgbClr val="A4A3A4"/>
          </p15:clr>
        </p15:guide>
        <p15:guide id="11" orient="horz" pos="935">
          <p15:clr>
            <a:srgbClr val="A4A3A4"/>
          </p15:clr>
        </p15:guide>
        <p15:guide id="12" orient="horz" pos="391">
          <p15:clr>
            <a:srgbClr val="A4A3A4"/>
          </p15:clr>
        </p15:guide>
        <p15:guide id="13" pos="1669">
          <p15:clr>
            <a:srgbClr val="A4A3A4"/>
          </p15:clr>
        </p15:guide>
        <p15:guide id="14" pos="4572">
          <p15:clr>
            <a:srgbClr val="A4A3A4"/>
          </p15:clr>
        </p15:guide>
        <p15:guide id="15" orient="horz" pos="4156">
          <p15:clr>
            <a:srgbClr val="A4A3A4"/>
          </p15:clr>
        </p15:guide>
        <p15:guide id="16" pos="2349">
          <p15:clr>
            <a:srgbClr val="A4A3A4"/>
          </p15:clr>
        </p15:guide>
        <p15:guide id="17" orient="horz" pos="4065">
          <p15:clr>
            <a:srgbClr val="A4A3A4"/>
          </p15:clr>
        </p15:guide>
        <p15:guide id="18" orient="horz" pos="436">
          <p15:clr>
            <a:srgbClr val="A4A3A4"/>
          </p15:clr>
        </p15:guide>
        <p15:guide id="19" pos="3891">
          <p15:clr>
            <a:srgbClr val="A4A3A4"/>
          </p15:clr>
        </p15:guide>
        <p15:guide id="20" pos="107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33">
          <p15:clr>
            <a:srgbClr val="A4A3A4"/>
          </p15:clr>
        </p15:guide>
        <p15:guide id="2" pos="2145">
          <p15:clr>
            <a:srgbClr val="A4A3A4"/>
          </p15:clr>
        </p15:guide>
        <p15:guide id="3" orient="horz" pos="3128">
          <p15:clr>
            <a:srgbClr val="A4A3A4"/>
          </p15:clr>
        </p15:guide>
        <p15:guide id="4" pos="2141">
          <p15:clr>
            <a:srgbClr val="A4A3A4"/>
          </p15:clr>
        </p15:guide>
        <p15:guide id="5" orient="horz" pos="3132">
          <p15:clr>
            <a:srgbClr val="A4A3A4"/>
          </p15:clr>
        </p15:guide>
        <p15:guide id="6" orient="horz" pos="3127">
          <p15:clr>
            <a:srgbClr val="A4A3A4"/>
          </p15:clr>
        </p15:guide>
        <p15:guide id="7" orient="horz" pos="3134">
          <p15:clr>
            <a:srgbClr val="A4A3A4"/>
          </p15:clr>
        </p15:guide>
        <p15:guide id="8" orient="horz" pos="3129">
          <p15:clr>
            <a:srgbClr val="A4A3A4"/>
          </p15:clr>
        </p15:guide>
      </p15:notes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17" roundtripDataSignature="AMtx7mgK3eUlH/nmOUrcLkQQS5G90iHJL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0AB74BC-CAE1-4D97-954F-0F3F117DC253}">
  <a:tblStyle styleId="{70AB74BC-CAE1-4D97-954F-0F3F117DC253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2" d="100"/>
          <a:sy n="102" d="100"/>
        </p:scale>
        <p:origin x="1560" y="102"/>
      </p:cViewPr>
      <p:guideLst>
        <p:guide orient="horz" pos="4110"/>
        <p:guide orient="horz" pos="1253"/>
        <p:guide orient="horz" pos="4020"/>
        <p:guide orient="horz" pos="4201"/>
        <p:guide pos="262"/>
        <p:guide pos="5978"/>
        <p:guide pos="3120"/>
        <p:guide orient="horz" pos="1207"/>
        <p:guide orient="horz" pos="3974"/>
        <p:guide orient="horz" pos="3929"/>
        <p:guide orient="horz" pos="935"/>
        <p:guide orient="horz" pos="391"/>
        <p:guide pos="1669"/>
        <p:guide pos="4572"/>
        <p:guide orient="horz" pos="4156"/>
        <p:guide pos="2349"/>
        <p:guide orient="horz" pos="4065"/>
        <p:guide orient="horz" pos="436"/>
        <p:guide pos="3891"/>
        <p:guide pos="107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133"/>
        <p:guide pos="2145"/>
        <p:guide orient="horz" pos="3128"/>
        <p:guide pos="2141"/>
        <p:guide orient="horz" pos="3132"/>
        <p:guide orient="horz" pos="3127"/>
        <p:guide orient="horz" pos="3134"/>
        <p:guide orient="horz" pos="312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Master" Target="slideMasters/slideMaster7.xml"/><Relationship Id="rId12" Type="http://schemas.openxmlformats.org/officeDocument/2006/relationships/notesMaster" Target="notesMasters/notesMaster1.xml"/><Relationship Id="rId17" Type="http://customschemas.google.com/relationships/presentationmetadata" Target="metadata"/><Relationship Id="rId2" Type="http://schemas.openxmlformats.org/officeDocument/2006/relationships/slideMaster" Target="slideMasters/slideMaster2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Master" Target="slideMasters/slideMaster6.xml"/><Relationship Id="rId11" Type="http://schemas.openxmlformats.org/officeDocument/2006/relationships/slide" Target="slides/slide4.xml"/><Relationship Id="rId5" Type="http://schemas.openxmlformats.org/officeDocument/2006/relationships/slideMaster" Target="slideMasters/slideMaster5.xml"/><Relationship Id="rId10" Type="http://schemas.openxmlformats.org/officeDocument/2006/relationships/slide" Target="slides/slide3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8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2" y="3"/>
            <a:ext cx="2949306" cy="49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48372" y="3"/>
            <a:ext cx="2949306" cy="4979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720725" y="747713"/>
            <a:ext cx="5380038" cy="3725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906993" y="4711190"/>
            <a:ext cx="4983694" cy="447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2" y="9435068"/>
            <a:ext cx="2949306" cy="493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48372" y="9435068"/>
            <a:ext cx="2949306" cy="4931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:notes"/>
          <p:cNvSpPr txBox="1">
            <a:spLocks noGrp="1"/>
          </p:cNvSpPr>
          <p:nvPr>
            <p:ph type="body" idx="1"/>
          </p:nvPr>
        </p:nvSpPr>
        <p:spPr>
          <a:xfrm>
            <a:off x="906993" y="4711190"/>
            <a:ext cx="4983694" cy="447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1" name="Google Shape;18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720725" y="747713"/>
            <a:ext cx="5380038" cy="3725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2:notes"/>
          <p:cNvSpPr txBox="1">
            <a:spLocks noGrp="1"/>
          </p:cNvSpPr>
          <p:nvPr>
            <p:ph type="body" idx="1"/>
          </p:nvPr>
        </p:nvSpPr>
        <p:spPr>
          <a:xfrm>
            <a:off x="906993" y="4711190"/>
            <a:ext cx="4983694" cy="447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7" name="Google Shape;187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720725" y="747713"/>
            <a:ext cx="5380038" cy="3725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3:notes"/>
          <p:cNvSpPr txBox="1">
            <a:spLocks noGrp="1"/>
          </p:cNvSpPr>
          <p:nvPr>
            <p:ph type="body" idx="1"/>
          </p:nvPr>
        </p:nvSpPr>
        <p:spPr>
          <a:xfrm>
            <a:off x="906993" y="4711190"/>
            <a:ext cx="4983694" cy="447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32" name="Google Shape;23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720725" y="747713"/>
            <a:ext cx="5380038" cy="3725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4:notes"/>
          <p:cNvSpPr txBox="1">
            <a:spLocks noGrp="1"/>
          </p:cNvSpPr>
          <p:nvPr>
            <p:ph type="body" idx="1"/>
          </p:nvPr>
        </p:nvSpPr>
        <p:spPr>
          <a:xfrm>
            <a:off x="906993" y="4711190"/>
            <a:ext cx="4983694" cy="447015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2150" tIns="46075" rIns="92150" bIns="460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75" name="Google Shape;27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720725" y="747713"/>
            <a:ext cx="5380038" cy="3725862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6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7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빈 화면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6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6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6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제목 슬라이드">
  <p:cSld name="1_제목 슬라이드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7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슬라이드" type="title">
  <p:cSld name="TITLE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8"/>
          <p:cNvSpPr txBox="1"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8"/>
          <p:cNvSpPr txBox="1"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4" name="Google Shape;24;p8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8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8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9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9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" name="Google Shape;30;p9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9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9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구역 머리글" type="secHead">
  <p:cSld name="SECTION_HEADER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0"/>
          <p:cNvSpPr txBox="1"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0"/>
          <p:cNvSpPr txBox="1"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>
                <a:solidFill>
                  <a:schemeClr val="dk1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6" name="Google Shape;36;p10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0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0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콘텐츠 2개" type="twoObj">
  <p:cSld name="TWO_OBJECTS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1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1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1"/>
          <p:cNvSpPr txBox="1">
            <a:spLocks noGrp="1"/>
          </p:cNvSpPr>
          <p:nvPr>
            <p:ph type="body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3" name="Google Shape;43;p11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1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11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비교" type="twoTxTwoObj">
  <p:cSld name="TWO_OBJECTS_WITH_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2"/>
          <p:cNvSpPr txBox="1"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9" name="Google Shape;49;p12"/>
          <p:cNvSpPr txBox="1">
            <a:spLocks noGrp="1"/>
          </p:cNvSpPr>
          <p:nvPr>
            <p:ph type="body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12"/>
          <p:cNvSpPr txBox="1">
            <a:spLocks noGrp="1"/>
          </p:cNvSpPr>
          <p:nvPr>
            <p:ph type="body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51" name="Google Shape;51;p12"/>
          <p:cNvSpPr txBox="1">
            <a:spLocks noGrp="1"/>
          </p:cNvSpPr>
          <p:nvPr>
            <p:ph type="body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2" name="Google Shape;52;p12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2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12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만" type="titleOnly">
  <p:cSld name="TITLE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3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13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13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3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콘텐츠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14"/>
          <p:cNvSpPr txBox="1">
            <a:spLocks noGrp="1"/>
          </p:cNvSpPr>
          <p:nvPr>
            <p:ph type="body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3" name="Google Shape;63;p14"/>
          <p:cNvSpPr txBox="1">
            <a:spLocks noGrp="1"/>
          </p:cNvSpPr>
          <p:nvPr>
            <p:ph type="body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4" name="Google Shape;64;p14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4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4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캡션 있는 그림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15"/>
          <p:cNvSpPr>
            <a:spLocks noGrp="1"/>
          </p:cNvSpPr>
          <p:nvPr>
            <p:ph type="pic" idx="2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71" name="Google Shape;71;p15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5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5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세로 텍스트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6"/>
          <p:cNvSpPr txBox="1">
            <a:spLocks noGrp="1"/>
          </p:cNvSpPr>
          <p:nvPr>
            <p:ph type="body" idx="1"/>
          </p:nvPr>
        </p:nvSpPr>
        <p:spPr>
          <a:xfrm rot="5400000">
            <a:off x="2777332" y="-270668"/>
            <a:ext cx="4351338" cy="8543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6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6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6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세로 제목 및 텍스트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 rot="5400000">
            <a:off x="5251054" y="2203054"/>
            <a:ext cx="5811838" cy="2135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 rot="5400000">
            <a:off x="917179" y="128984"/>
            <a:ext cx="5811838" cy="62841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7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17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간지">
  <p:cSld name="19_간지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9"/>
          <p:cNvSpPr txBox="1">
            <a:spLocks noGrp="1"/>
          </p:cNvSpPr>
          <p:nvPr>
            <p:ph type="body" idx="1"/>
          </p:nvPr>
        </p:nvSpPr>
        <p:spPr>
          <a:xfrm>
            <a:off x="0" y="3500440"/>
            <a:ext cx="9906000" cy="92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orient="horz" pos="256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고객사 로고 있는 내지">
  <p:cSld name="4_고객사 로고 있는 내지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0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076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1" name="Google Shape;91;p20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51" cy="78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92" name="Google Shape;92;p20"/>
          <p:cNvSpPr/>
          <p:nvPr/>
        </p:nvSpPr>
        <p:spPr>
          <a:xfrm>
            <a:off x="4642659" y="6575015"/>
            <a:ext cx="62068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20"/>
          <p:cNvSpPr/>
          <p:nvPr/>
        </p:nvSpPr>
        <p:spPr>
          <a:xfrm>
            <a:off x="450982" y="458132"/>
            <a:ext cx="60960" cy="16575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20"/>
          <p:cNvCxnSpPr/>
          <p:nvPr/>
        </p:nvCxnSpPr>
        <p:spPr>
          <a:xfrm>
            <a:off x="415925" y="676256"/>
            <a:ext cx="9074150" cy="1588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95" name="Google Shape;95;p20"/>
          <p:cNvSpPr txBox="1"/>
          <p:nvPr/>
        </p:nvSpPr>
        <p:spPr>
          <a:xfrm>
            <a:off x="7130408" y="269829"/>
            <a:ext cx="2372400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Ⅱ. 제안개요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고객사 로고 있는 내지">
  <p:cSld name="5_고객사 로고 있는 내지"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1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076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8" name="Google Shape;98;p21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51" cy="78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99" name="Google Shape;99;p21"/>
          <p:cNvSpPr/>
          <p:nvPr/>
        </p:nvSpPr>
        <p:spPr>
          <a:xfrm>
            <a:off x="4642659" y="6575015"/>
            <a:ext cx="62068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p21"/>
          <p:cNvSpPr/>
          <p:nvPr/>
        </p:nvSpPr>
        <p:spPr>
          <a:xfrm>
            <a:off x="450982" y="458132"/>
            <a:ext cx="60960" cy="16575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1" name="Google Shape;101;p21"/>
          <p:cNvCxnSpPr/>
          <p:nvPr/>
        </p:nvCxnSpPr>
        <p:spPr>
          <a:xfrm>
            <a:off x="415925" y="676256"/>
            <a:ext cx="9074150" cy="1588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2" name="Google Shape;102;p21"/>
          <p:cNvSpPr txBox="1"/>
          <p:nvPr/>
        </p:nvSpPr>
        <p:spPr>
          <a:xfrm>
            <a:off x="7130408" y="269829"/>
            <a:ext cx="2372400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Ⅲ. 사업관리 부문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고객사 로고 있는 내지">
  <p:cSld name="6_고객사 로고 있는 내지"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2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076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5" name="Google Shape;105;p22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51" cy="78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06" name="Google Shape;106;p22"/>
          <p:cNvSpPr/>
          <p:nvPr/>
        </p:nvSpPr>
        <p:spPr>
          <a:xfrm>
            <a:off x="4642659" y="6575015"/>
            <a:ext cx="62068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22"/>
          <p:cNvSpPr/>
          <p:nvPr/>
        </p:nvSpPr>
        <p:spPr>
          <a:xfrm>
            <a:off x="450982" y="458132"/>
            <a:ext cx="60960" cy="16575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08" name="Google Shape;108;p22"/>
          <p:cNvCxnSpPr/>
          <p:nvPr/>
        </p:nvCxnSpPr>
        <p:spPr>
          <a:xfrm>
            <a:off x="415925" y="676256"/>
            <a:ext cx="9074150" cy="1588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09" name="Google Shape;109;p22"/>
          <p:cNvSpPr txBox="1"/>
          <p:nvPr/>
        </p:nvSpPr>
        <p:spPr>
          <a:xfrm>
            <a:off x="7130408" y="269829"/>
            <a:ext cx="2372400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Ⅳ. 사업내용 부문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고객사 로고 있는 내지">
  <p:cSld name="7_고객사 로고 있는 내지"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3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076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2" name="Google Shape;112;p23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51" cy="78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13" name="Google Shape;113;p23"/>
          <p:cNvSpPr/>
          <p:nvPr/>
        </p:nvSpPr>
        <p:spPr>
          <a:xfrm>
            <a:off x="4642659" y="6575015"/>
            <a:ext cx="62068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23"/>
          <p:cNvSpPr/>
          <p:nvPr/>
        </p:nvSpPr>
        <p:spPr>
          <a:xfrm>
            <a:off x="450982" y="458132"/>
            <a:ext cx="60960" cy="16575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15" name="Google Shape;115;p23"/>
          <p:cNvCxnSpPr/>
          <p:nvPr/>
        </p:nvCxnSpPr>
        <p:spPr>
          <a:xfrm>
            <a:off x="415925" y="676256"/>
            <a:ext cx="9074150" cy="1588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16" name="Google Shape;116;p23"/>
          <p:cNvSpPr txBox="1"/>
          <p:nvPr/>
        </p:nvSpPr>
        <p:spPr>
          <a:xfrm>
            <a:off x="7130408" y="269829"/>
            <a:ext cx="2372400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Ⅴ. 기타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고객사 로고 있는 내지">
  <p:cSld name="8_고객사 로고 있는 내지"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076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9" name="Google Shape;119;p24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51" cy="78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20" name="Google Shape;120;p24"/>
          <p:cNvSpPr/>
          <p:nvPr/>
        </p:nvSpPr>
        <p:spPr>
          <a:xfrm>
            <a:off x="4642659" y="6575015"/>
            <a:ext cx="62068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24"/>
          <p:cNvSpPr/>
          <p:nvPr/>
        </p:nvSpPr>
        <p:spPr>
          <a:xfrm>
            <a:off x="450982" y="458132"/>
            <a:ext cx="60960" cy="16575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22" name="Google Shape;122;p24"/>
          <p:cNvCxnSpPr/>
          <p:nvPr/>
        </p:nvCxnSpPr>
        <p:spPr>
          <a:xfrm>
            <a:off x="415925" y="676256"/>
            <a:ext cx="9074150" cy="1588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23" name="Google Shape;123;p24"/>
          <p:cNvSpPr txBox="1"/>
          <p:nvPr/>
        </p:nvSpPr>
        <p:spPr>
          <a:xfrm>
            <a:off x="7130408" y="269829"/>
            <a:ext cx="2372400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별첨자료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번호있는 슬라이드">
  <p:cSld name="번호있는 슬라이드">
    <p:spTree>
      <p:nvGrpSpPr>
        <p:cNvPr id="1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26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번호있는 슬라이드">
  <p:cSld name="번호있는 슬라이드">
    <p:spTree>
      <p:nvGrpSpPr>
        <p:cNvPr id="1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8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번호있는 슬라이드">
  <p:cSld name="번호있는 슬라이드"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30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간지">
  <p:cSld name="19_간지"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2"/>
          <p:cNvSpPr txBox="1">
            <a:spLocks noGrp="1"/>
          </p:cNvSpPr>
          <p:nvPr>
            <p:ph type="body" idx="1"/>
          </p:nvPr>
        </p:nvSpPr>
        <p:spPr>
          <a:xfrm>
            <a:off x="0" y="3500440"/>
            <a:ext cx="9906000" cy="92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orient="horz" pos="2568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고객사 로고 있는 내지">
  <p:cSld name="4_고객사 로고 있는 내지">
    <p:spTree>
      <p:nvGrpSpPr>
        <p:cNvPr id="1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076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1" name="Google Shape;141;p33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51" cy="78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42" name="Google Shape;142;p33"/>
          <p:cNvSpPr/>
          <p:nvPr/>
        </p:nvSpPr>
        <p:spPr>
          <a:xfrm>
            <a:off x="4642659" y="6575015"/>
            <a:ext cx="62068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900"/>
              <a:buFont typeface="Arial"/>
              <a:buNone/>
            </a:pPr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33"/>
          <p:cNvSpPr/>
          <p:nvPr/>
        </p:nvSpPr>
        <p:spPr>
          <a:xfrm>
            <a:off x="450982" y="458132"/>
            <a:ext cx="60960" cy="16575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44" name="Google Shape;144;p33"/>
          <p:cNvCxnSpPr/>
          <p:nvPr/>
        </p:nvCxnSpPr>
        <p:spPr>
          <a:xfrm>
            <a:off x="415925" y="676256"/>
            <a:ext cx="9074150" cy="1588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45" name="Google Shape;145;p33"/>
          <p:cNvSpPr txBox="1"/>
          <p:nvPr/>
        </p:nvSpPr>
        <p:spPr>
          <a:xfrm>
            <a:off x="7130408" y="269829"/>
            <a:ext cx="2372400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Noto Sans Symbols"/>
              <a:buNone/>
            </a:pPr>
            <a:r>
              <a:rPr lang="ko-KR" sz="14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Ⅱ. 제안개요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고객사 로고 있는 내지">
  <p:cSld name="5_고객사 로고 있는 내지"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34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076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8" name="Google Shape;148;p34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51" cy="78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49" name="Google Shape;149;p34"/>
          <p:cNvSpPr/>
          <p:nvPr/>
        </p:nvSpPr>
        <p:spPr>
          <a:xfrm>
            <a:off x="4642659" y="6575015"/>
            <a:ext cx="62068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900"/>
              <a:buFont typeface="Arial"/>
              <a:buNone/>
            </a:pPr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0" name="Google Shape;150;p34"/>
          <p:cNvSpPr/>
          <p:nvPr/>
        </p:nvSpPr>
        <p:spPr>
          <a:xfrm>
            <a:off x="450982" y="458132"/>
            <a:ext cx="60960" cy="16575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1" name="Google Shape;151;p34"/>
          <p:cNvCxnSpPr/>
          <p:nvPr/>
        </p:nvCxnSpPr>
        <p:spPr>
          <a:xfrm>
            <a:off x="415925" y="676256"/>
            <a:ext cx="9074150" cy="1588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2" name="Google Shape;152;p34"/>
          <p:cNvSpPr txBox="1"/>
          <p:nvPr/>
        </p:nvSpPr>
        <p:spPr>
          <a:xfrm>
            <a:off x="7130408" y="269829"/>
            <a:ext cx="2372400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Noto Sans Symbols"/>
              <a:buNone/>
            </a:pPr>
            <a:r>
              <a:rPr lang="ko-KR" sz="14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Ⅲ. 사업관리 부문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고객사 로고 있는 내지">
  <p:cSld name="6_고객사 로고 있는 내지"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35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076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55" name="Google Shape;155;p35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51" cy="78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56" name="Google Shape;156;p35"/>
          <p:cNvSpPr/>
          <p:nvPr/>
        </p:nvSpPr>
        <p:spPr>
          <a:xfrm>
            <a:off x="4642659" y="6575015"/>
            <a:ext cx="62068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900"/>
              <a:buFont typeface="Arial"/>
              <a:buNone/>
            </a:pPr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7" name="Google Shape;157;p35"/>
          <p:cNvSpPr/>
          <p:nvPr/>
        </p:nvSpPr>
        <p:spPr>
          <a:xfrm>
            <a:off x="450982" y="458132"/>
            <a:ext cx="60960" cy="16575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58" name="Google Shape;158;p35"/>
          <p:cNvCxnSpPr/>
          <p:nvPr/>
        </p:nvCxnSpPr>
        <p:spPr>
          <a:xfrm>
            <a:off x="415925" y="676256"/>
            <a:ext cx="9074150" cy="1588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59" name="Google Shape;159;p35"/>
          <p:cNvSpPr txBox="1"/>
          <p:nvPr/>
        </p:nvSpPr>
        <p:spPr>
          <a:xfrm>
            <a:off x="7130408" y="269829"/>
            <a:ext cx="2372400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Noto Sans Symbols"/>
              <a:buNone/>
            </a:pPr>
            <a:r>
              <a:rPr lang="ko-KR" sz="14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Ⅳ. 사업내용 부문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고객사 로고 있는 내지">
  <p:cSld name="7_고객사 로고 있는 내지"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6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076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2" name="Google Shape;162;p36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51" cy="78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63" name="Google Shape;163;p36"/>
          <p:cNvSpPr/>
          <p:nvPr/>
        </p:nvSpPr>
        <p:spPr>
          <a:xfrm>
            <a:off x="4642659" y="6575015"/>
            <a:ext cx="62068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900"/>
              <a:buFont typeface="Arial"/>
              <a:buNone/>
            </a:pPr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6"/>
          <p:cNvSpPr/>
          <p:nvPr/>
        </p:nvSpPr>
        <p:spPr>
          <a:xfrm>
            <a:off x="450982" y="458132"/>
            <a:ext cx="60960" cy="16575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65" name="Google Shape;165;p36"/>
          <p:cNvCxnSpPr/>
          <p:nvPr/>
        </p:nvCxnSpPr>
        <p:spPr>
          <a:xfrm>
            <a:off x="415925" y="676256"/>
            <a:ext cx="9074150" cy="1588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66" name="Google Shape;166;p36"/>
          <p:cNvSpPr txBox="1"/>
          <p:nvPr/>
        </p:nvSpPr>
        <p:spPr>
          <a:xfrm>
            <a:off x="7130408" y="269829"/>
            <a:ext cx="2372400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Noto Sans Symbols"/>
              <a:buNone/>
            </a:pPr>
            <a:r>
              <a:rPr lang="ko-KR" sz="14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Ⅴ. 기타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고객사 로고 있는 내지">
  <p:cSld name="8_고객사 로고 있는 내지"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7"/>
          <p:cNvSpPr txBox="1">
            <a:spLocks noGrp="1"/>
          </p:cNvSpPr>
          <p:nvPr>
            <p:ph type="title"/>
          </p:nvPr>
        </p:nvSpPr>
        <p:spPr>
          <a:xfrm>
            <a:off x="458756" y="286617"/>
            <a:ext cx="4537076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b" anchorCtr="0">
            <a:noAutofit/>
          </a:bodyPr>
          <a:lstStyle>
            <a:lvl1pPr marR="0" lvl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400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4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69" name="Google Shape;169;p37"/>
          <p:cNvSpPr txBox="1">
            <a:spLocks noGrp="1"/>
          </p:cNvSpPr>
          <p:nvPr>
            <p:ph type="body" idx="1"/>
          </p:nvPr>
        </p:nvSpPr>
        <p:spPr>
          <a:xfrm>
            <a:off x="415924" y="668320"/>
            <a:ext cx="9074151" cy="7858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70" name="Google Shape;170;p37"/>
          <p:cNvSpPr/>
          <p:nvPr/>
        </p:nvSpPr>
        <p:spPr>
          <a:xfrm>
            <a:off x="4642659" y="6575015"/>
            <a:ext cx="620683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A5A5A5"/>
              </a:buClr>
              <a:buSzPts val="900"/>
              <a:buFont typeface="Arial"/>
              <a:buNone/>
            </a:pPr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- </a:t>
            </a:r>
            <a:fld id="{00000000-1234-1234-1234-123412341234}" type="slidenum"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r>
              <a:rPr lang="ko-KR" sz="900" b="0" i="0" u="none" strike="noStrike" cap="none">
                <a:solidFill>
                  <a:srgbClr val="A5A5A5"/>
                </a:solidFill>
                <a:latin typeface="Arial"/>
                <a:ea typeface="Arial"/>
                <a:cs typeface="Arial"/>
                <a:sym typeface="Arial"/>
              </a:rPr>
              <a:t> -</a:t>
            </a:r>
            <a:endParaRPr sz="900" b="0" i="0" u="none" strike="noStrike" cap="none">
              <a:solidFill>
                <a:srgbClr val="A5A5A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7"/>
          <p:cNvSpPr/>
          <p:nvPr/>
        </p:nvSpPr>
        <p:spPr>
          <a:xfrm>
            <a:off x="450982" y="458132"/>
            <a:ext cx="60960" cy="165755"/>
          </a:xfrm>
          <a:prstGeom prst="rect">
            <a:avLst/>
          </a:prstGeom>
          <a:solidFill>
            <a:srgbClr val="BFBFB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172" name="Google Shape;172;p37"/>
          <p:cNvCxnSpPr/>
          <p:nvPr/>
        </p:nvCxnSpPr>
        <p:spPr>
          <a:xfrm>
            <a:off x="415925" y="676256"/>
            <a:ext cx="9074150" cy="1588"/>
          </a:xfrm>
          <a:prstGeom prst="straightConnector1">
            <a:avLst/>
          </a:prstGeom>
          <a:noFill/>
          <a:ln w="19050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173" name="Google Shape;173;p37"/>
          <p:cNvSpPr txBox="1"/>
          <p:nvPr/>
        </p:nvSpPr>
        <p:spPr>
          <a:xfrm>
            <a:off x="7130408" y="269829"/>
            <a:ext cx="2372400" cy="3699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400"/>
              <a:buFont typeface="Noto Sans Symbols"/>
              <a:buNone/>
            </a:pPr>
            <a:r>
              <a:rPr lang="ko-KR" sz="1400" b="1" i="0" u="none" strike="noStrike" cap="none">
                <a:solidFill>
                  <a:srgbClr val="7F7F7F"/>
                </a:solidFill>
                <a:latin typeface="Malgun Gothic"/>
                <a:ea typeface="Malgun Gothic"/>
                <a:cs typeface="Malgun Gothic"/>
                <a:sym typeface="Malgun Gothic"/>
              </a:rPr>
              <a:t>별첨자료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9_간지">
  <p:cSld name="19_간지">
    <p:spTree>
      <p:nvGrpSpPr>
        <p:cNvPr id="1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9"/>
          <p:cNvSpPr txBox="1">
            <a:spLocks noGrp="1"/>
          </p:cNvSpPr>
          <p:nvPr>
            <p:ph type="body" idx="1"/>
          </p:nvPr>
        </p:nvSpPr>
        <p:spPr>
          <a:xfrm>
            <a:off x="0" y="3500440"/>
            <a:ext cx="9906000" cy="9286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  <p:sp>
        <p:nvSpPr>
          <p:cNvPr id="177" name="Google Shape;177;p39"/>
          <p:cNvSpPr/>
          <p:nvPr/>
        </p:nvSpPr>
        <p:spPr>
          <a:xfrm>
            <a:off x="4448944" y="2428868"/>
            <a:ext cx="1008112" cy="1008112"/>
          </a:xfrm>
          <a:prstGeom prst="rect">
            <a:avLst/>
          </a:prstGeom>
          <a:solidFill>
            <a:srgbClr val="1F4E79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800"/>
              <a:buFont typeface="Arial"/>
              <a:buNone/>
            </a:pPr>
            <a:endParaRPr sz="4800" b="0" i="0" u="none" strike="noStrike" cap="non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8" name="Google Shape;178;p39"/>
          <p:cNvSpPr txBox="1">
            <a:spLocks noGrp="1"/>
          </p:cNvSpPr>
          <p:nvPr>
            <p:ph type="body" idx="2"/>
          </p:nvPr>
        </p:nvSpPr>
        <p:spPr>
          <a:xfrm>
            <a:off x="4445000" y="2428868"/>
            <a:ext cx="1016000" cy="10001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6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04800" algn="l" rtl="0">
              <a:lnSpc>
                <a:spcPct val="12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Noto Sans Symbols"/>
              <a:buChar char="●"/>
              <a:defRPr sz="12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2pPr>
            <a:lvl3pPr marL="1371600" marR="0" lvl="2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Noto Sans Symbols"/>
              <a:buChar char="⬥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3pPr>
            <a:lvl4pPr marL="1828800" marR="0" lvl="3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•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4pPr>
            <a:lvl5pPr marL="2286000" marR="0" lvl="4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5pPr>
            <a:lvl6pPr marL="2743200" marR="0" lvl="5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6pPr>
            <a:lvl7pPr marL="3200400" marR="0" lvl="6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7pPr>
            <a:lvl8pPr marL="3657600" marR="0" lvl="7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8pPr>
            <a:lvl9pPr marL="4114800" marR="0" lvl="8" indent="-292100" algn="l" rtl="0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Gulim"/>
              <a:buChar char="–"/>
              <a:defRPr sz="1000" b="0" i="0" u="none" strike="noStrike" cap="none">
                <a:solidFill>
                  <a:schemeClr val="dk1"/>
                </a:solidFill>
                <a:latin typeface="Gulim"/>
                <a:ea typeface="Gulim"/>
                <a:cs typeface="Gulim"/>
                <a:sym typeface="Gulim"/>
              </a:defRPr>
            </a:lvl9pPr>
          </a:lstStyle>
          <a:p>
            <a:endParaRPr/>
          </a:p>
        </p:txBody>
      </p:sp>
    </p:spTree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120">
          <p15:clr>
            <a:srgbClr val="FBAE40"/>
          </p15:clr>
        </p15:guide>
        <p15:guide id="3" orient="horz" pos="2568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19.xml"/></Relationships>
</file>

<file path=ppt/slideMasters/_rels/slideMaster4.xml.rels><?xml version="1.0" encoding="UTF-8" standalone="yes"?>
<Relationships xmlns="http://schemas.openxmlformats.org/package/2006/relationships"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20.xml"/></Relationships>
</file>

<file path=ppt/slideMasters/_rels/slideMaster5.xml.rels><?xml version="1.0" encoding="UTF-8" standalone="yes"?>
<Relationships xmlns="http://schemas.openxmlformats.org/package/2006/relationships"><Relationship Id="rId2" Type="http://schemas.openxmlformats.org/officeDocument/2006/relationships/theme" Target="../theme/theme5.xml"/><Relationship Id="rId1" Type="http://schemas.openxmlformats.org/officeDocument/2006/relationships/slideLayout" Target="../slideLayouts/slideLayout21.xml"/></Relationships>
</file>

<file path=ppt/slideMasters/_rels/slideMaster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4.xml"/><Relationship Id="rId7" Type="http://schemas.openxmlformats.org/officeDocument/2006/relationships/theme" Target="../theme/theme6.xml"/><Relationship Id="rId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22.xml"/><Relationship Id="rId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5.xml"/></Relationships>
</file>

<file path=ppt/slideMasters/_rels/slideMaster7.xml.rels><?xml version="1.0" encoding="UTF-8" standalone="yes"?>
<Relationships xmlns="http://schemas.openxmlformats.org/package/2006/relationships"><Relationship Id="rId2" Type="http://schemas.openxmlformats.org/officeDocument/2006/relationships/theme" Target="../theme/theme7.xml"/><Relationship Id="rId1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"/>
          <p:cNvSpPr txBox="1"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5"/>
          <p:cNvSpPr txBox="1"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"/>
          <p:cNvSpPr txBox="1">
            <a:spLocks noGrp="1"/>
          </p:cNvSpPr>
          <p:nvPr>
            <p:ph type="dt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5"/>
          <p:cNvSpPr txBox="1">
            <a:spLocks noGrp="1"/>
          </p:cNvSpPr>
          <p:nvPr>
            <p:ph type="ft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4" name="Google Shape;14;p5"/>
          <p:cNvSpPr txBox="1">
            <a:spLocks noGrp="1"/>
          </p:cNvSpPr>
          <p:nvPr>
            <p:ph type="sldNum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25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9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7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1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9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Calibri"/>
              <a:buNone/>
              <a:defRPr sz="12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73" r:id="rId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120">
          <p15:clr>
            <a:srgbClr val="F26B43"/>
          </p15:clr>
        </p15:guide>
      </p15:sldGuideLst>
    </p:ext>
  </p:extLst>
</p:sldMaster>
</file>

<file path=ppt/slideMasters/slideMaster6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7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5" Type="http://schemas.openxmlformats.org/officeDocument/2006/relationships/image" Target="../media/image1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Relationship Id="rId1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"/>
          <p:cNvSpPr/>
          <p:nvPr/>
        </p:nvSpPr>
        <p:spPr>
          <a:xfrm>
            <a:off x="2406590" y="3645322"/>
            <a:ext cx="509282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sz="4000" b="1" i="0" u="none" strike="noStrike" cap="none">
                <a:solidFill>
                  <a:srgbClr val="1F3864"/>
                </a:solidFill>
                <a:latin typeface="Malgun Gothic"/>
                <a:ea typeface="Malgun Gothic"/>
                <a:cs typeface="Malgun Gothic"/>
                <a:sym typeface="Malgun Gothic"/>
              </a:rPr>
              <a:t>TO-BE Map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4" name="Google Shape;184;p1"/>
          <p:cNvSpPr/>
          <p:nvPr/>
        </p:nvSpPr>
        <p:spPr>
          <a:xfrm>
            <a:off x="4594955" y="2682400"/>
            <a:ext cx="716091" cy="650050"/>
          </a:xfrm>
          <a:prstGeom prst="rect">
            <a:avLst/>
          </a:prstGeom>
          <a:solidFill>
            <a:srgbClr val="1F3662"/>
          </a:solidFill>
          <a:ln w="9525" cap="flat" cmpd="sng">
            <a:solidFill>
              <a:srgbClr val="1F4E7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Malgun Gothic"/>
              <a:buNone/>
            </a:pPr>
            <a:r>
              <a:rPr lang="ko-KR" sz="4400" b="0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C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"/>
          <p:cNvSpPr/>
          <p:nvPr/>
        </p:nvSpPr>
        <p:spPr>
          <a:xfrm>
            <a:off x="210680" y="1352155"/>
            <a:ext cx="1964359" cy="481948"/>
          </a:xfrm>
          <a:custGeom>
            <a:avLst/>
            <a:gdLst/>
            <a:ahLst/>
            <a:cxnLst/>
            <a:rect l="l" t="t" r="r" b="b"/>
            <a:pathLst>
              <a:path w="1911418" h="481948" extrusionOk="0">
                <a:moveTo>
                  <a:pt x="0" y="0"/>
                </a:moveTo>
                <a:lnTo>
                  <a:pt x="1607337" y="6470"/>
                </a:lnTo>
                <a:lnTo>
                  <a:pt x="1911418" y="481948"/>
                </a:lnTo>
                <a:lnTo>
                  <a:pt x="0" y="481948"/>
                </a:lnTo>
                <a:lnTo>
                  <a:pt x="0" y="0"/>
                </a:lnTo>
                <a:close/>
              </a:path>
            </a:pathLst>
          </a:custGeom>
          <a:solidFill>
            <a:srgbClr val="3D96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0" name="Google Shape;190;p2"/>
          <p:cNvSpPr txBox="1"/>
          <p:nvPr/>
        </p:nvSpPr>
        <p:spPr>
          <a:xfrm>
            <a:off x="201085" y="1371482"/>
            <a:ext cx="1643338" cy="27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ko-KR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자동화 시나리오 A안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"/>
          <p:cNvSpPr/>
          <p:nvPr/>
        </p:nvSpPr>
        <p:spPr>
          <a:xfrm>
            <a:off x="210680" y="1672475"/>
            <a:ext cx="9507786" cy="4817225"/>
          </a:xfrm>
          <a:prstGeom prst="rect">
            <a:avLst/>
          </a:prstGeom>
          <a:solidFill>
            <a:srgbClr val="EBF0F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192" name="Google Shape;192;p2"/>
          <p:cNvSpPr/>
          <p:nvPr/>
        </p:nvSpPr>
        <p:spPr>
          <a:xfrm>
            <a:off x="0" y="542002"/>
            <a:ext cx="9906000" cy="72873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93" name="Google Shape;193;p2"/>
          <p:cNvSpPr txBox="1"/>
          <p:nvPr/>
        </p:nvSpPr>
        <p:spPr>
          <a:xfrm>
            <a:off x="375588" y="946596"/>
            <a:ext cx="8376139" cy="293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2064" marR="0" lvl="0" indent="-82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Malgun Gothic"/>
              <a:buNone/>
            </a:pPr>
            <a:r>
              <a:rPr lang="ko-KR" sz="1100" i="0" u="none" strike="noStrike" cap="none" dirty="0">
                <a:solidFill>
                  <a:srgbClr val="262626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- 자동화 프로그램(텍스트 인식 및 분류), 데이터 검증 프로그램, 관리 프로그램(문서 불러오기)</a:t>
            </a:r>
            <a:r>
              <a:rPr lang="ko-KR" sz="1100" i="0" u="none" strike="noStrike" cap="none" dirty="0" err="1">
                <a:solidFill>
                  <a:srgbClr val="262626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를</a:t>
            </a:r>
            <a:r>
              <a:rPr lang="ko-KR" sz="1100" i="0" u="none" strike="noStrike" cap="none" dirty="0">
                <a:solidFill>
                  <a:srgbClr val="262626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 구축하여 구축 편의성을 높임.</a:t>
            </a:r>
            <a:endParaRPr sz="1100" i="0" u="none" strike="noStrike" cap="none" dirty="0">
              <a:solidFill>
                <a:srgbClr val="262626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cxnSp>
        <p:nvCxnSpPr>
          <p:cNvPr id="194" name="Google Shape;194;p2"/>
          <p:cNvCxnSpPr/>
          <p:nvPr/>
        </p:nvCxnSpPr>
        <p:spPr>
          <a:xfrm>
            <a:off x="0" y="542002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5" name="Google Shape;195;p2"/>
          <p:cNvSpPr/>
          <p:nvPr/>
        </p:nvSpPr>
        <p:spPr>
          <a:xfrm>
            <a:off x="7773361" y="67378"/>
            <a:ext cx="2156604" cy="405510"/>
          </a:xfrm>
          <a:custGeom>
            <a:avLst/>
            <a:gdLst/>
            <a:ahLst/>
            <a:cxnLst/>
            <a:rect l="l" t="t" r="r" b="b"/>
            <a:pathLst>
              <a:path w="2156604" h="405510" extrusionOk="0">
                <a:moveTo>
                  <a:pt x="241539" y="8626"/>
                </a:moveTo>
                <a:lnTo>
                  <a:pt x="2156604" y="0"/>
                </a:lnTo>
                <a:lnTo>
                  <a:pt x="2156604" y="405510"/>
                </a:lnTo>
                <a:lnTo>
                  <a:pt x="0" y="405510"/>
                </a:lnTo>
                <a:lnTo>
                  <a:pt x="241539" y="8626"/>
                </a:lnTo>
                <a:close/>
              </a:path>
            </a:pathLst>
          </a:custGeom>
          <a:solidFill>
            <a:srgbClr val="20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96" name="Google Shape;196;p2"/>
          <p:cNvSpPr txBox="1"/>
          <p:nvPr/>
        </p:nvSpPr>
        <p:spPr>
          <a:xfrm>
            <a:off x="7773361" y="99709"/>
            <a:ext cx="2096524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r>
              <a:rPr lang="ko-KR" sz="1600" b="1" i="0" u="none" strike="noStrike" cap="none">
                <a:solidFill>
                  <a:srgbClr val="FFFFFF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C. TO-BE Map</a:t>
            </a:r>
            <a:endParaRPr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Malgun Gothic"/>
              <a:buNone/>
            </a:pPr>
            <a:endParaRPr sz="1400" b="0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sym typeface="Arial"/>
            </a:endParaRPr>
          </a:p>
        </p:txBody>
      </p:sp>
      <p:sp>
        <p:nvSpPr>
          <p:cNvPr id="197" name="Google Shape;197;p2"/>
          <p:cNvSpPr txBox="1"/>
          <p:nvPr/>
        </p:nvSpPr>
        <p:spPr>
          <a:xfrm>
            <a:off x="260410" y="99710"/>
            <a:ext cx="4037277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Malgun Gothic"/>
              <a:buNone/>
            </a:pPr>
            <a:r>
              <a:rPr lang="ko-KR" sz="1800" b="0" i="0" u="none" strike="noStrike" cap="none" dirty="0">
                <a:solidFill>
                  <a:srgbClr val="1F3864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자동화 시나리오 설계</a:t>
            </a:r>
            <a:endParaRPr sz="1800" b="0" i="0" u="none" strike="noStrike" cap="none" dirty="0">
              <a:solidFill>
                <a:srgbClr val="262626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98" name="Google Shape;198;p2"/>
          <p:cNvSpPr/>
          <p:nvPr/>
        </p:nvSpPr>
        <p:spPr>
          <a:xfrm>
            <a:off x="200025" y="153593"/>
            <a:ext cx="60385" cy="284671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199" name="Google Shape;199;p2"/>
          <p:cNvSpPr txBox="1"/>
          <p:nvPr/>
        </p:nvSpPr>
        <p:spPr>
          <a:xfrm>
            <a:off x="338987" y="645742"/>
            <a:ext cx="4188069" cy="33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Noto Sans Symbols"/>
              <a:buNone/>
            </a:pPr>
            <a:r>
              <a:rPr lang="ko-KR" sz="1400" b="1" i="0" u="none" strike="noStrike" cap="none">
                <a:solidFill>
                  <a:srgbClr val="1F3864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모듈형 자동화 프로그램 구축 시나리오</a:t>
            </a:r>
            <a:endParaRPr sz="1400" b="0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grpSp>
        <p:nvGrpSpPr>
          <p:cNvPr id="200" name="Google Shape;200;p2"/>
          <p:cNvGrpSpPr/>
          <p:nvPr/>
        </p:nvGrpSpPr>
        <p:grpSpPr>
          <a:xfrm>
            <a:off x="200025" y="717415"/>
            <a:ext cx="175563" cy="170983"/>
            <a:chOff x="4188618" y="3162300"/>
            <a:chExt cx="547687" cy="533400"/>
          </a:xfrm>
        </p:grpSpPr>
        <p:sp>
          <p:nvSpPr>
            <p:cNvPr id="201" name="Google Shape;201;p2"/>
            <p:cNvSpPr/>
            <p:nvPr/>
          </p:nvSpPr>
          <p:spPr>
            <a:xfrm>
              <a:off x="44172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119063" y="0"/>
                  </a:move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</p:txBody>
        </p:sp>
        <p:sp>
          <p:nvSpPr>
            <p:cNvPr id="202" name="Google Shape;202;p2"/>
            <p:cNvSpPr/>
            <p:nvPr/>
          </p:nvSpPr>
          <p:spPr>
            <a:xfrm>
              <a:off x="41886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0" y="533400"/>
                  </a:move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1F386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</p:txBody>
        </p:sp>
      </p:grpSp>
      <p:sp>
        <p:nvSpPr>
          <p:cNvPr id="203" name="Google Shape;203;p2"/>
          <p:cNvSpPr/>
          <p:nvPr/>
        </p:nvSpPr>
        <p:spPr>
          <a:xfrm>
            <a:off x="338987" y="1792122"/>
            <a:ext cx="9205918" cy="4589206"/>
          </a:xfrm>
          <a:prstGeom prst="roundRect">
            <a:avLst>
              <a:gd name="adj" fmla="val 349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/>
          <a:p>
            <a:pPr marL="142875" marR="0" lvl="0" indent="-142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42875" marR="0" lvl="0" indent="-142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sz="1200" b="0" i="0" u="none" strike="noStrike" cap="none" dirty="0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05" name="Google Shape;205;p2"/>
          <p:cNvGrpSpPr/>
          <p:nvPr/>
        </p:nvGrpSpPr>
        <p:grpSpPr>
          <a:xfrm>
            <a:off x="4615025" y="2515382"/>
            <a:ext cx="1444109" cy="1140973"/>
            <a:chOff x="4532367" y="3365871"/>
            <a:chExt cx="1140714" cy="929920"/>
          </a:xfrm>
        </p:grpSpPr>
        <p:sp>
          <p:nvSpPr>
            <p:cNvPr id="206" name="Google Shape;206;p2"/>
            <p:cNvSpPr txBox="1"/>
            <p:nvPr/>
          </p:nvSpPr>
          <p:spPr>
            <a:xfrm>
              <a:off x="4532367" y="3990221"/>
              <a:ext cx="1140714" cy="305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42875" marR="0" lvl="0" indent="-14287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Noto Sans Symbols"/>
                <a:buNone/>
              </a:pPr>
              <a:r>
                <a:rPr lang="ko-KR" sz="1600" b="1" i="0" u="none" strike="noStrike" cap="none" dirty="0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사내 DB</a:t>
              </a:r>
              <a:endParaRPr lang="en-US" altLang="ko-KR" sz="1600" b="1" i="0" u="none" strike="noStrike" cap="none" dirty="0">
                <a:solidFill>
                  <a:srgbClr val="262626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  <a:p>
              <a:pPr marL="142875" marR="0" lvl="0" indent="-14287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Noto Sans Symbols"/>
                <a:buNone/>
              </a:pPr>
              <a:r>
                <a:rPr lang="en-US" altLang="ko-KR" sz="1200" i="0" u="none" strike="noStrike" cap="none" dirty="0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(</a:t>
              </a:r>
              <a:r>
                <a:rPr lang="ko-KR" altLang="en-US" sz="1200" i="0" u="none" strike="noStrike" cap="none" dirty="0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로컬</a:t>
              </a:r>
              <a:r>
                <a:rPr lang="en-US" altLang="ko-KR" sz="1200" i="0" u="none" strike="noStrike" cap="none" dirty="0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/</a:t>
              </a:r>
              <a:r>
                <a:rPr lang="en-US" altLang="ko-KR" sz="1200" i="0" u="none" strike="noStrike" cap="none" dirty="0" err="1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Mysql</a:t>
              </a:r>
              <a:r>
                <a:rPr lang="en-US" altLang="ko-KR" sz="1200" i="0" u="none" strike="noStrike" cap="none" dirty="0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)</a:t>
              </a:r>
              <a:endParaRPr sz="1200" i="0" u="none" strike="noStrike" cap="none" dirty="0">
                <a:solidFill>
                  <a:srgbClr val="262626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</p:txBody>
        </p:sp>
        <p:pic>
          <p:nvPicPr>
            <p:cNvPr id="207" name="Google Shape;207;p2" descr="데이터 베이스 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97923" y="3365871"/>
              <a:ext cx="609600" cy="60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08" name="Google Shape;208;p2"/>
          <p:cNvGrpSpPr/>
          <p:nvPr/>
        </p:nvGrpSpPr>
        <p:grpSpPr>
          <a:xfrm>
            <a:off x="2294395" y="2450719"/>
            <a:ext cx="1956222" cy="1111547"/>
            <a:chOff x="2050315" y="2880277"/>
            <a:chExt cx="1956222" cy="1111547"/>
          </a:xfrm>
        </p:grpSpPr>
        <p:pic>
          <p:nvPicPr>
            <p:cNvPr id="209" name="Google Shape;209;p2" descr="인공 지능 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648744" y="2880277"/>
              <a:ext cx="807463" cy="807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0" name="Google Shape;210;p2"/>
            <p:cNvSpPr txBox="1"/>
            <p:nvPr/>
          </p:nvSpPr>
          <p:spPr>
            <a:xfrm>
              <a:off x="2050315" y="3717032"/>
              <a:ext cx="1956222" cy="274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42875" marR="0" lvl="0" indent="-14287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Noto Sans Symbols"/>
                <a:buNone/>
              </a:pPr>
              <a:r>
                <a:rPr lang="ko-KR" sz="1600" b="1" i="0" u="none" strike="noStrike" cap="none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자동화 프로그램</a:t>
              </a:r>
              <a:endParaRPr sz="1400" b="0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sym typeface="Arial"/>
              </a:endParaRPr>
            </a:p>
          </p:txBody>
        </p:sp>
      </p:grpSp>
      <p:cxnSp>
        <p:nvCxnSpPr>
          <p:cNvPr id="211" name="Google Shape;211;p2"/>
          <p:cNvCxnSpPr/>
          <p:nvPr/>
        </p:nvCxnSpPr>
        <p:spPr>
          <a:xfrm>
            <a:off x="3952097" y="2893623"/>
            <a:ext cx="806388" cy="0"/>
          </a:xfrm>
          <a:prstGeom prst="straightConnector1">
            <a:avLst/>
          </a:prstGeom>
          <a:noFill/>
          <a:ln w="444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cxnSp>
        <p:nvCxnSpPr>
          <p:cNvPr id="212" name="Google Shape;212;p2"/>
          <p:cNvCxnSpPr>
            <a:cxnSpLocks/>
          </p:cNvCxnSpPr>
          <p:nvPr/>
        </p:nvCxnSpPr>
        <p:spPr>
          <a:xfrm rot="16200000" flipH="1">
            <a:off x="7551090" y="3200752"/>
            <a:ext cx="1334916" cy="661801"/>
          </a:xfrm>
          <a:prstGeom prst="bentConnector3">
            <a:avLst>
              <a:gd name="adj1" fmla="val 1169"/>
            </a:avLst>
          </a:prstGeom>
          <a:noFill/>
          <a:ln w="444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13" name="Google Shape;213;p2"/>
          <p:cNvGrpSpPr/>
          <p:nvPr/>
        </p:nvGrpSpPr>
        <p:grpSpPr>
          <a:xfrm>
            <a:off x="6230998" y="2572813"/>
            <a:ext cx="1956222" cy="980218"/>
            <a:chOff x="7289145" y="4478804"/>
            <a:chExt cx="1956222" cy="980218"/>
          </a:xfrm>
        </p:grpSpPr>
        <p:pic>
          <p:nvPicPr>
            <p:cNvPr id="214" name="Google Shape;214;p2" descr="검증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8043815" y="4478804"/>
              <a:ext cx="707912" cy="707912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15" name="Google Shape;215;p2"/>
            <p:cNvSpPr txBox="1"/>
            <p:nvPr/>
          </p:nvSpPr>
          <p:spPr>
            <a:xfrm>
              <a:off x="7289145" y="5184230"/>
              <a:ext cx="1956222" cy="274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42875" marR="0" lvl="0" indent="-14287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Noto Sans Symbols"/>
                <a:buNone/>
              </a:pPr>
              <a:r>
                <a:rPr lang="ko-KR" sz="1600" b="1" i="0" u="none" strike="noStrike" cap="none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검증 프로그램</a:t>
              </a:r>
              <a:endParaRPr sz="1400" b="0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sym typeface="Arial"/>
              </a:endParaRPr>
            </a:p>
          </p:txBody>
        </p:sp>
      </p:grpSp>
      <p:cxnSp>
        <p:nvCxnSpPr>
          <p:cNvPr id="216" name="Google Shape;216;p2"/>
          <p:cNvCxnSpPr>
            <a:cxnSpLocks/>
          </p:cNvCxnSpPr>
          <p:nvPr/>
        </p:nvCxnSpPr>
        <p:spPr>
          <a:xfrm flipH="1">
            <a:off x="6735603" y="4791600"/>
            <a:ext cx="1036350" cy="0"/>
          </a:xfrm>
          <a:prstGeom prst="straightConnector1">
            <a:avLst/>
          </a:prstGeom>
          <a:noFill/>
          <a:ln w="444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20" name="Google Shape;220;p2"/>
          <p:cNvGrpSpPr/>
          <p:nvPr/>
        </p:nvGrpSpPr>
        <p:grpSpPr>
          <a:xfrm>
            <a:off x="802522" y="4006211"/>
            <a:ext cx="3556126" cy="1871992"/>
            <a:chOff x="690739" y="4005280"/>
            <a:chExt cx="2450183" cy="1871992"/>
          </a:xfrm>
        </p:grpSpPr>
        <p:sp>
          <p:nvSpPr>
            <p:cNvPr id="221" name="Google Shape;221;p2"/>
            <p:cNvSpPr/>
            <p:nvPr/>
          </p:nvSpPr>
          <p:spPr>
            <a:xfrm>
              <a:off x="690739" y="4113652"/>
              <a:ext cx="2361779" cy="1763620"/>
            </a:xfrm>
            <a:prstGeom prst="roundRect">
              <a:avLst>
                <a:gd name="adj" fmla="val 3345"/>
              </a:avLst>
            </a:prstGeom>
            <a:solidFill>
              <a:srgbClr val="F2F2F2"/>
            </a:solidFill>
            <a:ln w="38100" cap="flat" cmpd="sng">
              <a:solidFill>
                <a:srgbClr val="20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</p:txBody>
        </p:sp>
        <p:sp>
          <p:nvSpPr>
            <p:cNvPr id="222" name="Google Shape;222;p2"/>
            <p:cNvSpPr txBox="1"/>
            <p:nvPr/>
          </p:nvSpPr>
          <p:spPr>
            <a:xfrm>
              <a:off x="749036" y="4368602"/>
              <a:ext cx="2391886" cy="11797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28600" marR="0" lvl="0" indent="-228600" algn="l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r>
                <a:rPr lang="en-US" altLang="ko-KR" sz="1100" dirty="0" err="1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Streamlit</a:t>
              </a:r>
              <a:r>
                <a:rPr lang="ko-KR" altLang="en-US" sz="1100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으로 구현한 </a:t>
              </a:r>
              <a:r>
                <a:rPr lang="ko-KR" sz="1100" i="0" u="none" strike="noStrike" cap="none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고객의 </a:t>
              </a:r>
              <a:r>
                <a:rPr lang="ko-KR" altLang="en-US" sz="1100" i="0" u="none" strike="noStrike" cap="none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화면을 통해 문서 업로드</a:t>
              </a:r>
              <a:endParaRPr sz="1100" i="0" u="none" strike="noStrike" cap="none" dirty="0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endParaRPr>
            </a:p>
            <a:p>
              <a:pPr marL="228600" marR="0" lvl="0" indent="-228600" algn="l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r>
                <a:rPr lang="ko-KR" sz="1100" i="0" u="none" strike="noStrike" cap="none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자동화 프로그램(OCR/AI)</a:t>
              </a:r>
              <a:r>
                <a:rPr lang="ko-KR" sz="1100" i="0" u="none" strike="noStrike" cap="none" dirty="0" err="1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으로</a:t>
              </a:r>
              <a:r>
                <a:rPr lang="ko-KR" sz="1100" i="0" u="none" strike="noStrike" cap="none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 </a:t>
              </a:r>
              <a:r>
                <a:rPr lang="ko-KR" altLang="en-US" sz="1100" i="0" u="none" strike="noStrike" cap="none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고객</a:t>
              </a:r>
              <a:r>
                <a:rPr lang="ko-KR" sz="1100" i="0" u="none" strike="noStrike" cap="none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정보 분류 및 저장</a:t>
              </a:r>
              <a:endParaRPr sz="1100" i="0" u="none" strike="noStrike" cap="none" dirty="0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endParaRPr>
            </a:p>
            <a:p>
              <a:pPr marL="228600" marR="0" lvl="0" indent="-228600" algn="l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r>
                <a:rPr lang="en-US" altLang="ko-KR" sz="1100" i="0" u="none" strike="noStrike" cap="none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LLM</a:t>
              </a:r>
              <a:r>
                <a:rPr lang="ko-KR" altLang="en-US" sz="1100" i="0" u="none" strike="noStrike" cap="none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 기반</a:t>
              </a:r>
              <a:r>
                <a:rPr lang="ko-KR" sz="1100" i="0" u="none" strike="noStrike" cap="none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 </a:t>
              </a:r>
              <a:r>
                <a:rPr lang="ko-KR" altLang="en-US" sz="1100" i="0" u="none" strike="noStrike" cap="none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검증 </a:t>
              </a:r>
              <a:r>
                <a:rPr lang="ko-KR" sz="1100" i="0" u="none" strike="noStrike" cap="none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프로그램 돌려서 데이터 검증</a:t>
              </a:r>
              <a:endParaRPr sz="1100" i="0" u="none" strike="noStrike" cap="none" dirty="0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endParaRPr>
            </a:p>
            <a:p>
              <a:pPr marL="228600" marR="0" lvl="0" indent="-228600" algn="l" rtl="0">
                <a:lnSpc>
                  <a:spcPct val="100000"/>
                </a:lnSpc>
                <a:spcBef>
                  <a:spcPts val="80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r>
                <a:rPr lang="ko-KR" sz="1100" i="0" u="none" strike="noStrike" cap="none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관리 프로그램으로 보고싶은 문서 불러오기 </a:t>
              </a:r>
              <a:endParaRPr sz="1800" i="0" u="none" strike="noStrike" cap="none" dirty="0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sym typeface="Arial"/>
              </a:endParaRPr>
            </a:p>
          </p:txBody>
        </p:sp>
        <p:sp>
          <p:nvSpPr>
            <p:cNvPr id="223" name="Google Shape;223;p2"/>
            <p:cNvSpPr/>
            <p:nvPr/>
          </p:nvSpPr>
          <p:spPr>
            <a:xfrm>
              <a:off x="1285632" y="4005280"/>
              <a:ext cx="1192094" cy="193970"/>
            </a:xfrm>
            <a:prstGeom prst="roundRect">
              <a:avLst>
                <a:gd name="adj" fmla="val 16667"/>
              </a:avLst>
            </a:prstGeom>
            <a:solidFill>
              <a:srgbClr val="203864"/>
            </a:solidFill>
            <a:ln w="31750" cap="flat" cmpd="sng">
              <a:solidFill>
                <a:srgbClr val="20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ko-KR" sz="1050" b="1" i="0" u="none" strike="noStrike" cap="none">
                  <a:solidFill>
                    <a:schemeClr val="lt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Process 설명</a:t>
              </a:r>
              <a:endParaRPr sz="1400" b="0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sym typeface="Arial"/>
              </a:endParaRPr>
            </a:p>
          </p:txBody>
        </p:sp>
      </p:grpSp>
      <p:sp>
        <p:nvSpPr>
          <p:cNvPr id="224" name="Google Shape;224;p2"/>
          <p:cNvSpPr txBox="1"/>
          <p:nvPr/>
        </p:nvSpPr>
        <p:spPr>
          <a:xfrm>
            <a:off x="7986164" y="2533751"/>
            <a:ext cx="11763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sz="1000" b="1" i="0" u="none" strike="noStrike" cap="none" dirty="0" err="1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Key값</a:t>
            </a:r>
            <a:r>
              <a:rPr lang="ko-KR" sz="1000" b="1" i="0" u="none" strike="noStrike" cap="none" dirty="0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 식별</a:t>
            </a:r>
            <a:endParaRPr sz="1000" b="1" i="0" u="none" strike="noStrike" cap="none" dirty="0">
              <a:solidFill>
                <a:schemeClr val="dk1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cxnSp>
        <p:nvCxnSpPr>
          <p:cNvPr id="225" name="Google Shape;225;p2"/>
          <p:cNvCxnSpPr/>
          <p:nvPr/>
        </p:nvCxnSpPr>
        <p:spPr>
          <a:xfrm>
            <a:off x="5880866" y="2893623"/>
            <a:ext cx="806388" cy="0"/>
          </a:xfrm>
          <a:prstGeom prst="straightConnector1">
            <a:avLst/>
          </a:prstGeom>
          <a:noFill/>
          <a:ln w="444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229" name="Google Shape;229;p2"/>
          <p:cNvSpPr txBox="1"/>
          <p:nvPr/>
        </p:nvSpPr>
        <p:spPr>
          <a:xfrm>
            <a:off x="3638018" y="2427494"/>
            <a:ext cx="140639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1000" b="1" i="0" u="none" strike="noStrike" cap="none" dirty="0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고객</a:t>
            </a:r>
            <a:r>
              <a:rPr lang="ko-KR" sz="1000" b="1" i="0" u="none" strike="noStrike" cap="none" dirty="0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정보 분류 </a:t>
            </a:r>
            <a:endParaRPr dirty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및 저장</a:t>
            </a:r>
            <a:endParaRPr sz="1000" b="1" i="0" u="none" strike="noStrike" cap="none" dirty="0">
              <a:solidFill>
                <a:schemeClr val="dk1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141ADFD-820C-1E61-8DE7-762273CA6329}"/>
              </a:ext>
            </a:extLst>
          </p:cNvPr>
          <p:cNvGrpSpPr/>
          <p:nvPr/>
        </p:nvGrpSpPr>
        <p:grpSpPr>
          <a:xfrm>
            <a:off x="475931" y="2440164"/>
            <a:ext cx="1444109" cy="1262138"/>
            <a:chOff x="961365" y="2603992"/>
            <a:chExt cx="1444109" cy="1262138"/>
          </a:xfrm>
        </p:grpSpPr>
        <p:pic>
          <p:nvPicPr>
            <p:cNvPr id="1026" name="Picture 2" descr="스마트 폰 ">
              <a:extLst>
                <a:ext uri="{FF2B5EF4-FFF2-40B4-BE49-F238E27FC236}">
                  <a16:creationId xmlns:a16="http://schemas.microsoft.com/office/drawing/2014/main" id="{25F7F99D-E05F-B550-3902-473B9D62E31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396491" y="2603992"/>
              <a:ext cx="866735" cy="86673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2" name="Google Shape;206;p2">
              <a:extLst>
                <a:ext uri="{FF2B5EF4-FFF2-40B4-BE49-F238E27FC236}">
                  <a16:creationId xmlns:a16="http://schemas.microsoft.com/office/drawing/2014/main" id="{68CE3416-8F05-9936-8C2B-CA5CF16BF153}"/>
                </a:ext>
              </a:extLst>
            </p:cNvPr>
            <p:cNvSpPr txBox="1"/>
            <p:nvPr/>
          </p:nvSpPr>
          <p:spPr>
            <a:xfrm>
              <a:off x="961365" y="3491208"/>
              <a:ext cx="1444109" cy="3749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42875" marR="0" lvl="0" indent="-14287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Noto Sans Symbols"/>
                <a:buNone/>
              </a:pPr>
              <a:r>
                <a:rPr lang="ko-KR" altLang="en-US" sz="1600" b="1" i="0" u="none" strike="noStrike" cap="none" dirty="0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고객 화면</a:t>
              </a:r>
              <a:endParaRPr sz="1600" b="1" i="0" u="none" strike="noStrike" cap="none" dirty="0">
                <a:solidFill>
                  <a:srgbClr val="262626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</p:txBody>
        </p:sp>
      </p:grpSp>
      <p:cxnSp>
        <p:nvCxnSpPr>
          <p:cNvPr id="8" name="Google Shape;211;p2">
            <a:extLst>
              <a:ext uri="{FF2B5EF4-FFF2-40B4-BE49-F238E27FC236}">
                <a16:creationId xmlns:a16="http://schemas.microsoft.com/office/drawing/2014/main" id="{03E8C20C-EA44-BDD4-E37E-74C0E9A19DF8}"/>
              </a:ext>
            </a:extLst>
          </p:cNvPr>
          <p:cNvCxnSpPr/>
          <p:nvPr/>
        </p:nvCxnSpPr>
        <p:spPr>
          <a:xfrm>
            <a:off x="1869478" y="2893623"/>
            <a:ext cx="806388" cy="0"/>
          </a:xfrm>
          <a:prstGeom prst="straightConnector1">
            <a:avLst/>
          </a:prstGeom>
          <a:noFill/>
          <a:ln w="444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sp>
        <p:nvSpPr>
          <p:cNvPr id="9" name="Google Shape;229;p2">
            <a:extLst>
              <a:ext uri="{FF2B5EF4-FFF2-40B4-BE49-F238E27FC236}">
                <a16:creationId xmlns:a16="http://schemas.microsoft.com/office/drawing/2014/main" id="{A4F59B50-58AD-14DA-BE47-E3EECF843A62}"/>
              </a:ext>
            </a:extLst>
          </p:cNvPr>
          <p:cNvSpPr txBox="1"/>
          <p:nvPr/>
        </p:nvSpPr>
        <p:spPr>
          <a:xfrm>
            <a:off x="1556669" y="2502271"/>
            <a:ext cx="140639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altLang="en-US" sz="1000" b="1" i="0" u="none" strike="noStrike" cap="none" dirty="0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문서 업로드</a:t>
            </a:r>
            <a:endParaRPr sz="1000" b="1" i="0" u="none" strike="noStrike" cap="none" dirty="0">
              <a:solidFill>
                <a:schemeClr val="dk1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11A9075-BEA0-CAF1-3C4A-BE98A1F39BA7}"/>
              </a:ext>
            </a:extLst>
          </p:cNvPr>
          <p:cNvGrpSpPr/>
          <p:nvPr/>
        </p:nvGrpSpPr>
        <p:grpSpPr>
          <a:xfrm>
            <a:off x="7738571" y="4275989"/>
            <a:ext cx="1671486" cy="1257095"/>
            <a:chOff x="6774674" y="2639603"/>
            <a:chExt cx="1671486" cy="1257095"/>
          </a:xfrm>
        </p:grpSpPr>
        <p:pic>
          <p:nvPicPr>
            <p:cNvPr id="1028" name="Picture 4" descr="ººººººººººººººººººººººººººººººººººº ">
              <a:extLst>
                <a:ext uri="{FF2B5EF4-FFF2-40B4-BE49-F238E27FC236}">
                  <a16:creationId xmlns:a16="http://schemas.microsoft.com/office/drawing/2014/main" id="{B88DDD7A-DF0C-8D31-0163-CC737107EC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50347" y="2639603"/>
              <a:ext cx="920141" cy="92014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0" name="Google Shape;206;p2">
              <a:extLst>
                <a:ext uri="{FF2B5EF4-FFF2-40B4-BE49-F238E27FC236}">
                  <a16:creationId xmlns:a16="http://schemas.microsoft.com/office/drawing/2014/main" id="{92852FB7-D1D5-5102-C5A4-19CCFDFBB927}"/>
                </a:ext>
              </a:extLst>
            </p:cNvPr>
            <p:cNvSpPr txBox="1"/>
            <p:nvPr/>
          </p:nvSpPr>
          <p:spPr>
            <a:xfrm>
              <a:off x="6774674" y="3521776"/>
              <a:ext cx="1671486" cy="37492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42875" marR="0" lvl="0" indent="-14287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Noto Sans Symbols"/>
                <a:buNone/>
              </a:pPr>
              <a:r>
                <a:rPr lang="ko-KR" altLang="en-US" sz="1600" b="1" i="0" u="none" strike="noStrike" cap="none" dirty="0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관리 프로그램</a:t>
              </a:r>
              <a:r>
                <a:rPr lang="en-US" altLang="ko-KR" sz="1200" i="0" u="none" strike="noStrike" cap="none" dirty="0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(</a:t>
              </a:r>
              <a:r>
                <a:rPr lang="ko-KR" altLang="en-US" sz="1200" i="0" u="none" strike="noStrike" cap="none" dirty="0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화면</a:t>
              </a:r>
              <a:r>
                <a:rPr lang="en-US" altLang="ko-KR" sz="1200" i="0" u="none" strike="noStrike" cap="none" dirty="0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)</a:t>
              </a:r>
              <a:endParaRPr sz="1600" i="0" u="none" strike="noStrike" cap="none" dirty="0">
                <a:solidFill>
                  <a:srgbClr val="262626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</p:txBody>
        </p:sp>
      </p:grpSp>
      <p:grpSp>
        <p:nvGrpSpPr>
          <p:cNvPr id="12" name="Google Shape;264;p3">
            <a:extLst>
              <a:ext uri="{FF2B5EF4-FFF2-40B4-BE49-F238E27FC236}">
                <a16:creationId xmlns:a16="http://schemas.microsoft.com/office/drawing/2014/main" id="{25AA5572-402C-1517-2F02-6AC0C1363DD8}"/>
              </a:ext>
            </a:extLst>
          </p:cNvPr>
          <p:cNvGrpSpPr/>
          <p:nvPr/>
        </p:nvGrpSpPr>
        <p:grpSpPr>
          <a:xfrm>
            <a:off x="4545216" y="4369533"/>
            <a:ext cx="2440452" cy="1304912"/>
            <a:chOff x="6163868" y="4767284"/>
            <a:chExt cx="1477943" cy="789833"/>
          </a:xfrm>
        </p:grpSpPr>
        <p:sp>
          <p:nvSpPr>
            <p:cNvPr id="13" name="Google Shape;265;p3">
              <a:extLst>
                <a:ext uri="{FF2B5EF4-FFF2-40B4-BE49-F238E27FC236}">
                  <a16:creationId xmlns:a16="http://schemas.microsoft.com/office/drawing/2014/main" id="{229405D7-0452-A934-66F3-3E3432C8351D}"/>
                </a:ext>
              </a:extLst>
            </p:cNvPr>
            <p:cNvSpPr txBox="1"/>
            <p:nvPr/>
          </p:nvSpPr>
          <p:spPr>
            <a:xfrm>
              <a:off x="6163868" y="5221820"/>
              <a:ext cx="1477943" cy="33529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ko-KR" altLang="en-US" sz="1500" b="1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직접 확인하고</a:t>
              </a:r>
              <a:r>
                <a:rPr lang="ko-KR" sz="1500" b="1" i="0" u="none" strike="noStrike" cap="none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 싶은 문서</a:t>
              </a:r>
              <a:r>
                <a:rPr lang="en-US" altLang="ko-KR" sz="1500" b="1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 </a:t>
              </a: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ko-KR" altLang="en-US" sz="1500" b="1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열람 및 다운로드 가능</a:t>
              </a:r>
              <a:endParaRPr sz="1500" b="1" i="0" u="none" strike="noStrike" cap="none" dirty="0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endParaRPr>
            </a:p>
          </p:txBody>
        </p:sp>
        <p:pic>
          <p:nvPicPr>
            <p:cNvPr id="14" name="Google Shape;266;p3" descr="문서 기호 ">
              <a:extLst>
                <a:ext uri="{FF2B5EF4-FFF2-40B4-BE49-F238E27FC236}">
                  <a16:creationId xmlns:a16="http://schemas.microsoft.com/office/drawing/2014/main" id="{175996CD-5C14-2500-0065-26D933834007}"/>
                </a:ext>
              </a:extLst>
            </p:cNvPr>
            <p:cNvPicPr preferRelativeResize="0"/>
            <p:nvPr/>
          </p:nvPicPr>
          <p:blipFill rotWithShape="1">
            <a:blip r:embed="rId8">
              <a:alphaModFix/>
            </a:blip>
            <a:srcRect/>
            <a:stretch/>
          </p:blipFill>
          <p:spPr>
            <a:xfrm>
              <a:off x="6730930" y="4767284"/>
              <a:ext cx="443986" cy="443986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3"/>
          <p:cNvSpPr/>
          <p:nvPr/>
        </p:nvSpPr>
        <p:spPr>
          <a:xfrm>
            <a:off x="210680" y="1352155"/>
            <a:ext cx="1964359" cy="481948"/>
          </a:xfrm>
          <a:custGeom>
            <a:avLst/>
            <a:gdLst/>
            <a:ahLst/>
            <a:cxnLst/>
            <a:rect l="l" t="t" r="r" b="b"/>
            <a:pathLst>
              <a:path w="1911418" h="481948" extrusionOk="0">
                <a:moveTo>
                  <a:pt x="0" y="0"/>
                </a:moveTo>
                <a:lnTo>
                  <a:pt x="1607337" y="6470"/>
                </a:lnTo>
                <a:lnTo>
                  <a:pt x="1911418" y="481948"/>
                </a:lnTo>
                <a:lnTo>
                  <a:pt x="0" y="481948"/>
                </a:lnTo>
                <a:lnTo>
                  <a:pt x="0" y="0"/>
                </a:lnTo>
                <a:close/>
              </a:path>
            </a:pathLst>
          </a:custGeom>
          <a:solidFill>
            <a:srgbClr val="3D96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5" name="Google Shape;235;p3"/>
          <p:cNvSpPr txBox="1"/>
          <p:nvPr/>
        </p:nvSpPr>
        <p:spPr>
          <a:xfrm>
            <a:off x="201085" y="1371482"/>
            <a:ext cx="1643338" cy="2782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ko-KR" sz="1200" b="1" i="0" u="none" strike="noStrike" cap="none">
                <a:solidFill>
                  <a:srgbClr val="FFFFFF"/>
                </a:solidFill>
                <a:latin typeface="Malgun Gothic"/>
                <a:ea typeface="Malgun Gothic"/>
                <a:cs typeface="Malgun Gothic"/>
                <a:sym typeface="Malgun Gothic"/>
              </a:rPr>
              <a:t>자동화 시나리오 B안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6" name="Google Shape;236;p3"/>
          <p:cNvSpPr/>
          <p:nvPr/>
        </p:nvSpPr>
        <p:spPr>
          <a:xfrm>
            <a:off x="210680" y="1672475"/>
            <a:ext cx="9507900" cy="4817100"/>
          </a:xfrm>
          <a:prstGeom prst="rect">
            <a:avLst/>
          </a:prstGeom>
          <a:solidFill>
            <a:srgbClr val="EBF0F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37" name="Google Shape;237;p3"/>
          <p:cNvSpPr/>
          <p:nvPr/>
        </p:nvSpPr>
        <p:spPr>
          <a:xfrm>
            <a:off x="338987" y="1792122"/>
            <a:ext cx="9205800" cy="4589100"/>
          </a:xfrm>
          <a:prstGeom prst="roundRect">
            <a:avLst>
              <a:gd name="adj" fmla="val 3497"/>
            </a:avLst>
          </a:prstGeom>
          <a:solidFill>
            <a:schemeClr val="lt1"/>
          </a:solidFill>
          <a:ln>
            <a:noFill/>
          </a:ln>
        </p:spPr>
        <p:txBody>
          <a:bodyPr spcFirstLastPara="1" wrap="square" lIns="182875" tIns="45700" rIns="91425" bIns="45700" anchor="ctr" anchorCtr="0">
            <a:noAutofit/>
          </a:bodyPr>
          <a:lstStyle/>
          <a:p>
            <a:pPr marL="142875" marR="0" lvl="0" indent="-142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</a:pPr>
            <a:endParaRPr sz="1000" b="1" i="0" u="none" strike="noStrike" cap="none">
              <a:solidFill>
                <a:srgbClr val="262626"/>
              </a:solidFill>
              <a:latin typeface="Malgun Gothic"/>
              <a:ea typeface="Malgun Gothic"/>
              <a:cs typeface="Malgun Gothic"/>
              <a:sym typeface="Malgun Gothic"/>
            </a:endParaRPr>
          </a:p>
          <a:p>
            <a:pPr marL="142875" marR="0" lvl="0" indent="-14287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262626"/>
                </a:solidFill>
                <a:latin typeface="Malgun Gothic"/>
                <a:ea typeface="Malgun Gothic"/>
                <a:cs typeface="Malgun Gothic"/>
                <a:sym typeface="Malgun Gothic"/>
              </a:rPr>
              <a:t> </a:t>
            </a: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8" name="Google Shape;238;p3"/>
          <p:cNvSpPr/>
          <p:nvPr/>
        </p:nvSpPr>
        <p:spPr>
          <a:xfrm>
            <a:off x="0" y="542002"/>
            <a:ext cx="9906000" cy="72873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239" name="Google Shape;239;p3"/>
          <p:cNvSpPr txBox="1"/>
          <p:nvPr/>
        </p:nvSpPr>
        <p:spPr>
          <a:xfrm>
            <a:off x="375588" y="946596"/>
            <a:ext cx="8376139" cy="293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82064" marR="0" lvl="0" indent="-82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62626"/>
              </a:buClr>
              <a:buSzPts val="1100"/>
              <a:buFont typeface="Malgun Gothic"/>
              <a:buNone/>
            </a:pPr>
            <a:r>
              <a:rPr lang="ko-KR" sz="1100" i="0" u="none" strike="noStrike" cap="none">
                <a:solidFill>
                  <a:srgbClr val="262626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- 자동화 프로그램을 통합한 통합 자동화 프로그램으로 사용자의 사용 편의성을 높임.</a:t>
            </a:r>
            <a:endParaRPr sz="1100" i="0" u="none" strike="noStrike" cap="none">
              <a:solidFill>
                <a:srgbClr val="262626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cxnSp>
        <p:nvCxnSpPr>
          <p:cNvPr id="240" name="Google Shape;240;p3"/>
          <p:cNvCxnSpPr/>
          <p:nvPr/>
        </p:nvCxnSpPr>
        <p:spPr>
          <a:xfrm>
            <a:off x="0" y="542002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41" name="Google Shape;241;p3"/>
          <p:cNvSpPr/>
          <p:nvPr/>
        </p:nvSpPr>
        <p:spPr>
          <a:xfrm>
            <a:off x="7773361" y="67378"/>
            <a:ext cx="2156604" cy="405510"/>
          </a:xfrm>
          <a:custGeom>
            <a:avLst/>
            <a:gdLst/>
            <a:ahLst/>
            <a:cxnLst/>
            <a:rect l="l" t="t" r="r" b="b"/>
            <a:pathLst>
              <a:path w="2156604" h="405510" extrusionOk="0">
                <a:moveTo>
                  <a:pt x="241539" y="8626"/>
                </a:moveTo>
                <a:lnTo>
                  <a:pt x="2156604" y="0"/>
                </a:lnTo>
                <a:lnTo>
                  <a:pt x="2156604" y="405510"/>
                </a:lnTo>
                <a:lnTo>
                  <a:pt x="0" y="405510"/>
                </a:lnTo>
                <a:lnTo>
                  <a:pt x="241539" y="8626"/>
                </a:lnTo>
                <a:close/>
              </a:path>
            </a:pathLst>
          </a:custGeom>
          <a:solidFill>
            <a:srgbClr val="20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242" name="Google Shape;242;p3"/>
          <p:cNvSpPr txBox="1"/>
          <p:nvPr/>
        </p:nvSpPr>
        <p:spPr>
          <a:xfrm>
            <a:off x="7773361" y="99709"/>
            <a:ext cx="2096524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1" i="0" u="none" strike="noStrike" cap="none">
                <a:solidFill>
                  <a:srgbClr val="FFFFFF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C. TO-BE Map</a:t>
            </a:r>
            <a:endParaRPr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sym typeface="Arial"/>
            </a:endParaRPr>
          </a:p>
        </p:txBody>
      </p:sp>
      <p:sp>
        <p:nvSpPr>
          <p:cNvPr id="243" name="Google Shape;243;p3"/>
          <p:cNvSpPr txBox="1"/>
          <p:nvPr/>
        </p:nvSpPr>
        <p:spPr>
          <a:xfrm>
            <a:off x="260410" y="99710"/>
            <a:ext cx="4037277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Malgun Gothic"/>
              <a:buNone/>
            </a:pPr>
            <a:r>
              <a:rPr lang="ko-KR" sz="1800" b="0" i="0" u="none" strike="noStrike" cap="none">
                <a:solidFill>
                  <a:srgbClr val="1F3864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자동화 시나리오 설계</a:t>
            </a:r>
            <a:endParaRPr sz="1800" b="0" i="0" u="none" strike="noStrike" cap="none">
              <a:solidFill>
                <a:srgbClr val="262626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244" name="Google Shape;244;p3"/>
          <p:cNvSpPr/>
          <p:nvPr/>
        </p:nvSpPr>
        <p:spPr>
          <a:xfrm>
            <a:off x="200025" y="153593"/>
            <a:ext cx="60385" cy="284671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245" name="Google Shape;245;p3"/>
          <p:cNvSpPr txBox="1"/>
          <p:nvPr/>
        </p:nvSpPr>
        <p:spPr>
          <a:xfrm>
            <a:off x="338987" y="645742"/>
            <a:ext cx="4188069" cy="33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Noto Sans Symbols"/>
              <a:buNone/>
            </a:pPr>
            <a:r>
              <a:rPr lang="ko-KR" sz="1400" b="1" i="0" u="none" strike="noStrike" cap="none">
                <a:solidFill>
                  <a:srgbClr val="1F3864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통합 자동화 프로그램 구축 시나리오</a:t>
            </a:r>
            <a:endParaRPr sz="1400" b="0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grpSp>
        <p:nvGrpSpPr>
          <p:cNvPr id="246" name="Google Shape;246;p3"/>
          <p:cNvGrpSpPr/>
          <p:nvPr/>
        </p:nvGrpSpPr>
        <p:grpSpPr>
          <a:xfrm>
            <a:off x="200025" y="717415"/>
            <a:ext cx="175563" cy="170983"/>
            <a:chOff x="4188618" y="3162300"/>
            <a:chExt cx="547687" cy="533400"/>
          </a:xfrm>
        </p:grpSpPr>
        <p:sp>
          <p:nvSpPr>
            <p:cNvPr id="247" name="Google Shape;247;p3"/>
            <p:cNvSpPr/>
            <p:nvPr/>
          </p:nvSpPr>
          <p:spPr>
            <a:xfrm>
              <a:off x="44172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119063" y="0"/>
                  </a:move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</p:txBody>
        </p:sp>
        <p:sp>
          <p:nvSpPr>
            <p:cNvPr id="248" name="Google Shape;248;p3"/>
            <p:cNvSpPr/>
            <p:nvPr/>
          </p:nvSpPr>
          <p:spPr>
            <a:xfrm>
              <a:off x="41886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0" y="533400"/>
                  </a:move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1F386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</p:txBody>
        </p:sp>
      </p:grpSp>
      <p:sp>
        <p:nvSpPr>
          <p:cNvPr id="249" name="Google Shape;249;p3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2</a:t>
            </a:fld>
            <a:endParaRPr sz="1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50" name="Google Shape;250;p3"/>
          <p:cNvGrpSpPr/>
          <p:nvPr/>
        </p:nvGrpSpPr>
        <p:grpSpPr>
          <a:xfrm>
            <a:off x="1305046" y="2620213"/>
            <a:ext cx="1444109" cy="1140973"/>
            <a:chOff x="4532367" y="3365871"/>
            <a:chExt cx="1140714" cy="929920"/>
          </a:xfrm>
        </p:grpSpPr>
        <p:sp>
          <p:nvSpPr>
            <p:cNvPr id="251" name="Google Shape;251;p3"/>
            <p:cNvSpPr txBox="1"/>
            <p:nvPr/>
          </p:nvSpPr>
          <p:spPr>
            <a:xfrm>
              <a:off x="4532367" y="3990221"/>
              <a:ext cx="1140714" cy="305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42875" marR="0" lvl="0" indent="-14287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Noto Sans Symbols"/>
                <a:buNone/>
              </a:pPr>
              <a:r>
                <a:rPr lang="ko-KR" sz="1600" b="1" i="0" u="none" strike="noStrike" cap="none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사내 DB</a:t>
              </a:r>
              <a:endParaRPr sz="1600" b="1" i="0" u="none" strike="noStrike" cap="none">
                <a:solidFill>
                  <a:srgbClr val="262626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</p:txBody>
        </p:sp>
        <p:pic>
          <p:nvPicPr>
            <p:cNvPr id="252" name="Google Shape;252;p3" descr="데이터 베이스 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97923" y="3365871"/>
              <a:ext cx="609600" cy="609600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53" name="Google Shape;253;p3"/>
          <p:cNvGrpSpPr/>
          <p:nvPr/>
        </p:nvGrpSpPr>
        <p:grpSpPr>
          <a:xfrm>
            <a:off x="3854411" y="2590838"/>
            <a:ext cx="2319208" cy="1111547"/>
            <a:chOff x="1868822" y="2880277"/>
            <a:chExt cx="2319208" cy="1111547"/>
          </a:xfrm>
        </p:grpSpPr>
        <p:pic>
          <p:nvPicPr>
            <p:cNvPr id="254" name="Google Shape;254;p3" descr="인공 지능 "/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2648744" y="2880277"/>
              <a:ext cx="807463" cy="807463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5" name="Google Shape;255;p3"/>
            <p:cNvSpPr txBox="1"/>
            <p:nvPr/>
          </p:nvSpPr>
          <p:spPr>
            <a:xfrm>
              <a:off x="1868822" y="3717032"/>
              <a:ext cx="2319208" cy="27479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42875" marR="0" lvl="0" indent="-14287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Noto Sans Symbols"/>
                <a:buNone/>
              </a:pPr>
              <a:r>
                <a:rPr lang="ko-KR" sz="1600" b="1" i="0" u="none" strike="noStrike" cap="none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통합 자동화 프로그램</a:t>
              </a:r>
              <a:endParaRPr sz="1600" b="1" i="0" u="none" strike="noStrike" cap="none">
                <a:solidFill>
                  <a:srgbClr val="262626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  <a:p>
              <a:pPr marL="142875" marR="0" lvl="0" indent="-14287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100"/>
                <a:buFont typeface="Noto Sans Symbols"/>
                <a:buNone/>
              </a:pPr>
              <a:r>
                <a:rPr lang="ko-KR" sz="1100" b="0" i="0" u="none" strike="noStrike" cap="none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(검증 + 관리 프로그램 통합)</a:t>
              </a:r>
              <a:endParaRPr sz="1100" b="0" i="0" u="none" strike="noStrike" cap="none">
                <a:solidFill>
                  <a:srgbClr val="262626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</p:txBody>
        </p:sp>
      </p:grpSp>
      <p:cxnSp>
        <p:nvCxnSpPr>
          <p:cNvPr id="256" name="Google Shape;256;p3"/>
          <p:cNvCxnSpPr/>
          <p:nvPr/>
        </p:nvCxnSpPr>
        <p:spPr>
          <a:xfrm>
            <a:off x="3144604" y="3060156"/>
            <a:ext cx="806388" cy="0"/>
          </a:xfrm>
          <a:prstGeom prst="straightConnector1">
            <a:avLst/>
          </a:prstGeom>
          <a:noFill/>
          <a:ln w="444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57" name="Google Shape;257;p3"/>
          <p:cNvGrpSpPr/>
          <p:nvPr/>
        </p:nvGrpSpPr>
        <p:grpSpPr>
          <a:xfrm rot="-5400000">
            <a:off x="5959626" y="3496694"/>
            <a:ext cx="1140952" cy="2724257"/>
            <a:chOff x="3265818" y="4104301"/>
            <a:chExt cx="1098337" cy="1753739"/>
          </a:xfrm>
        </p:grpSpPr>
        <p:cxnSp>
          <p:nvCxnSpPr>
            <p:cNvPr id="258" name="Google Shape;258;p3"/>
            <p:cNvCxnSpPr/>
            <p:nvPr/>
          </p:nvCxnSpPr>
          <p:spPr>
            <a:xfrm rot="-5400000">
              <a:off x="3211818" y="4158301"/>
              <a:ext cx="1177500" cy="1069500"/>
            </a:xfrm>
            <a:prstGeom prst="bentConnector3">
              <a:avLst>
                <a:gd name="adj1" fmla="val 100789"/>
              </a:avLst>
            </a:prstGeom>
            <a:noFill/>
            <a:ln w="444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triangle" w="med" len="med"/>
            </a:ln>
          </p:spPr>
        </p:cxnSp>
        <p:cxnSp>
          <p:nvCxnSpPr>
            <p:cNvPr id="259" name="Google Shape;259;p3"/>
            <p:cNvCxnSpPr/>
            <p:nvPr/>
          </p:nvCxnSpPr>
          <p:spPr>
            <a:xfrm>
              <a:off x="3274254" y="5180039"/>
              <a:ext cx="1089900" cy="678000"/>
            </a:xfrm>
            <a:prstGeom prst="bentConnector3">
              <a:avLst>
                <a:gd name="adj1" fmla="val -3025"/>
              </a:avLst>
            </a:prstGeom>
            <a:noFill/>
            <a:ln w="44450" cap="flat" cmpd="sng">
              <a:solidFill>
                <a:schemeClr val="accent1"/>
              </a:solidFill>
              <a:prstDash val="solid"/>
              <a:miter lim="800000"/>
              <a:headEnd type="none" w="sm" len="sm"/>
              <a:tailEnd type="none" w="sm" len="sm"/>
            </a:ln>
          </p:spPr>
        </p:cxnSp>
      </p:grpSp>
      <p:grpSp>
        <p:nvGrpSpPr>
          <p:cNvPr id="260" name="Google Shape;260;p3"/>
          <p:cNvGrpSpPr/>
          <p:nvPr/>
        </p:nvGrpSpPr>
        <p:grpSpPr>
          <a:xfrm>
            <a:off x="1111614" y="4103395"/>
            <a:ext cx="3186073" cy="1871992"/>
            <a:chOff x="660632" y="4005280"/>
            <a:chExt cx="2655979" cy="1871992"/>
          </a:xfrm>
        </p:grpSpPr>
        <p:sp>
          <p:nvSpPr>
            <p:cNvPr id="261" name="Google Shape;261;p3"/>
            <p:cNvSpPr/>
            <p:nvPr/>
          </p:nvSpPr>
          <p:spPr>
            <a:xfrm>
              <a:off x="660632" y="4113652"/>
              <a:ext cx="2655979" cy="1763620"/>
            </a:xfrm>
            <a:prstGeom prst="roundRect">
              <a:avLst>
                <a:gd name="adj" fmla="val 3345"/>
              </a:avLst>
            </a:prstGeom>
            <a:solidFill>
              <a:srgbClr val="F2F2F2"/>
            </a:solidFill>
            <a:ln w="38100" cap="flat" cmpd="sng">
              <a:solidFill>
                <a:srgbClr val="20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</p:txBody>
        </p:sp>
        <p:sp>
          <p:nvSpPr>
            <p:cNvPr id="262" name="Google Shape;262;p3"/>
            <p:cNvSpPr txBox="1"/>
            <p:nvPr/>
          </p:nvSpPr>
          <p:spPr>
            <a:xfrm>
              <a:off x="792678" y="4437328"/>
              <a:ext cx="2391886" cy="11079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2286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r>
                <a:rPr lang="ko-KR" sz="1100" i="0" u="none" strike="noStrike" cap="none" dirty="0" err="1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사내DB에</a:t>
              </a:r>
              <a:r>
                <a:rPr lang="ko-KR" sz="1100" i="0" u="none" strike="noStrike" cap="none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 고객의 각종 보험 청구(필요) 문서 저장 </a:t>
              </a:r>
              <a:endParaRPr lang="en-US" altLang="ko-KR" sz="1100" dirty="0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endParaRPr>
            </a:p>
            <a:p>
              <a:pPr marL="2286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endParaRPr lang="en-US" altLang="ko-KR" sz="1100" i="0" u="none" strike="noStrike" cap="none" dirty="0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endParaRPr>
            </a:p>
            <a:p>
              <a:pPr marL="228600" marR="0" lvl="0" indent="-22860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000"/>
                <a:buFont typeface="Calibri"/>
                <a:buAutoNum type="arabicPeriod"/>
              </a:pPr>
              <a:r>
                <a:rPr lang="ko-KR" sz="1100" i="0" u="none" strike="noStrike" cap="none" dirty="0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통합 자동화 프로그램(OCR/AI) 으로 문서 분류, 데이터 검증, 문서 불러오기 기능 통합 </a:t>
              </a:r>
              <a:endParaRPr sz="1100" i="0" u="none" strike="noStrike" cap="none" dirty="0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endParaRPr>
            </a:p>
          </p:txBody>
        </p:sp>
        <p:sp>
          <p:nvSpPr>
            <p:cNvPr id="263" name="Google Shape;263;p3"/>
            <p:cNvSpPr/>
            <p:nvPr/>
          </p:nvSpPr>
          <p:spPr>
            <a:xfrm>
              <a:off x="1392574" y="4005280"/>
              <a:ext cx="1192094" cy="193970"/>
            </a:xfrm>
            <a:prstGeom prst="roundRect">
              <a:avLst>
                <a:gd name="adj" fmla="val 16667"/>
              </a:avLst>
            </a:prstGeom>
            <a:solidFill>
              <a:srgbClr val="203864"/>
            </a:solidFill>
            <a:ln w="31750" cap="flat" cmpd="sng">
              <a:solidFill>
                <a:srgbClr val="203864"/>
              </a:solidFill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050"/>
                <a:buFont typeface="Arial"/>
                <a:buNone/>
              </a:pPr>
              <a:r>
                <a:rPr lang="ko-KR" sz="1050" b="1" i="0" u="none" strike="noStrike" cap="none">
                  <a:solidFill>
                    <a:schemeClr val="lt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Process 설명</a:t>
              </a:r>
              <a:endParaRPr sz="1400" b="0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sym typeface="Arial"/>
              </a:endParaRPr>
            </a:p>
          </p:txBody>
        </p:sp>
      </p:grpSp>
      <p:grpSp>
        <p:nvGrpSpPr>
          <p:cNvPr id="264" name="Google Shape;264;p3"/>
          <p:cNvGrpSpPr/>
          <p:nvPr/>
        </p:nvGrpSpPr>
        <p:grpSpPr>
          <a:xfrm>
            <a:off x="5665975" y="4893484"/>
            <a:ext cx="1533310" cy="823836"/>
            <a:chOff x="6234439" y="4767284"/>
            <a:chExt cx="1336800" cy="823836"/>
          </a:xfrm>
        </p:grpSpPr>
        <p:sp>
          <p:nvSpPr>
            <p:cNvPr id="265" name="Google Shape;265;p3"/>
            <p:cNvSpPr txBox="1"/>
            <p:nvPr/>
          </p:nvSpPr>
          <p:spPr>
            <a:xfrm>
              <a:off x="6234439" y="5221820"/>
              <a:ext cx="1336800" cy="3693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sp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ko-KR" sz="900" b="1" i="0" u="none" strike="noStrike" cap="none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검증 및 불러오고 싶은 </a:t>
              </a:r>
              <a:endParaRPr sz="900" b="1" i="0" u="none" strike="noStrike" cap="none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endParaRPr>
            </a:p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900"/>
                <a:buFont typeface="Arial"/>
                <a:buNone/>
              </a:pPr>
              <a:r>
                <a:rPr lang="ko-KR" sz="900" b="1" i="0" u="none" strike="noStrike" cap="none">
                  <a:solidFill>
                    <a:schemeClr val="dk1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Calibri"/>
                  <a:sym typeface="Calibri"/>
                </a:rPr>
                <a:t>데이터(문서)</a:t>
              </a:r>
              <a:endParaRPr sz="900" b="1" i="0" u="none" strike="noStrike" cap="none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endParaRPr>
            </a:p>
          </p:txBody>
        </p:sp>
        <p:pic>
          <p:nvPicPr>
            <p:cNvPr id="266" name="Google Shape;266;p3" descr="문서 기호 "/>
            <p:cNvPicPr preferRelativeResize="0"/>
            <p:nvPr/>
          </p:nvPicPr>
          <p:blipFill rotWithShape="1">
            <a:blip r:embed="rId5">
              <a:alphaModFix/>
            </a:blip>
            <a:srcRect/>
            <a:stretch/>
          </p:blipFill>
          <p:spPr>
            <a:xfrm>
              <a:off x="6730930" y="4767284"/>
              <a:ext cx="443986" cy="443986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67" name="Google Shape;267;p3"/>
          <p:cNvSpPr txBox="1"/>
          <p:nvPr/>
        </p:nvSpPr>
        <p:spPr>
          <a:xfrm>
            <a:off x="5888057" y="2544837"/>
            <a:ext cx="140639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상세정보 분류 </a:t>
            </a:r>
            <a:endParaRPr dirty="0"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sz="1000" b="1" i="0" u="none" strike="noStrike" cap="none" dirty="0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및 저장</a:t>
            </a:r>
            <a:endParaRPr sz="1000" b="1" i="0" u="none" strike="noStrike" cap="none" dirty="0">
              <a:solidFill>
                <a:schemeClr val="dk1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268" name="Google Shape;268;p3"/>
          <p:cNvSpPr txBox="1"/>
          <p:nvPr/>
        </p:nvSpPr>
        <p:spPr>
          <a:xfrm>
            <a:off x="7787106" y="4678445"/>
            <a:ext cx="1176300" cy="37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lang="ko-KR" sz="1000" b="1" i="0" u="none" strike="noStrike" cap="none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Key값 식별</a:t>
            </a:r>
            <a:endParaRPr sz="1000" b="1" i="0" u="none" strike="noStrike" cap="none">
              <a:solidFill>
                <a:schemeClr val="dk1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cxnSp>
        <p:nvCxnSpPr>
          <p:cNvPr id="269" name="Google Shape;269;p3"/>
          <p:cNvCxnSpPr/>
          <p:nvPr/>
        </p:nvCxnSpPr>
        <p:spPr>
          <a:xfrm>
            <a:off x="6232694" y="3060156"/>
            <a:ext cx="806388" cy="0"/>
          </a:xfrm>
          <a:prstGeom prst="straightConnector1">
            <a:avLst/>
          </a:prstGeom>
          <a:noFill/>
          <a:ln w="44450" cap="flat" cmpd="sng">
            <a:solidFill>
              <a:schemeClr val="accent1"/>
            </a:solidFill>
            <a:prstDash val="solid"/>
            <a:miter lim="800000"/>
            <a:headEnd type="none" w="sm" len="sm"/>
            <a:tailEnd type="triangle" w="med" len="med"/>
          </a:ln>
        </p:spPr>
      </p:cxnSp>
      <p:grpSp>
        <p:nvGrpSpPr>
          <p:cNvPr id="270" name="Google Shape;270;p3"/>
          <p:cNvGrpSpPr/>
          <p:nvPr/>
        </p:nvGrpSpPr>
        <p:grpSpPr>
          <a:xfrm>
            <a:off x="7226758" y="2641860"/>
            <a:ext cx="1444109" cy="1140973"/>
            <a:chOff x="4532367" y="3365871"/>
            <a:chExt cx="1140714" cy="929920"/>
          </a:xfrm>
        </p:grpSpPr>
        <p:sp>
          <p:nvSpPr>
            <p:cNvPr id="271" name="Google Shape;271;p3"/>
            <p:cNvSpPr txBox="1"/>
            <p:nvPr/>
          </p:nvSpPr>
          <p:spPr>
            <a:xfrm>
              <a:off x="4532367" y="3990221"/>
              <a:ext cx="1140714" cy="30557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142875" marR="0" lvl="0" indent="-142875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262626"/>
                </a:buClr>
                <a:buSzPts val="1600"/>
                <a:buFont typeface="Noto Sans Symbols"/>
                <a:buNone/>
              </a:pPr>
              <a:r>
                <a:rPr lang="ko-KR" sz="1600" b="1" i="0" u="none" strike="noStrike" cap="none">
                  <a:solidFill>
                    <a:srgbClr val="262626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정보관리 DB</a:t>
              </a:r>
              <a:endParaRPr sz="1600" b="1" i="0" u="none" strike="noStrike" cap="none">
                <a:solidFill>
                  <a:srgbClr val="262626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</p:txBody>
        </p:sp>
        <p:pic>
          <p:nvPicPr>
            <p:cNvPr id="272" name="Google Shape;272;p3" descr="데이터 베이스 "/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4797923" y="3365871"/>
              <a:ext cx="609600" cy="609600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4"/>
          <p:cNvSpPr/>
          <p:nvPr/>
        </p:nvSpPr>
        <p:spPr>
          <a:xfrm>
            <a:off x="210680" y="1352155"/>
            <a:ext cx="1964359" cy="481948"/>
          </a:xfrm>
          <a:custGeom>
            <a:avLst/>
            <a:gdLst/>
            <a:ahLst/>
            <a:cxnLst/>
            <a:rect l="l" t="t" r="r" b="b"/>
            <a:pathLst>
              <a:path w="1911418" h="481948" extrusionOk="0">
                <a:moveTo>
                  <a:pt x="0" y="0"/>
                </a:moveTo>
                <a:lnTo>
                  <a:pt x="1607337" y="6470"/>
                </a:lnTo>
                <a:lnTo>
                  <a:pt x="1911418" y="481948"/>
                </a:lnTo>
                <a:lnTo>
                  <a:pt x="0" y="481948"/>
                </a:lnTo>
                <a:lnTo>
                  <a:pt x="0" y="0"/>
                </a:lnTo>
                <a:close/>
              </a:path>
            </a:pathLst>
          </a:custGeom>
          <a:solidFill>
            <a:srgbClr val="3D96C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278" name="Google Shape;278;p4"/>
          <p:cNvSpPr txBox="1"/>
          <p:nvPr/>
        </p:nvSpPr>
        <p:spPr>
          <a:xfrm>
            <a:off x="273304" y="1371482"/>
            <a:ext cx="1799400" cy="295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Malgun Gothic"/>
              <a:buNone/>
            </a:pPr>
            <a:r>
              <a:rPr lang="ko-KR" sz="1200" b="1" i="0" u="none" strike="noStrike" cap="none">
                <a:solidFill>
                  <a:srgbClr val="FFFFFF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시나리오 A안 vs B안</a:t>
            </a:r>
            <a:endParaRPr sz="1400" b="0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sym typeface="Arial"/>
            </a:endParaRPr>
          </a:p>
        </p:txBody>
      </p:sp>
      <p:sp>
        <p:nvSpPr>
          <p:cNvPr id="279" name="Google Shape;279;p4"/>
          <p:cNvSpPr/>
          <p:nvPr/>
        </p:nvSpPr>
        <p:spPr>
          <a:xfrm>
            <a:off x="210680" y="1672475"/>
            <a:ext cx="9507786" cy="4817225"/>
          </a:xfrm>
          <a:prstGeom prst="rect">
            <a:avLst/>
          </a:prstGeom>
          <a:solidFill>
            <a:srgbClr val="EBF0F9"/>
          </a:solidFill>
          <a:ln>
            <a:noFill/>
          </a:ln>
          <a:effectLst>
            <a:outerShdw blurRad="50800" dist="38100" dir="2700000" algn="tl" rotWithShape="0">
              <a:srgbClr val="000000">
                <a:alpha val="40000"/>
              </a:srgbClr>
            </a:outerShdw>
          </a:effectLst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sp>
        <p:nvSpPr>
          <p:cNvPr id="280" name="Google Shape;280;p4"/>
          <p:cNvSpPr/>
          <p:nvPr/>
        </p:nvSpPr>
        <p:spPr>
          <a:xfrm>
            <a:off x="0" y="542002"/>
            <a:ext cx="9906000" cy="728733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281" name="Google Shape;281;p4"/>
          <p:cNvSpPr txBox="1"/>
          <p:nvPr/>
        </p:nvSpPr>
        <p:spPr>
          <a:xfrm>
            <a:off x="375588" y="946596"/>
            <a:ext cx="8376139" cy="29320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 fontScale="92500"/>
          </a:bodyPr>
          <a:lstStyle/>
          <a:p>
            <a:pPr marL="82064" marR="0" lvl="0" indent="-82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ct val="100000"/>
              <a:buFont typeface="Arial"/>
              <a:buNone/>
            </a:pPr>
            <a:r>
              <a:rPr lang="ko-KR" sz="1100" b="1" i="0" u="none" strike="noStrike" cap="none">
                <a:solidFill>
                  <a:srgbClr val="262626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- </a:t>
            </a:r>
            <a:r>
              <a:rPr lang="ko-KR" sz="1100" b="1" i="0" u="none" strike="noStrike" cap="none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rPr>
              <a:t>A안은 기술 검증 중심의 모듈형 자동화로 단계별 성능 확보에 강점이 있으며, </a:t>
            </a:r>
            <a:r>
              <a:rPr lang="ko-KR" sz="1200" b="1" i="0" u="none" strike="noStrike" cap="none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rPr>
              <a:t>B안은 사용자 중심의 통합형 자동화로 전체 효율성과 확장성에서 우수함</a:t>
            </a:r>
            <a:endParaRPr sz="1100" b="1" i="0" u="none" strike="noStrike" cap="none">
              <a:solidFill>
                <a:schemeClr val="dk1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Calibri"/>
              <a:sym typeface="Calibri"/>
            </a:endParaRPr>
          </a:p>
          <a:p>
            <a:pPr marL="82064" marR="0" lvl="0" indent="-8206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ct val="100000"/>
              <a:buFont typeface="Calibri"/>
              <a:buNone/>
            </a:pPr>
            <a:endParaRPr sz="1100" b="1" i="0" u="none" strike="noStrike" cap="none">
              <a:solidFill>
                <a:srgbClr val="262626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cxnSp>
        <p:nvCxnSpPr>
          <p:cNvPr id="282" name="Google Shape;282;p4"/>
          <p:cNvCxnSpPr/>
          <p:nvPr/>
        </p:nvCxnSpPr>
        <p:spPr>
          <a:xfrm>
            <a:off x="0" y="542002"/>
            <a:ext cx="9906000" cy="0"/>
          </a:xfrm>
          <a:prstGeom prst="straightConnector1">
            <a:avLst/>
          </a:prstGeom>
          <a:noFill/>
          <a:ln w="25400" cap="flat" cmpd="sng">
            <a:solidFill>
              <a:srgbClr val="8DA9DB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283" name="Google Shape;283;p4"/>
          <p:cNvSpPr/>
          <p:nvPr/>
        </p:nvSpPr>
        <p:spPr>
          <a:xfrm>
            <a:off x="7773361" y="67378"/>
            <a:ext cx="2156604" cy="405510"/>
          </a:xfrm>
          <a:custGeom>
            <a:avLst/>
            <a:gdLst/>
            <a:ahLst/>
            <a:cxnLst/>
            <a:rect l="l" t="t" r="r" b="b"/>
            <a:pathLst>
              <a:path w="2156604" h="405510" extrusionOk="0">
                <a:moveTo>
                  <a:pt x="241539" y="8626"/>
                </a:moveTo>
                <a:lnTo>
                  <a:pt x="2156604" y="0"/>
                </a:lnTo>
                <a:lnTo>
                  <a:pt x="2156604" y="405510"/>
                </a:lnTo>
                <a:lnTo>
                  <a:pt x="0" y="405510"/>
                </a:lnTo>
                <a:lnTo>
                  <a:pt x="241539" y="8626"/>
                </a:lnTo>
                <a:close/>
              </a:path>
            </a:pathLst>
          </a:custGeom>
          <a:solidFill>
            <a:srgbClr val="20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284" name="Google Shape;284;p4"/>
          <p:cNvSpPr txBox="1"/>
          <p:nvPr/>
        </p:nvSpPr>
        <p:spPr>
          <a:xfrm>
            <a:off x="7773361" y="99709"/>
            <a:ext cx="2096524" cy="5539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ko-KR" sz="1600" b="1" i="0" u="none" strike="noStrike" cap="none">
                <a:solidFill>
                  <a:srgbClr val="FFFFFF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C. TO-BE Map</a:t>
            </a:r>
            <a:endParaRPr>
              <a:latin typeface="경기천년제목 Light" panose="02020403020101020101" pitchFamily="18" charset="-127"/>
              <a:ea typeface="경기천년제목 Light" panose="02020403020101020101" pitchFamily="18" charset="-127"/>
            </a:endParaRPr>
          </a:p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sym typeface="Arial"/>
            </a:endParaRPr>
          </a:p>
        </p:txBody>
      </p:sp>
      <p:sp>
        <p:nvSpPr>
          <p:cNvPr id="285" name="Google Shape;285;p4"/>
          <p:cNvSpPr txBox="1"/>
          <p:nvPr/>
        </p:nvSpPr>
        <p:spPr>
          <a:xfrm>
            <a:off x="260410" y="99710"/>
            <a:ext cx="4037277" cy="3969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800"/>
              <a:buFont typeface="Malgun Gothic"/>
              <a:buNone/>
            </a:pPr>
            <a:r>
              <a:rPr lang="ko-KR" sz="1800" b="0" i="0" u="none" strike="noStrike" cap="none">
                <a:solidFill>
                  <a:srgbClr val="1F3864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자동화 시나리오 설계</a:t>
            </a:r>
            <a:endParaRPr sz="1800" b="0" i="0" u="none" strike="noStrike" cap="none">
              <a:solidFill>
                <a:srgbClr val="262626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286" name="Google Shape;286;p4"/>
          <p:cNvSpPr/>
          <p:nvPr/>
        </p:nvSpPr>
        <p:spPr>
          <a:xfrm>
            <a:off x="200025" y="153593"/>
            <a:ext cx="60385" cy="284671"/>
          </a:xfrm>
          <a:prstGeom prst="rect">
            <a:avLst/>
          </a:prstGeom>
          <a:solidFill>
            <a:srgbClr val="1F3864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FFFFFF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287" name="Google Shape;287;p4"/>
          <p:cNvSpPr txBox="1"/>
          <p:nvPr/>
        </p:nvSpPr>
        <p:spPr>
          <a:xfrm>
            <a:off x="338987" y="645742"/>
            <a:ext cx="4188069" cy="335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3864"/>
              </a:buClr>
              <a:buSzPts val="1400"/>
              <a:buFont typeface="Noto Sans Symbols"/>
              <a:buNone/>
            </a:pPr>
            <a:r>
              <a:rPr lang="ko-KR" sz="1400" b="1" i="0" u="none" strike="noStrike" cap="none">
                <a:solidFill>
                  <a:srgbClr val="1F3864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자동화 시나리오 비교</a:t>
            </a:r>
            <a:endParaRPr sz="1400" b="0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grpSp>
        <p:nvGrpSpPr>
          <p:cNvPr id="288" name="Google Shape;288;p4"/>
          <p:cNvGrpSpPr/>
          <p:nvPr/>
        </p:nvGrpSpPr>
        <p:grpSpPr>
          <a:xfrm>
            <a:off x="200025" y="717415"/>
            <a:ext cx="175563" cy="170983"/>
            <a:chOff x="4188618" y="3162300"/>
            <a:chExt cx="547687" cy="533400"/>
          </a:xfrm>
        </p:grpSpPr>
        <p:sp>
          <p:nvSpPr>
            <p:cNvPr id="289" name="Google Shape;289;p4"/>
            <p:cNvSpPr/>
            <p:nvPr/>
          </p:nvSpPr>
          <p:spPr>
            <a:xfrm>
              <a:off x="44172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119063" y="0"/>
                  </a:move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close/>
                </a:path>
              </a:pathLst>
            </a:custGeom>
            <a:solidFill>
              <a:srgbClr val="2F549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</p:txBody>
        </p:sp>
        <p:sp>
          <p:nvSpPr>
            <p:cNvPr id="290" name="Google Shape;290;p4"/>
            <p:cNvSpPr/>
            <p:nvPr/>
          </p:nvSpPr>
          <p:spPr>
            <a:xfrm>
              <a:off x="4188618" y="3162300"/>
              <a:ext cx="319087" cy="533400"/>
            </a:xfrm>
            <a:custGeom>
              <a:avLst/>
              <a:gdLst/>
              <a:ahLst/>
              <a:cxnLst/>
              <a:rect l="l" t="t" r="r" b="b"/>
              <a:pathLst>
                <a:path w="319087" h="533400" extrusionOk="0">
                  <a:moveTo>
                    <a:pt x="0" y="533400"/>
                  </a:moveTo>
                  <a:lnTo>
                    <a:pt x="119063" y="533400"/>
                  </a:lnTo>
                  <a:lnTo>
                    <a:pt x="319088" y="266700"/>
                  </a:lnTo>
                  <a:lnTo>
                    <a:pt x="119063" y="0"/>
                  </a:lnTo>
                  <a:lnTo>
                    <a:pt x="0" y="0"/>
                  </a:lnTo>
                  <a:lnTo>
                    <a:pt x="200025" y="266700"/>
                  </a:lnTo>
                  <a:lnTo>
                    <a:pt x="0" y="533400"/>
                  </a:lnTo>
                  <a:close/>
                </a:path>
              </a:pathLst>
            </a:custGeom>
            <a:solidFill>
              <a:srgbClr val="1F386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endParaRPr>
            </a:p>
          </p:txBody>
        </p:sp>
      </p:grpSp>
      <p:sp>
        <p:nvSpPr>
          <p:cNvPr id="291" name="Google Shape;291;p4"/>
          <p:cNvSpPr txBox="1">
            <a:spLocks noGrp="1"/>
          </p:cNvSpPr>
          <p:nvPr>
            <p:ph type="sldNum" idx="12"/>
          </p:nvPr>
        </p:nvSpPr>
        <p:spPr>
          <a:xfrm>
            <a:off x="3838575" y="6558190"/>
            <a:ext cx="222885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Malgun Gothic"/>
              <a:buNone/>
            </a:pPr>
            <a:fld id="{00000000-1234-1234-1234-123412341234}" type="slidenum">
              <a:rPr lang="en-US" altLang="ko-KR" sz="1200" b="0" i="0" u="none" strike="noStrike" cap="none">
                <a:solidFill>
                  <a:srgbClr val="000000"/>
                </a:solidFill>
                <a:latin typeface="Malgun Gothic"/>
                <a:ea typeface="Malgun Gothic"/>
                <a:cs typeface="Malgun Gothic"/>
                <a:sym typeface="Malgun Gothic"/>
              </a:rPr>
              <a:t>3</a:t>
            </a:fld>
            <a:endParaRPr sz="1200" b="0" i="0" u="none" strike="noStrike" cap="none">
              <a:solidFill>
                <a:srgbClr val="000000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  <p:grpSp>
        <p:nvGrpSpPr>
          <p:cNvPr id="292" name="Google Shape;292;p4"/>
          <p:cNvGrpSpPr/>
          <p:nvPr/>
        </p:nvGrpSpPr>
        <p:grpSpPr>
          <a:xfrm>
            <a:off x="6270638" y="1916832"/>
            <a:ext cx="3293997" cy="4393488"/>
            <a:chOff x="5023012" y="1899764"/>
            <a:chExt cx="4541623" cy="4393488"/>
          </a:xfrm>
        </p:grpSpPr>
        <p:sp>
          <p:nvSpPr>
            <p:cNvPr id="293" name="Google Shape;293;p4"/>
            <p:cNvSpPr/>
            <p:nvPr/>
          </p:nvSpPr>
          <p:spPr>
            <a:xfrm>
              <a:off x="5023012" y="2021496"/>
              <a:ext cx="4541623" cy="4271756"/>
            </a:xfrm>
            <a:prstGeom prst="roundRect">
              <a:avLst>
                <a:gd name="adj" fmla="val 381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endParaRPr>
            </a:p>
          </p:txBody>
        </p:sp>
        <p:sp>
          <p:nvSpPr>
            <p:cNvPr id="294" name="Google Shape;294;p4"/>
            <p:cNvSpPr/>
            <p:nvPr/>
          </p:nvSpPr>
          <p:spPr>
            <a:xfrm>
              <a:off x="5023012" y="1899764"/>
              <a:ext cx="4541581" cy="305097"/>
            </a:xfrm>
            <a:prstGeom prst="round2SameRect">
              <a:avLst>
                <a:gd name="adj1" fmla="val 36511"/>
                <a:gd name="adj2" fmla="val 0"/>
              </a:avLst>
            </a:prstGeom>
            <a:solidFill>
              <a:srgbClr val="1F386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r>
                <a:rPr lang="ko-KR" sz="1200" b="1" i="0" u="none" strike="noStrike" cap="none">
                  <a:solidFill>
                    <a:srgbClr val="FFFFFF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기대효과</a:t>
              </a:r>
              <a:endParaRPr sz="1400" b="0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sym typeface="Arial"/>
              </a:endParaRPr>
            </a:p>
          </p:txBody>
        </p:sp>
      </p:grpSp>
      <p:grpSp>
        <p:nvGrpSpPr>
          <p:cNvPr id="295" name="Google Shape;295;p4"/>
          <p:cNvGrpSpPr/>
          <p:nvPr/>
        </p:nvGrpSpPr>
        <p:grpSpPr>
          <a:xfrm>
            <a:off x="330538" y="1916832"/>
            <a:ext cx="5797147" cy="4416234"/>
            <a:chOff x="330537" y="1899764"/>
            <a:chExt cx="4541623" cy="4416234"/>
          </a:xfrm>
        </p:grpSpPr>
        <p:sp>
          <p:nvSpPr>
            <p:cNvPr id="296" name="Google Shape;296;p4"/>
            <p:cNvSpPr/>
            <p:nvPr/>
          </p:nvSpPr>
          <p:spPr>
            <a:xfrm>
              <a:off x="330537" y="2021496"/>
              <a:ext cx="4541623" cy="4294502"/>
            </a:xfrm>
            <a:prstGeom prst="roundRect">
              <a:avLst>
                <a:gd name="adj" fmla="val 3810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lt1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FFFFFF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endParaRPr>
            </a:p>
          </p:txBody>
        </p:sp>
        <p:sp>
          <p:nvSpPr>
            <p:cNvPr id="297" name="Google Shape;297;p4"/>
            <p:cNvSpPr/>
            <p:nvPr/>
          </p:nvSpPr>
          <p:spPr>
            <a:xfrm>
              <a:off x="330537" y="1899764"/>
              <a:ext cx="4541581" cy="305097"/>
            </a:xfrm>
            <a:prstGeom prst="round2SameRect">
              <a:avLst>
                <a:gd name="adj1" fmla="val 36511"/>
                <a:gd name="adj2" fmla="val 0"/>
              </a:avLst>
            </a:prstGeom>
            <a:solidFill>
              <a:srgbClr val="1F3864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1200"/>
                <a:buFont typeface="Malgun Gothic"/>
                <a:buNone/>
              </a:pPr>
              <a:r>
                <a:rPr lang="ko-KR" sz="1200" b="1" i="0" u="none" strike="noStrike" cap="none">
                  <a:solidFill>
                    <a:srgbClr val="FFFFFF"/>
                  </a:solidFill>
                  <a:latin typeface="경기천년제목 Light" panose="02020403020101020101" pitchFamily="18" charset="-127"/>
                  <a:ea typeface="경기천년제목 Light" panose="02020403020101020101" pitchFamily="18" charset="-127"/>
                  <a:cs typeface="Malgun Gothic"/>
                  <a:sym typeface="Malgun Gothic"/>
                </a:rPr>
                <a:t>A안과 B안 비교</a:t>
              </a:r>
              <a:endParaRPr sz="1400" b="0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sym typeface="Arial"/>
              </a:endParaRPr>
            </a:p>
          </p:txBody>
        </p:sp>
      </p:grpSp>
      <p:graphicFrame>
        <p:nvGraphicFramePr>
          <p:cNvPr id="298" name="Google Shape;298;p4"/>
          <p:cNvGraphicFramePr/>
          <p:nvPr>
            <p:extLst>
              <p:ext uri="{D42A27DB-BD31-4B8C-83A1-F6EECF244321}">
                <p14:modId xmlns:p14="http://schemas.microsoft.com/office/powerpoint/2010/main" val="2800278413"/>
              </p:ext>
            </p:extLst>
          </p:nvPr>
        </p:nvGraphicFramePr>
        <p:xfrm>
          <a:off x="461267" y="2431823"/>
          <a:ext cx="5520825" cy="3672275"/>
        </p:xfrm>
        <a:graphic>
          <a:graphicData uri="http://schemas.openxmlformats.org/drawingml/2006/table">
            <a:tbl>
              <a:tblPr>
                <a:noFill/>
                <a:tableStyleId>{70AB74BC-CAE1-4D97-954F-0F3F117DC253}</a:tableStyleId>
              </a:tblPr>
              <a:tblGrid>
                <a:gridCol w="1310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7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32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0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solidFill>
                            <a:schemeClr val="lt1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구분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b="1" u="none" strike="noStrike" cap="none">
                          <a:solidFill>
                            <a:schemeClr val="lt1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A안. 모듈형 자동화 프로그램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386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lt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b="1" u="none" strike="noStrike" cap="none">
                          <a:solidFill>
                            <a:schemeClr val="lt1"/>
                          </a:solidFill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B안. 통합 자동화 프로그램</a:t>
                      </a:r>
                      <a:endParaRPr sz="1000" u="none" strike="noStrike" cap="none">
                        <a:solidFill>
                          <a:schemeClr val="lt1"/>
                        </a:solidFill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0386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b="1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구성 개요</a:t>
                      </a:r>
                      <a:endParaRPr sz="10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텍스트 인식(OCR)·분류·검증·관리 프로그램을 </a:t>
                      </a:r>
                      <a:r>
                        <a:rPr lang="ko-KR" sz="1000" b="1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각각 독립 모듈</a:t>
                      </a: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로 구축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OCR, 분류, 검증, 시각화를 </a:t>
                      </a:r>
                      <a:r>
                        <a:rPr lang="ko-KR" sz="1000" b="1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하나의 통합 플랫폼</a:t>
                      </a: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으로 구현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6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b="1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구축 방식</a:t>
                      </a:r>
                      <a:endParaRPr sz="10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기능별 </a:t>
                      </a:r>
                      <a:r>
                        <a:rPr lang="ko-KR" sz="1000" u="none" strike="noStrike" cap="none" dirty="0" err="1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Python</a:t>
                      </a:r>
                      <a:r>
                        <a:rPr lang="ko-KR" sz="1000" u="none" strike="noStrike" cap="none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 모듈 또는 </a:t>
                      </a:r>
                      <a:r>
                        <a:rPr lang="ko-KR" sz="1000" u="none" strike="noStrike" cap="none" dirty="0" err="1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Streamlit</a:t>
                      </a:r>
                      <a:r>
                        <a:rPr lang="ko-KR" sz="1000" u="none" strike="noStrike" cap="none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 앱을 나누어 개발</a:t>
                      </a:r>
                      <a:endParaRPr sz="1400" u="none" strike="noStrike" cap="none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All-in-one Streamlit App 또는 웹 대시보드 형태로 통합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b="1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개발 난이도</a:t>
                      </a:r>
                      <a:endParaRPr sz="10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낮음 (기능별 테스트 용이, 단계적 구축 가능)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높음 (전체 워크플로우 설계 및 통합 로직 필요)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b="1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유지보수성</a:t>
                      </a:r>
                      <a:endParaRPr sz="10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높음 (모듈별 수정/확장 용이)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낮음 (전체 프로그램 수정 시 영향 범위 큼)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b="1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사용자 편의성</a:t>
                      </a:r>
                      <a:endParaRPr sz="10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낮음 (여러 프로그램을 번갈아 실행해야 함)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높음 (한 화면에서 전 과정 실행 가능)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1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b="1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테스트 및 PoC 적합도</a:t>
                      </a:r>
                      <a:endParaRPr sz="10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PoC 초기에 적합 — 기술 검증 단계에서 각 기능을 독립 검증 가능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MVP 단계에 적합 — 사용자 경험 중심의 데모 및 시각화 용이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892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b="1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확장성</a:t>
                      </a:r>
                      <a:endParaRPr sz="10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중간 (모듈 간 연동 필요)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높음 (통합 대시보드에서 기능 확장 가능)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6145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b="1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데이터 흐름 관리</a:t>
                      </a:r>
                      <a:endParaRPr sz="10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파일 단위 입출력 중심 (ex. OCR 결과 JSON 저장 후 검증 모듈에서 재사용)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파이프라인 기반 자동 데이터 전달 (메모리 내 처리)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50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b="1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보안 및 오류 제어</a:t>
                      </a:r>
                      <a:endParaRPr sz="10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개별 로그 관리 용이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중앙 로그 관리 및 오류 추적 필요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50675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b="1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개발 기간</a:t>
                      </a:r>
                      <a:endParaRPr sz="10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짧음 (기능 단위 배포 가능)</a:t>
                      </a:r>
                      <a:endParaRPr sz="1400" u="none" strike="noStrike" cap="none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00"/>
                        <a:buFont typeface="Calibri"/>
                        <a:buNone/>
                      </a:pPr>
                      <a:r>
                        <a:rPr lang="ko-KR" sz="1000" u="none" strike="noStrike" cap="none" dirty="0">
                          <a:latin typeface="경기천년제목 Light" panose="02020403020101020101" pitchFamily="18" charset="-127"/>
                          <a:ea typeface="경기천년제목 Light" panose="02020403020101020101" pitchFamily="18" charset="-127"/>
                        </a:rPr>
                        <a:t>길음 (통합 설계 및 디버깅 필요)</a:t>
                      </a:r>
                      <a:endParaRPr sz="1400" u="none" strike="noStrike" cap="none" dirty="0">
                        <a:latin typeface="경기천년제목 Light" panose="02020403020101020101" pitchFamily="18" charset="-127"/>
                        <a:ea typeface="경기천년제목 Light" panose="02020403020101020101" pitchFamily="18" charset="-127"/>
                      </a:endParaRPr>
                    </a:p>
                  </a:txBody>
                  <a:tcPr marL="48900" marR="48900" marT="24450" marB="24450" anchor="ctr">
                    <a:lnL w="38100" cap="flat" cmpd="sng">
                      <a:solidFill>
                        <a:srgbClr val="FF3D2E"/>
                      </a:solidFill>
                      <a:prstDash val="dash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299" name="Google Shape;299;p4"/>
          <p:cNvSpPr/>
          <p:nvPr/>
        </p:nvSpPr>
        <p:spPr>
          <a:xfrm>
            <a:off x="6433113" y="2635463"/>
            <a:ext cx="2984383" cy="1513839"/>
          </a:xfrm>
          <a:prstGeom prst="rect">
            <a:avLst/>
          </a:prstGeom>
          <a:solidFill>
            <a:srgbClr val="CCF0E4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endParaRPr sz="900" b="0" i="0" u="none" strike="noStrike" cap="none">
              <a:solidFill>
                <a:schemeClr val="dk1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ko-KR" sz="1050" b="0" i="0" u="none" strike="noStrike" cap="none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rPr>
              <a:t>기술 중심의 </a:t>
            </a:r>
            <a:r>
              <a:rPr lang="ko-KR" sz="1050" b="1" i="0" u="none" strike="noStrike" cap="none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rPr>
              <a:t>정확도·유연성 확보형</a:t>
            </a:r>
            <a:r>
              <a:rPr lang="ko-KR" sz="1050" b="0" i="0" u="none" strike="noStrike" cap="none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rPr>
              <a:t> PoC 구조</a:t>
            </a: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Calibri"/>
              <a:sym typeface="Calibri"/>
            </a:endParaRPr>
          </a:p>
        </p:txBody>
      </p:sp>
      <p:sp>
        <p:nvSpPr>
          <p:cNvPr id="300" name="Google Shape;300;p4"/>
          <p:cNvSpPr txBox="1"/>
          <p:nvPr/>
        </p:nvSpPr>
        <p:spPr>
          <a:xfrm>
            <a:off x="6618580" y="2679775"/>
            <a:ext cx="1790804" cy="26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lang="ko-KR" sz="1050" b="1" i="0" u="none" strike="noStrike" cap="none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모듈형의 기대효과</a:t>
            </a:r>
            <a:endParaRPr sz="1050" b="1" i="0" u="none" strike="noStrike" cap="none">
              <a:solidFill>
                <a:schemeClr val="dk1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pic>
        <p:nvPicPr>
          <p:cNvPr id="301" name="Google Shape;301;p4" descr="배지 체크 표시1 단색으로 채워진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6500063" y="2715012"/>
            <a:ext cx="171759" cy="171759"/>
          </a:xfrm>
          <a:prstGeom prst="rect">
            <a:avLst/>
          </a:prstGeom>
          <a:noFill/>
          <a:ln>
            <a:noFill/>
          </a:ln>
        </p:spPr>
      </p:pic>
      <p:sp>
        <p:nvSpPr>
          <p:cNvPr id="302" name="Google Shape;302;p4"/>
          <p:cNvSpPr/>
          <p:nvPr/>
        </p:nvSpPr>
        <p:spPr>
          <a:xfrm>
            <a:off x="6450852" y="4674877"/>
            <a:ext cx="2984383" cy="1479321"/>
          </a:xfrm>
          <a:prstGeom prst="rect">
            <a:avLst/>
          </a:prstGeom>
          <a:solidFill>
            <a:srgbClr val="DBEEBD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</a:pPr>
            <a:endParaRPr sz="90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50"/>
              <a:buFont typeface="Arial"/>
              <a:buNone/>
            </a:pPr>
            <a:r>
              <a:rPr lang="ko-KR" sz="1050" b="0" i="0" u="none" strike="noStrike" cap="none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rPr>
              <a:t>사용자 중심의 </a:t>
            </a:r>
            <a:r>
              <a:rPr lang="ko-KR" sz="1050" b="1" i="0" u="none" strike="noStrike" cap="none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rPr>
              <a:t>효율성·확장성 강화형</a:t>
            </a:r>
            <a:r>
              <a:rPr lang="ko-KR" sz="1050" b="0" i="0" u="none" strike="noStrike" cap="none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Calibri"/>
                <a:sym typeface="Calibri"/>
              </a:rPr>
              <a:t> 통합 구조</a:t>
            </a:r>
            <a:endParaRPr sz="90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Calibri"/>
              <a:sym typeface="Calibri"/>
            </a:endParaRPr>
          </a:p>
        </p:txBody>
      </p:sp>
      <p:pic>
        <p:nvPicPr>
          <p:cNvPr id="303" name="Google Shape;303;p4" descr="배지 체크 표시1 단색으로 채워진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517802" y="4754425"/>
            <a:ext cx="171759" cy="171759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4"/>
          <p:cNvSpPr txBox="1"/>
          <p:nvPr/>
        </p:nvSpPr>
        <p:spPr>
          <a:xfrm>
            <a:off x="6638923" y="4719188"/>
            <a:ext cx="1460772" cy="2607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50"/>
              <a:buFont typeface="Noto Sans Symbols"/>
              <a:buNone/>
            </a:pPr>
            <a:r>
              <a:rPr lang="ko-KR" sz="1050" b="1" i="0" u="none" strike="noStrike" cap="none">
                <a:solidFill>
                  <a:schemeClr val="dk1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통합형의 기대효과</a:t>
            </a:r>
            <a:endParaRPr sz="1050" b="1" i="0" u="none" strike="noStrike" cap="none">
              <a:solidFill>
                <a:schemeClr val="dk1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305" name="Google Shape;305;p4"/>
          <p:cNvSpPr/>
          <p:nvPr/>
        </p:nvSpPr>
        <p:spPr>
          <a:xfrm>
            <a:off x="6450852" y="4365104"/>
            <a:ext cx="2984400" cy="309000"/>
          </a:xfrm>
          <a:prstGeom prst="roundRect">
            <a:avLst>
              <a:gd name="adj" fmla="val 16667"/>
            </a:avLst>
          </a:prstGeom>
          <a:solidFill>
            <a:srgbClr val="99CD4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rPr lang="ko-KR" sz="1500" b="1" i="0" u="none" strike="noStrike" cap="none">
                <a:solidFill>
                  <a:srgbClr val="FFFFFF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B. 통합형</a:t>
            </a:r>
            <a:r>
              <a:rPr lang="ko-KR" sz="1500" b="0" i="0" u="none" strike="noStrike" cap="none">
                <a:solidFill>
                  <a:srgbClr val="FFFFFF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 </a:t>
            </a:r>
            <a:endParaRPr sz="1500" b="0" i="0" u="none" strike="noStrike" cap="none">
              <a:solidFill>
                <a:srgbClr val="FFFFFF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306" name="Google Shape;306;p4"/>
          <p:cNvSpPr/>
          <p:nvPr/>
        </p:nvSpPr>
        <p:spPr>
          <a:xfrm>
            <a:off x="6424910" y="2348880"/>
            <a:ext cx="2992586" cy="308888"/>
          </a:xfrm>
          <a:prstGeom prst="roundRect">
            <a:avLst>
              <a:gd name="adj" fmla="val 16667"/>
            </a:avLst>
          </a:prstGeom>
          <a:solidFill>
            <a:srgbClr val="41C59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ko-KR" sz="1400" b="1" i="0" u="none" strike="noStrike" cap="none">
                <a:solidFill>
                  <a:srgbClr val="FFFFFF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A. 모듈형</a:t>
            </a:r>
            <a:endParaRPr sz="1400" b="1" i="0" u="none" strike="noStrike" cap="none">
              <a:solidFill>
                <a:srgbClr val="FFFFFF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307" name="Google Shape;307;p4"/>
          <p:cNvSpPr/>
          <p:nvPr/>
        </p:nvSpPr>
        <p:spPr>
          <a:xfrm rot="5400000" flipH="1">
            <a:off x="4252400" y="4120900"/>
            <a:ext cx="3959700" cy="263400"/>
          </a:xfrm>
          <a:prstGeom prst="triangle">
            <a:avLst>
              <a:gd name="adj" fmla="val 50000"/>
            </a:avLst>
          </a:prstGeom>
          <a:gradFill>
            <a:gsLst>
              <a:gs pos="0">
                <a:srgbClr val="7F7F7F"/>
              </a:gs>
              <a:gs pos="100000">
                <a:srgbClr val="FFFFFF">
                  <a:alpha val="0"/>
                </a:srgbClr>
              </a:gs>
            </a:gsLst>
            <a:lin ang="54000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sym typeface="Arial"/>
            </a:endParaRPr>
          </a:p>
        </p:txBody>
      </p:sp>
      <p:sp>
        <p:nvSpPr>
          <p:cNvPr id="308" name="Google Shape;308;p4"/>
          <p:cNvSpPr txBox="1"/>
          <p:nvPr/>
        </p:nvSpPr>
        <p:spPr>
          <a:xfrm flipH="1">
            <a:off x="5904446" y="3005175"/>
            <a:ext cx="229747" cy="26654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000" tIns="46800" rIns="90000" bIns="468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Noto Sans Symbols"/>
              <a:buNone/>
            </a:pPr>
            <a:endParaRPr sz="800" b="0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309" name="Google Shape;309;p4"/>
          <p:cNvSpPr/>
          <p:nvPr/>
        </p:nvSpPr>
        <p:spPr>
          <a:xfrm>
            <a:off x="6576749" y="3245662"/>
            <a:ext cx="464483" cy="815417"/>
          </a:xfrm>
          <a:prstGeom prst="roundRect">
            <a:avLst>
              <a:gd name="adj" fmla="val 10303"/>
            </a:avLst>
          </a:prstGeom>
          <a:solidFill>
            <a:schemeClr val="lt1"/>
          </a:solidFill>
          <a:ln w="12700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정확도</a:t>
            </a:r>
            <a:endParaRPr sz="100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310" name="Google Shape;310;p4"/>
          <p:cNvSpPr/>
          <p:nvPr/>
        </p:nvSpPr>
        <p:spPr>
          <a:xfrm>
            <a:off x="7134811" y="3245662"/>
            <a:ext cx="464483" cy="815417"/>
          </a:xfrm>
          <a:prstGeom prst="roundRect">
            <a:avLst>
              <a:gd name="adj" fmla="val 10303"/>
            </a:avLst>
          </a:prstGeom>
          <a:solidFill>
            <a:schemeClr val="lt1"/>
          </a:solidFill>
          <a:ln w="12700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기술</a:t>
            </a:r>
            <a:endParaRPr sz="100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검증</a:t>
            </a:r>
            <a:endParaRPr sz="1400" b="0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sym typeface="Arial"/>
            </a:endParaRPr>
          </a:p>
        </p:txBody>
      </p:sp>
      <p:sp>
        <p:nvSpPr>
          <p:cNvPr id="311" name="Google Shape;311;p4"/>
          <p:cNvSpPr/>
          <p:nvPr/>
        </p:nvSpPr>
        <p:spPr>
          <a:xfrm>
            <a:off x="7692873" y="3245662"/>
            <a:ext cx="464483" cy="815417"/>
          </a:xfrm>
          <a:prstGeom prst="roundRect">
            <a:avLst>
              <a:gd name="adj" fmla="val 10303"/>
            </a:avLst>
          </a:prstGeom>
          <a:solidFill>
            <a:schemeClr val="lt1"/>
          </a:solidFill>
          <a:ln w="12700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단계별</a:t>
            </a:r>
            <a:endParaRPr sz="100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자동화</a:t>
            </a:r>
            <a:endParaRPr sz="100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312" name="Google Shape;312;p4"/>
          <p:cNvSpPr/>
          <p:nvPr/>
        </p:nvSpPr>
        <p:spPr>
          <a:xfrm>
            <a:off x="8250935" y="3245662"/>
            <a:ext cx="464483" cy="815417"/>
          </a:xfrm>
          <a:prstGeom prst="roundRect">
            <a:avLst>
              <a:gd name="adj" fmla="val 10303"/>
            </a:avLst>
          </a:prstGeom>
          <a:solidFill>
            <a:schemeClr val="lt1"/>
          </a:solidFill>
          <a:ln w="12700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유연성</a:t>
            </a:r>
            <a:endParaRPr sz="100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313" name="Google Shape;313;p4"/>
          <p:cNvSpPr/>
          <p:nvPr/>
        </p:nvSpPr>
        <p:spPr>
          <a:xfrm>
            <a:off x="8808997" y="3245662"/>
            <a:ext cx="464483" cy="815417"/>
          </a:xfrm>
          <a:prstGeom prst="roundRect">
            <a:avLst>
              <a:gd name="adj" fmla="val 10303"/>
            </a:avLst>
          </a:prstGeom>
          <a:solidFill>
            <a:schemeClr val="lt1"/>
          </a:solidFill>
          <a:ln w="12700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모듈</a:t>
            </a:r>
            <a:endParaRPr sz="100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독립성</a:t>
            </a:r>
            <a:endParaRPr sz="1400" b="0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sym typeface="Arial"/>
            </a:endParaRPr>
          </a:p>
        </p:txBody>
      </p:sp>
      <p:sp>
        <p:nvSpPr>
          <p:cNvPr id="314" name="Google Shape;314;p4"/>
          <p:cNvSpPr/>
          <p:nvPr/>
        </p:nvSpPr>
        <p:spPr>
          <a:xfrm>
            <a:off x="6576749" y="5265773"/>
            <a:ext cx="464483" cy="815417"/>
          </a:xfrm>
          <a:prstGeom prst="roundRect">
            <a:avLst>
              <a:gd name="adj" fmla="val 10303"/>
            </a:avLst>
          </a:prstGeom>
          <a:solidFill>
            <a:schemeClr val="lt1"/>
          </a:solidFill>
          <a:ln w="12700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통합성</a:t>
            </a:r>
            <a:endParaRPr sz="100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315" name="Google Shape;315;p4"/>
          <p:cNvSpPr/>
          <p:nvPr/>
        </p:nvSpPr>
        <p:spPr>
          <a:xfrm>
            <a:off x="7134811" y="5265773"/>
            <a:ext cx="464483" cy="815417"/>
          </a:xfrm>
          <a:prstGeom prst="roundRect">
            <a:avLst>
              <a:gd name="adj" fmla="val 10303"/>
            </a:avLst>
          </a:prstGeom>
          <a:solidFill>
            <a:schemeClr val="lt1"/>
          </a:solidFill>
          <a:ln w="12700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사용자</a:t>
            </a:r>
            <a:endParaRPr sz="100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편의성</a:t>
            </a:r>
            <a:endParaRPr sz="1400" b="0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sym typeface="Arial"/>
            </a:endParaRPr>
          </a:p>
        </p:txBody>
      </p:sp>
      <p:sp>
        <p:nvSpPr>
          <p:cNvPr id="316" name="Google Shape;316;p4"/>
          <p:cNvSpPr/>
          <p:nvPr/>
        </p:nvSpPr>
        <p:spPr>
          <a:xfrm>
            <a:off x="7692873" y="5265773"/>
            <a:ext cx="464483" cy="815417"/>
          </a:xfrm>
          <a:prstGeom prst="roundRect">
            <a:avLst>
              <a:gd name="adj" fmla="val 10303"/>
            </a:avLst>
          </a:prstGeom>
          <a:solidFill>
            <a:schemeClr val="lt1"/>
          </a:solidFill>
          <a:ln w="12700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효율성</a:t>
            </a:r>
            <a:endParaRPr sz="100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</p:txBody>
      </p:sp>
      <p:sp>
        <p:nvSpPr>
          <p:cNvPr id="317" name="Google Shape;317;p4"/>
          <p:cNvSpPr/>
          <p:nvPr/>
        </p:nvSpPr>
        <p:spPr>
          <a:xfrm>
            <a:off x="8250935" y="5265773"/>
            <a:ext cx="464483" cy="815417"/>
          </a:xfrm>
          <a:prstGeom prst="roundRect">
            <a:avLst>
              <a:gd name="adj" fmla="val 10303"/>
            </a:avLst>
          </a:prstGeom>
          <a:solidFill>
            <a:schemeClr val="lt1"/>
          </a:solidFill>
          <a:ln w="12700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속도</a:t>
            </a:r>
            <a:endParaRPr sz="100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향상</a:t>
            </a:r>
            <a:endParaRPr sz="1400" b="0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sym typeface="Arial"/>
            </a:endParaRPr>
          </a:p>
        </p:txBody>
      </p:sp>
      <p:sp>
        <p:nvSpPr>
          <p:cNvPr id="318" name="Google Shape;318;p4"/>
          <p:cNvSpPr/>
          <p:nvPr/>
        </p:nvSpPr>
        <p:spPr>
          <a:xfrm>
            <a:off x="8808997" y="5265773"/>
            <a:ext cx="464483" cy="815417"/>
          </a:xfrm>
          <a:prstGeom prst="roundRect">
            <a:avLst>
              <a:gd name="adj" fmla="val 10303"/>
            </a:avLst>
          </a:prstGeom>
          <a:solidFill>
            <a:schemeClr val="lt1"/>
          </a:solidFill>
          <a:ln w="12700" cap="flat" cmpd="sng">
            <a:solidFill>
              <a:srgbClr val="222A35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0" tIns="45700" rIns="0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50"/>
              <a:buFont typeface="Arial"/>
              <a:buNone/>
            </a:pPr>
            <a:endParaRPr sz="1050" b="1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cs typeface="Malgun Gothic"/>
              <a:sym typeface="Malgun Gothic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1000"/>
              <a:buFont typeface="Malgun Gothic"/>
              <a:buNone/>
            </a:pPr>
            <a:r>
              <a:rPr lang="ko-KR" sz="1000" b="1" i="0" u="none" strike="noStrike" cap="none">
                <a:solidFill>
                  <a:srgbClr val="000000"/>
                </a:solidFill>
                <a:latin typeface="경기천년제목 Light" panose="02020403020101020101" pitchFamily="18" charset="-127"/>
                <a:ea typeface="경기천년제목 Light" panose="02020403020101020101" pitchFamily="18" charset="-127"/>
                <a:cs typeface="Malgun Gothic"/>
                <a:sym typeface="Malgun Gothic"/>
              </a:rPr>
              <a:t>확장성</a:t>
            </a:r>
            <a:endParaRPr sz="1400" b="0" i="0" u="none" strike="noStrike" cap="none">
              <a:solidFill>
                <a:srgbClr val="000000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sym typeface="Arial"/>
            </a:endParaRPr>
          </a:p>
        </p:txBody>
      </p:sp>
      <p:pic>
        <p:nvPicPr>
          <p:cNvPr id="319" name="Google Shape;319;p4" descr="정확성 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671822" y="3373120"/>
            <a:ext cx="271904" cy="27190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0" name="Google Shape;320;p4" descr="조사하다 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7204865" y="3376609"/>
            <a:ext cx="268415" cy="268415"/>
          </a:xfrm>
          <a:prstGeom prst="rect">
            <a:avLst/>
          </a:prstGeom>
          <a:noFill/>
          <a:ln>
            <a:noFill/>
          </a:ln>
        </p:spPr>
      </p:pic>
      <p:pic>
        <p:nvPicPr>
          <p:cNvPr id="321" name="Google Shape;321;p4" descr="차트 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805563" y="3392382"/>
            <a:ext cx="249560" cy="24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2" name="Google Shape;322;p4" descr="유연성 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371066" y="3422134"/>
            <a:ext cx="260761" cy="260761"/>
          </a:xfrm>
          <a:prstGeom prst="rect">
            <a:avLst/>
          </a:prstGeom>
          <a:noFill/>
          <a:ln>
            <a:noFill/>
          </a:ln>
        </p:spPr>
      </p:pic>
      <p:pic>
        <p:nvPicPr>
          <p:cNvPr id="323" name="Google Shape;323;p4" descr="자유 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8913440" y="3430857"/>
            <a:ext cx="252038" cy="252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324" name="Google Shape;324;p4" descr="통합 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6660298" y="5414537"/>
            <a:ext cx="294952" cy="294952"/>
          </a:xfrm>
          <a:prstGeom prst="rect">
            <a:avLst/>
          </a:prstGeom>
          <a:noFill/>
          <a:ln>
            <a:noFill/>
          </a:ln>
        </p:spPr>
      </p:pic>
      <p:pic>
        <p:nvPicPr>
          <p:cNvPr id="325" name="Google Shape;325;p4" descr="편의 "/>
          <p:cNvPicPr preferRelativeResize="0"/>
          <p:nvPr/>
        </p:nvPicPr>
        <p:blipFill rotWithShape="1">
          <a:blip r:embed="rId11">
            <a:alphaModFix/>
          </a:blip>
          <a:srcRect/>
          <a:stretch/>
        </p:blipFill>
        <p:spPr>
          <a:xfrm>
            <a:off x="7227804" y="5414537"/>
            <a:ext cx="303314" cy="303314"/>
          </a:xfrm>
          <a:prstGeom prst="rect">
            <a:avLst/>
          </a:prstGeom>
          <a:noFill/>
          <a:ln>
            <a:noFill/>
          </a:ln>
        </p:spPr>
      </p:pic>
      <p:pic>
        <p:nvPicPr>
          <p:cNvPr id="326" name="Google Shape;326;p4" descr="타격 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7800334" y="5442293"/>
            <a:ext cx="249560" cy="24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7" name="Google Shape;327;p4" descr="운영 "/>
          <p:cNvPicPr preferRelativeResize="0"/>
          <p:nvPr/>
        </p:nvPicPr>
        <p:blipFill rotWithShape="1">
          <a:blip r:embed="rId13">
            <a:alphaModFix/>
          </a:blip>
          <a:srcRect/>
          <a:stretch/>
        </p:blipFill>
        <p:spPr>
          <a:xfrm>
            <a:off x="8333911" y="5414537"/>
            <a:ext cx="297916" cy="297916"/>
          </a:xfrm>
          <a:prstGeom prst="rect">
            <a:avLst/>
          </a:prstGeom>
          <a:noFill/>
          <a:ln>
            <a:noFill/>
          </a:ln>
        </p:spPr>
      </p:pic>
      <p:pic>
        <p:nvPicPr>
          <p:cNvPr id="328" name="Google Shape;328;p4" descr="전체 화면 "/>
          <p:cNvPicPr preferRelativeResize="0"/>
          <p:nvPr/>
        </p:nvPicPr>
        <p:blipFill rotWithShape="1">
          <a:blip r:embed="rId14">
            <a:alphaModFix/>
          </a:blip>
          <a:srcRect/>
          <a:stretch/>
        </p:blipFill>
        <p:spPr>
          <a:xfrm>
            <a:off x="8930536" y="5423921"/>
            <a:ext cx="249560" cy="249560"/>
          </a:xfrm>
          <a:prstGeom prst="rect">
            <a:avLst/>
          </a:prstGeom>
          <a:noFill/>
          <a:ln>
            <a:noFill/>
          </a:ln>
        </p:spPr>
      </p:pic>
      <p:pic>
        <p:nvPicPr>
          <p:cNvPr id="329" name="Google Shape;329;p4" descr="표시 "/>
          <p:cNvPicPr preferRelativeResize="0"/>
          <p:nvPr/>
        </p:nvPicPr>
        <p:blipFill rotWithShape="1">
          <a:blip r:embed="rId15">
            <a:alphaModFix/>
          </a:blip>
          <a:srcRect/>
          <a:stretch/>
        </p:blipFill>
        <p:spPr>
          <a:xfrm>
            <a:off x="1725492" y="2011077"/>
            <a:ext cx="553556" cy="553556"/>
          </a:xfrm>
          <a:prstGeom prst="rect">
            <a:avLst/>
          </a:prstGeom>
          <a:noFill/>
          <a:ln>
            <a:noFill/>
          </a:ln>
        </p:spPr>
      </p:pic>
      <p:sp>
        <p:nvSpPr>
          <p:cNvPr id="330" name="Google Shape;330;p4"/>
          <p:cNvSpPr/>
          <p:nvPr/>
        </p:nvSpPr>
        <p:spPr>
          <a:xfrm>
            <a:off x="6433113" y="4337896"/>
            <a:ext cx="3011620" cy="1851202"/>
          </a:xfrm>
          <a:prstGeom prst="rect">
            <a:avLst/>
          </a:prstGeom>
          <a:solidFill>
            <a:srgbClr val="F2F2F2">
              <a:alpha val="51764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sym typeface="Arial"/>
            </a:endParaRPr>
          </a:p>
        </p:txBody>
      </p:sp>
      <p:sp>
        <p:nvSpPr>
          <p:cNvPr id="331" name="Google Shape;331;p4"/>
          <p:cNvSpPr/>
          <p:nvPr/>
        </p:nvSpPr>
        <p:spPr>
          <a:xfrm>
            <a:off x="6424910" y="2348880"/>
            <a:ext cx="3010325" cy="1800422"/>
          </a:xfrm>
          <a:prstGeom prst="rect">
            <a:avLst/>
          </a:prstGeom>
          <a:noFill/>
          <a:ln w="25400" cap="flat" cmpd="sng">
            <a:solidFill>
              <a:srgbClr val="38562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chemeClr val="lt1"/>
              </a:solidFill>
              <a:latin typeface="경기천년제목 Light" panose="02020403020101020101" pitchFamily="18" charset="-127"/>
              <a:ea typeface="경기천년제목 Light" panose="02020403020101020101" pitchFamily="18" charset="-127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6_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3_표지">
  <a:themeElements>
    <a:clrScheme name="elio color">
      <a:dk1>
        <a:srgbClr val="000000"/>
      </a:dk1>
      <a:lt1>
        <a:srgbClr val="FFFFFF"/>
      </a:lt1>
      <a:dk2>
        <a:srgbClr val="E0CB7C"/>
      </a:dk2>
      <a:lt2>
        <a:srgbClr val="88929B"/>
      </a:lt2>
      <a:accent1>
        <a:srgbClr val="F36622"/>
      </a:accent1>
      <a:accent2>
        <a:srgbClr val="909194"/>
      </a:accent2>
      <a:accent3>
        <a:srgbClr val="76D094"/>
      </a:accent3>
      <a:accent4>
        <a:srgbClr val="797979"/>
      </a:accent4>
      <a:accent5>
        <a:srgbClr val="24A2CA"/>
      </a:accent5>
      <a:accent6>
        <a:srgbClr val="B2D22C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2_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5.xml><?xml version="1.0" encoding="utf-8"?>
<a:theme xmlns:a="http://schemas.openxmlformats.org/drawingml/2006/main" name="3_Office 테마">
  <a:themeElements>
    <a:clrScheme name="Office 테마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4_표지">
  <a:themeElements>
    <a:clrScheme name="elio color">
      <a:dk1>
        <a:srgbClr val="000000"/>
      </a:dk1>
      <a:lt1>
        <a:srgbClr val="FFFFFF"/>
      </a:lt1>
      <a:dk2>
        <a:srgbClr val="E0CB7C"/>
      </a:dk2>
      <a:lt2>
        <a:srgbClr val="88929B"/>
      </a:lt2>
      <a:accent1>
        <a:srgbClr val="F36622"/>
      </a:accent1>
      <a:accent2>
        <a:srgbClr val="909194"/>
      </a:accent2>
      <a:accent3>
        <a:srgbClr val="76D094"/>
      </a:accent3>
      <a:accent4>
        <a:srgbClr val="797979"/>
      </a:accent4>
      <a:accent5>
        <a:srgbClr val="24A2CA"/>
      </a:accent5>
      <a:accent6>
        <a:srgbClr val="B2D22C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5_표지">
  <a:themeElements>
    <a:clrScheme name="elio color">
      <a:dk1>
        <a:srgbClr val="000000"/>
      </a:dk1>
      <a:lt1>
        <a:srgbClr val="FFFFFF"/>
      </a:lt1>
      <a:dk2>
        <a:srgbClr val="E0CB7C"/>
      </a:dk2>
      <a:lt2>
        <a:srgbClr val="88929B"/>
      </a:lt2>
      <a:accent1>
        <a:srgbClr val="F36622"/>
      </a:accent1>
      <a:accent2>
        <a:srgbClr val="909194"/>
      </a:accent2>
      <a:accent3>
        <a:srgbClr val="76D094"/>
      </a:accent3>
      <a:accent4>
        <a:srgbClr val="797979"/>
      </a:accent4>
      <a:accent5>
        <a:srgbClr val="24A2CA"/>
      </a:accent5>
      <a:accent6>
        <a:srgbClr val="B2D22C"/>
      </a:accent6>
      <a:hlink>
        <a:srgbClr val="000000"/>
      </a:hlink>
      <a:folHlink>
        <a:srgbClr val="00000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8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518</Words>
  <Application>Microsoft Office PowerPoint</Application>
  <PresentationFormat>A4 용지(210x297mm)</PresentationFormat>
  <Paragraphs>144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7</vt:i4>
      </vt:variant>
      <vt:variant>
        <vt:lpstr>슬라이드 제목</vt:lpstr>
      </vt:variant>
      <vt:variant>
        <vt:i4>4</vt:i4>
      </vt:variant>
    </vt:vector>
  </HeadingPairs>
  <TitlesOfParts>
    <vt:vector size="17" baseType="lpstr">
      <vt:lpstr>Noto Sans Symbols</vt:lpstr>
      <vt:lpstr>굴림</vt:lpstr>
      <vt:lpstr>Arial</vt:lpstr>
      <vt:lpstr>Calibri</vt:lpstr>
      <vt:lpstr>경기천년제목 Light</vt:lpstr>
      <vt:lpstr>맑은 고딕</vt:lpstr>
      <vt:lpstr>6_Office 테마</vt:lpstr>
      <vt:lpstr>3_표지</vt:lpstr>
      <vt:lpstr>1_Office 테마</vt:lpstr>
      <vt:lpstr>2_Office 테마</vt:lpstr>
      <vt:lpstr>3_Office 테마</vt:lpstr>
      <vt:lpstr>4_표지</vt:lpstr>
      <vt:lpstr>5_표지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kmac</dc:creator>
  <cp:lastModifiedBy>Admin</cp:lastModifiedBy>
  <cp:revision>2</cp:revision>
  <dcterms:created xsi:type="dcterms:W3CDTF">1999-11-26T05:46:53Z</dcterms:created>
  <dcterms:modified xsi:type="dcterms:W3CDTF">2025-11-06T03:00:35Z</dcterms:modified>
</cp:coreProperties>
</file>