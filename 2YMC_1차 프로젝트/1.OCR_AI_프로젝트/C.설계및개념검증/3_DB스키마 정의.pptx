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9m+SEOUJpo0q4+s0eAxO8e37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2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324754" y="226795"/>
            <a:ext cx="17638491" cy="9652583"/>
            <a:chOff x="0" y="-47625"/>
            <a:chExt cx="4645529" cy="2542244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45528" cy="2494619"/>
            </a:xfrm>
            <a:custGeom>
              <a:rect b="b" l="l" r="r" t="t"/>
              <a:pathLst>
                <a:path extrusionOk="0" h="2494619" w="4645528">
                  <a:moveTo>
                    <a:pt x="15362" y="0"/>
                  </a:moveTo>
                  <a:lnTo>
                    <a:pt x="4630166" y="0"/>
                  </a:lnTo>
                  <a:cubicBezTo>
                    <a:pt x="4638651" y="0"/>
                    <a:pt x="4645528" y="6878"/>
                    <a:pt x="4645528" y="15362"/>
                  </a:cubicBezTo>
                  <a:lnTo>
                    <a:pt x="4645528" y="2479257"/>
                  </a:lnTo>
                  <a:cubicBezTo>
                    <a:pt x="4645528" y="2483331"/>
                    <a:pt x="4643910" y="2487238"/>
                    <a:pt x="4641029" y="2490120"/>
                  </a:cubicBezTo>
                  <a:cubicBezTo>
                    <a:pt x="4638148" y="2493001"/>
                    <a:pt x="4634240" y="2494619"/>
                    <a:pt x="4630166" y="2494619"/>
                  </a:cubicBezTo>
                  <a:lnTo>
                    <a:pt x="15362" y="2494619"/>
                  </a:lnTo>
                  <a:cubicBezTo>
                    <a:pt x="6878" y="2494619"/>
                    <a:pt x="0" y="2487741"/>
                    <a:pt x="0" y="2479257"/>
                  </a:cubicBezTo>
                  <a:lnTo>
                    <a:pt x="0" y="15362"/>
                  </a:lnTo>
                  <a:cubicBezTo>
                    <a:pt x="0" y="11288"/>
                    <a:pt x="1619" y="7380"/>
                    <a:pt x="4500" y="4500"/>
                  </a:cubicBezTo>
                  <a:cubicBezTo>
                    <a:pt x="7380" y="1619"/>
                    <a:pt x="11288" y="0"/>
                    <a:pt x="1536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4645529" cy="2542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2048531" y="3826847"/>
            <a:ext cx="1419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"/>
          <p:cNvGrpSpPr/>
          <p:nvPr/>
        </p:nvGrpSpPr>
        <p:grpSpPr>
          <a:xfrm>
            <a:off x="2620839" y="6610699"/>
            <a:ext cx="13046323" cy="1162850"/>
            <a:chOff x="0" y="-47625"/>
            <a:chExt cx="3900107" cy="347626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900107" cy="300001"/>
            </a:xfrm>
            <a:custGeom>
              <a:rect b="b" l="l" r="r" t="t"/>
              <a:pathLst>
                <a:path extrusionOk="0" h="300001" w="3900107">
                  <a:moveTo>
                    <a:pt x="59342" y="0"/>
                  </a:moveTo>
                  <a:lnTo>
                    <a:pt x="3840766" y="0"/>
                  </a:lnTo>
                  <a:cubicBezTo>
                    <a:pt x="3856504" y="0"/>
                    <a:pt x="3871598" y="6252"/>
                    <a:pt x="3882727" y="17381"/>
                  </a:cubicBezTo>
                  <a:cubicBezTo>
                    <a:pt x="3893855" y="28510"/>
                    <a:pt x="3900107" y="43603"/>
                    <a:pt x="3900107" y="59342"/>
                  </a:cubicBezTo>
                  <a:lnTo>
                    <a:pt x="3900107" y="240659"/>
                  </a:lnTo>
                  <a:cubicBezTo>
                    <a:pt x="3900107" y="273433"/>
                    <a:pt x="3873539" y="300001"/>
                    <a:pt x="3840766" y="300001"/>
                  </a:cubicBezTo>
                  <a:lnTo>
                    <a:pt x="59342" y="300001"/>
                  </a:lnTo>
                  <a:cubicBezTo>
                    <a:pt x="26568" y="300001"/>
                    <a:pt x="0" y="273433"/>
                    <a:pt x="0" y="240659"/>
                  </a:cubicBezTo>
                  <a:lnTo>
                    <a:pt x="0" y="59342"/>
                  </a:lnTo>
                  <a:cubicBezTo>
                    <a:pt x="0" y="26568"/>
                    <a:pt x="26568" y="0"/>
                    <a:pt x="5934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900107" cy="347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2933414" y="7100313"/>
            <a:ext cx="124211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2YMC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6972142" y="833462"/>
            <a:ext cx="384404" cy="371824"/>
          </a:xfrm>
          <a:custGeom>
            <a:rect b="b" l="l" r="r" t="t"/>
            <a:pathLst>
              <a:path extrusionOk="0" h="371824" w="384404">
                <a:moveTo>
                  <a:pt x="0" y="0"/>
                </a:moveTo>
                <a:lnTo>
                  <a:pt x="384404" y="0"/>
                </a:lnTo>
                <a:lnTo>
                  <a:pt x="384404" y="371823"/>
                </a:lnTo>
                <a:lnTo>
                  <a:pt x="0" y="37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974420" y="912857"/>
            <a:ext cx="436460" cy="292428"/>
          </a:xfrm>
          <a:custGeom>
            <a:rect b="b" l="l" r="r" t="t"/>
            <a:pathLst>
              <a:path extrusionOk="0" h="292428" w="436460">
                <a:moveTo>
                  <a:pt x="0" y="0"/>
                </a:moveTo>
                <a:lnTo>
                  <a:pt x="436460" y="0"/>
                </a:lnTo>
                <a:lnTo>
                  <a:pt x="436460" y="292428"/>
                </a:lnTo>
                <a:lnTo>
                  <a:pt x="0" y="29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6125755" y="946580"/>
            <a:ext cx="6036490" cy="349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BUSINESS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2F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>
            <a:off x="324754" y="187892"/>
            <a:ext cx="17638491" cy="9652583"/>
            <a:chOff x="0" y="-47625"/>
            <a:chExt cx="4645529" cy="2542244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4645528" cy="2494619"/>
            </a:xfrm>
            <a:custGeom>
              <a:rect b="b" l="l" r="r" t="t"/>
              <a:pathLst>
                <a:path extrusionOk="0" h="2494619" w="4645528">
                  <a:moveTo>
                    <a:pt x="15362" y="0"/>
                  </a:moveTo>
                  <a:lnTo>
                    <a:pt x="4630166" y="0"/>
                  </a:lnTo>
                  <a:cubicBezTo>
                    <a:pt x="4638651" y="0"/>
                    <a:pt x="4645528" y="6878"/>
                    <a:pt x="4645528" y="15362"/>
                  </a:cubicBezTo>
                  <a:lnTo>
                    <a:pt x="4645528" y="2479257"/>
                  </a:lnTo>
                  <a:cubicBezTo>
                    <a:pt x="4645528" y="2483331"/>
                    <a:pt x="4643910" y="2487238"/>
                    <a:pt x="4641029" y="2490120"/>
                  </a:cubicBezTo>
                  <a:cubicBezTo>
                    <a:pt x="4638148" y="2493001"/>
                    <a:pt x="4634240" y="2494619"/>
                    <a:pt x="4630166" y="2494619"/>
                  </a:cubicBezTo>
                  <a:lnTo>
                    <a:pt x="15362" y="2494619"/>
                  </a:lnTo>
                  <a:cubicBezTo>
                    <a:pt x="6878" y="2494619"/>
                    <a:pt x="0" y="2487741"/>
                    <a:pt x="0" y="2479257"/>
                  </a:cubicBezTo>
                  <a:lnTo>
                    <a:pt x="0" y="15362"/>
                  </a:lnTo>
                  <a:cubicBezTo>
                    <a:pt x="0" y="11288"/>
                    <a:pt x="1619" y="7380"/>
                    <a:pt x="4500" y="4500"/>
                  </a:cubicBezTo>
                  <a:cubicBezTo>
                    <a:pt x="7380" y="1619"/>
                    <a:pt x="11288" y="0"/>
                    <a:pt x="1536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47625"/>
              <a:ext cx="4645529" cy="2542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540004" y="3251485"/>
            <a:ext cx="7489307" cy="1853112"/>
            <a:chOff x="0" y="-47625"/>
            <a:chExt cx="2238876" cy="553975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2238876" cy="506350"/>
            </a:xfrm>
            <a:custGeom>
              <a:rect b="b" l="l" r="r" t="t"/>
              <a:pathLst>
                <a:path extrusionOk="0" h="506350" w="2238876">
                  <a:moveTo>
                    <a:pt x="103373" y="0"/>
                  </a:moveTo>
                  <a:lnTo>
                    <a:pt x="2135503" y="0"/>
                  </a:lnTo>
                  <a:cubicBezTo>
                    <a:pt x="2192594" y="0"/>
                    <a:pt x="2238876" y="46282"/>
                    <a:pt x="2238876" y="103373"/>
                  </a:cubicBezTo>
                  <a:lnTo>
                    <a:pt x="2238876" y="402977"/>
                  </a:lnTo>
                  <a:cubicBezTo>
                    <a:pt x="2238876" y="460068"/>
                    <a:pt x="2192594" y="506350"/>
                    <a:pt x="2135503" y="506350"/>
                  </a:cubicBezTo>
                  <a:lnTo>
                    <a:pt x="103373" y="506350"/>
                  </a:lnTo>
                  <a:cubicBezTo>
                    <a:pt x="46282" y="506350"/>
                    <a:pt x="0" y="460068"/>
                    <a:pt x="0" y="402977"/>
                  </a:cubicBezTo>
                  <a:lnTo>
                    <a:pt x="0" y="103373"/>
                  </a:lnTo>
                  <a:cubicBezTo>
                    <a:pt x="0" y="46282"/>
                    <a:pt x="46282" y="0"/>
                    <a:pt x="10337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47625"/>
              <a:ext cx="2238876" cy="55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9258689" y="3251485"/>
            <a:ext cx="7489307" cy="1853112"/>
            <a:chOff x="0" y="-47625"/>
            <a:chExt cx="2238876" cy="553975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2238876" cy="506350"/>
            </a:xfrm>
            <a:custGeom>
              <a:rect b="b" l="l" r="r" t="t"/>
              <a:pathLst>
                <a:path extrusionOk="0" h="506350" w="2238876">
                  <a:moveTo>
                    <a:pt x="103373" y="0"/>
                  </a:moveTo>
                  <a:lnTo>
                    <a:pt x="2135503" y="0"/>
                  </a:lnTo>
                  <a:cubicBezTo>
                    <a:pt x="2192594" y="0"/>
                    <a:pt x="2238876" y="46282"/>
                    <a:pt x="2238876" y="103373"/>
                  </a:cubicBezTo>
                  <a:lnTo>
                    <a:pt x="2238876" y="402977"/>
                  </a:lnTo>
                  <a:cubicBezTo>
                    <a:pt x="2238876" y="460068"/>
                    <a:pt x="2192594" y="506350"/>
                    <a:pt x="2135503" y="506350"/>
                  </a:cubicBezTo>
                  <a:lnTo>
                    <a:pt x="103373" y="506350"/>
                  </a:lnTo>
                  <a:cubicBezTo>
                    <a:pt x="46282" y="506350"/>
                    <a:pt x="0" y="460068"/>
                    <a:pt x="0" y="402977"/>
                  </a:cubicBezTo>
                  <a:lnTo>
                    <a:pt x="0" y="103373"/>
                  </a:lnTo>
                  <a:cubicBezTo>
                    <a:pt x="0" y="46282"/>
                    <a:pt x="46282" y="0"/>
                    <a:pt x="10337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47625"/>
              <a:ext cx="2238876" cy="55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540004" y="5233086"/>
            <a:ext cx="7489307" cy="1853112"/>
            <a:chOff x="0" y="-47625"/>
            <a:chExt cx="2238876" cy="553975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2238876" cy="506350"/>
            </a:xfrm>
            <a:custGeom>
              <a:rect b="b" l="l" r="r" t="t"/>
              <a:pathLst>
                <a:path extrusionOk="0" h="506350" w="2238876">
                  <a:moveTo>
                    <a:pt x="103373" y="0"/>
                  </a:moveTo>
                  <a:lnTo>
                    <a:pt x="2135503" y="0"/>
                  </a:lnTo>
                  <a:cubicBezTo>
                    <a:pt x="2192594" y="0"/>
                    <a:pt x="2238876" y="46282"/>
                    <a:pt x="2238876" y="103373"/>
                  </a:cubicBezTo>
                  <a:lnTo>
                    <a:pt x="2238876" y="402977"/>
                  </a:lnTo>
                  <a:cubicBezTo>
                    <a:pt x="2238876" y="460068"/>
                    <a:pt x="2192594" y="506350"/>
                    <a:pt x="2135503" y="506350"/>
                  </a:cubicBezTo>
                  <a:lnTo>
                    <a:pt x="103373" y="506350"/>
                  </a:lnTo>
                  <a:cubicBezTo>
                    <a:pt x="46282" y="506350"/>
                    <a:pt x="0" y="460068"/>
                    <a:pt x="0" y="402977"/>
                  </a:cubicBezTo>
                  <a:lnTo>
                    <a:pt x="0" y="103373"/>
                  </a:lnTo>
                  <a:cubicBezTo>
                    <a:pt x="0" y="46282"/>
                    <a:pt x="46282" y="0"/>
                    <a:pt x="10337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47625"/>
              <a:ext cx="2238876" cy="55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9258689" y="5233086"/>
            <a:ext cx="7489307" cy="1853112"/>
            <a:chOff x="0" y="-47625"/>
            <a:chExt cx="2238876" cy="553975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2238876" cy="506350"/>
            </a:xfrm>
            <a:custGeom>
              <a:rect b="b" l="l" r="r" t="t"/>
              <a:pathLst>
                <a:path extrusionOk="0" h="506350" w="2238876">
                  <a:moveTo>
                    <a:pt x="103373" y="0"/>
                  </a:moveTo>
                  <a:lnTo>
                    <a:pt x="2135503" y="0"/>
                  </a:lnTo>
                  <a:cubicBezTo>
                    <a:pt x="2192594" y="0"/>
                    <a:pt x="2238876" y="46282"/>
                    <a:pt x="2238876" y="103373"/>
                  </a:cubicBezTo>
                  <a:lnTo>
                    <a:pt x="2238876" y="402977"/>
                  </a:lnTo>
                  <a:cubicBezTo>
                    <a:pt x="2238876" y="460068"/>
                    <a:pt x="2192594" y="506350"/>
                    <a:pt x="2135503" y="506350"/>
                  </a:cubicBezTo>
                  <a:lnTo>
                    <a:pt x="103373" y="506350"/>
                  </a:lnTo>
                  <a:cubicBezTo>
                    <a:pt x="46282" y="506350"/>
                    <a:pt x="0" y="460068"/>
                    <a:pt x="0" y="402977"/>
                  </a:cubicBezTo>
                  <a:lnTo>
                    <a:pt x="0" y="103373"/>
                  </a:lnTo>
                  <a:cubicBezTo>
                    <a:pt x="0" y="46282"/>
                    <a:pt x="46282" y="0"/>
                    <a:pt x="10337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47625"/>
              <a:ext cx="2238876" cy="55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540004" y="7214688"/>
            <a:ext cx="7489307" cy="1853112"/>
            <a:chOff x="0" y="-47625"/>
            <a:chExt cx="2238876" cy="553975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2238876" cy="506350"/>
            </a:xfrm>
            <a:custGeom>
              <a:rect b="b" l="l" r="r" t="t"/>
              <a:pathLst>
                <a:path extrusionOk="0" h="506350" w="2238876">
                  <a:moveTo>
                    <a:pt x="103373" y="0"/>
                  </a:moveTo>
                  <a:lnTo>
                    <a:pt x="2135503" y="0"/>
                  </a:lnTo>
                  <a:cubicBezTo>
                    <a:pt x="2192594" y="0"/>
                    <a:pt x="2238876" y="46282"/>
                    <a:pt x="2238876" y="103373"/>
                  </a:cubicBezTo>
                  <a:lnTo>
                    <a:pt x="2238876" y="402977"/>
                  </a:lnTo>
                  <a:cubicBezTo>
                    <a:pt x="2238876" y="460068"/>
                    <a:pt x="2192594" y="506350"/>
                    <a:pt x="2135503" y="506350"/>
                  </a:cubicBezTo>
                  <a:lnTo>
                    <a:pt x="103373" y="506350"/>
                  </a:lnTo>
                  <a:cubicBezTo>
                    <a:pt x="46282" y="506350"/>
                    <a:pt x="0" y="460068"/>
                    <a:pt x="0" y="402977"/>
                  </a:cubicBezTo>
                  <a:lnTo>
                    <a:pt x="0" y="103373"/>
                  </a:lnTo>
                  <a:cubicBezTo>
                    <a:pt x="0" y="46282"/>
                    <a:pt x="46282" y="0"/>
                    <a:pt x="10337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-47625"/>
              <a:ext cx="2238876" cy="55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9258689" y="7214688"/>
            <a:ext cx="7489307" cy="1853112"/>
            <a:chOff x="0" y="-47625"/>
            <a:chExt cx="2238876" cy="553975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2238876" cy="506350"/>
            </a:xfrm>
            <a:custGeom>
              <a:rect b="b" l="l" r="r" t="t"/>
              <a:pathLst>
                <a:path extrusionOk="0" h="506350" w="2238876">
                  <a:moveTo>
                    <a:pt x="103373" y="0"/>
                  </a:moveTo>
                  <a:lnTo>
                    <a:pt x="2135503" y="0"/>
                  </a:lnTo>
                  <a:cubicBezTo>
                    <a:pt x="2192594" y="0"/>
                    <a:pt x="2238876" y="46282"/>
                    <a:pt x="2238876" y="103373"/>
                  </a:cubicBezTo>
                  <a:lnTo>
                    <a:pt x="2238876" y="402977"/>
                  </a:lnTo>
                  <a:cubicBezTo>
                    <a:pt x="2238876" y="460068"/>
                    <a:pt x="2192594" y="506350"/>
                    <a:pt x="2135503" y="506350"/>
                  </a:cubicBezTo>
                  <a:lnTo>
                    <a:pt x="103373" y="506350"/>
                  </a:lnTo>
                  <a:cubicBezTo>
                    <a:pt x="46282" y="506350"/>
                    <a:pt x="0" y="460068"/>
                    <a:pt x="0" y="402977"/>
                  </a:cubicBezTo>
                  <a:lnTo>
                    <a:pt x="0" y="103373"/>
                  </a:lnTo>
                  <a:cubicBezTo>
                    <a:pt x="0" y="46282"/>
                    <a:pt x="46282" y="0"/>
                    <a:pt x="10337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47625"/>
              <a:ext cx="2238876" cy="55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5300554" y="2072901"/>
            <a:ext cx="7686892" cy="951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817070" y="3863344"/>
            <a:ext cx="1064037" cy="71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267053" y="4163448"/>
            <a:ext cx="4886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개요 및 핵심 내용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3267053" y="6032441"/>
            <a:ext cx="4886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스키마란?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726255" y="3863344"/>
            <a:ext cx="1064037" cy="71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10985737" y="4163448"/>
            <a:ext cx="4886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주요 테이블 구조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2007570" y="5844946"/>
            <a:ext cx="1064037" cy="71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267053" y="8049450"/>
            <a:ext cx="4886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스키마 구성요소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9726255" y="5844946"/>
            <a:ext cx="1064037" cy="71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0990317" y="6067848"/>
            <a:ext cx="48863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보험금 청구 시 필요한 주요 서류 목록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2007570" y="7826548"/>
            <a:ext cx="1064037" cy="71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9726255" y="7826548"/>
            <a:ext cx="1064037" cy="71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0985737" y="7858449"/>
            <a:ext cx="4886371" cy="35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향후 계획 및 목표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0985737" y="8352813"/>
            <a:ext cx="4886371" cy="29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해당 목차에 대한 설명을 입력해 주세요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16972142" y="833462"/>
            <a:ext cx="384404" cy="371824"/>
          </a:xfrm>
          <a:custGeom>
            <a:rect b="b" l="l" r="r" t="t"/>
            <a:pathLst>
              <a:path extrusionOk="0" h="371824" w="384404">
                <a:moveTo>
                  <a:pt x="0" y="0"/>
                </a:moveTo>
                <a:lnTo>
                  <a:pt x="384404" y="0"/>
                </a:lnTo>
                <a:lnTo>
                  <a:pt x="384404" y="371823"/>
                </a:lnTo>
                <a:lnTo>
                  <a:pt x="0" y="37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974420" y="912857"/>
            <a:ext cx="436460" cy="292428"/>
          </a:xfrm>
          <a:custGeom>
            <a:rect b="b" l="l" r="r" t="t"/>
            <a:pathLst>
              <a:path extrusionOk="0" h="292428" w="436460">
                <a:moveTo>
                  <a:pt x="0" y="0"/>
                </a:moveTo>
                <a:lnTo>
                  <a:pt x="436460" y="0"/>
                </a:lnTo>
                <a:lnTo>
                  <a:pt x="436460" y="292428"/>
                </a:lnTo>
                <a:lnTo>
                  <a:pt x="0" y="29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 txBox="1"/>
          <p:nvPr/>
        </p:nvSpPr>
        <p:spPr>
          <a:xfrm>
            <a:off x="6125755" y="946580"/>
            <a:ext cx="6036490" cy="349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BUSINESS PRESENTATION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2F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3"/>
          <p:cNvGrpSpPr/>
          <p:nvPr/>
        </p:nvGrpSpPr>
        <p:grpSpPr>
          <a:xfrm>
            <a:off x="324754" y="226795"/>
            <a:ext cx="17638491" cy="9652583"/>
            <a:chOff x="0" y="-47625"/>
            <a:chExt cx="4645529" cy="2542244"/>
          </a:xfrm>
        </p:grpSpPr>
        <p:sp>
          <p:nvSpPr>
            <p:cNvPr id="142" name="Google Shape;142;p3"/>
            <p:cNvSpPr/>
            <p:nvPr/>
          </p:nvSpPr>
          <p:spPr>
            <a:xfrm>
              <a:off x="0" y="0"/>
              <a:ext cx="4645528" cy="2494619"/>
            </a:xfrm>
            <a:custGeom>
              <a:rect b="b" l="l" r="r" t="t"/>
              <a:pathLst>
                <a:path extrusionOk="0" h="2494619" w="4645528">
                  <a:moveTo>
                    <a:pt x="15362" y="0"/>
                  </a:moveTo>
                  <a:lnTo>
                    <a:pt x="4630166" y="0"/>
                  </a:lnTo>
                  <a:cubicBezTo>
                    <a:pt x="4638651" y="0"/>
                    <a:pt x="4645528" y="6878"/>
                    <a:pt x="4645528" y="15362"/>
                  </a:cubicBezTo>
                  <a:lnTo>
                    <a:pt x="4645528" y="2479257"/>
                  </a:lnTo>
                  <a:cubicBezTo>
                    <a:pt x="4645528" y="2483331"/>
                    <a:pt x="4643910" y="2487238"/>
                    <a:pt x="4641029" y="2490120"/>
                  </a:cubicBezTo>
                  <a:cubicBezTo>
                    <a:pt x="4638148" y="2493001"/>
                    <a:pt x="4634240" y="2494619"/>
                    <a:pt x="4630166" y="2494619"/>
                  </a:cubicBezTo>
                  <a:lnTo>
                    <a:pt x="15362" y="2494619"/>
                  </a:lnTo>
                  <a:cubicBezTo>
                    <a:pt x="6878" y="2494619"/>
                    <a:pt x="0" y="2487741"/>
                    <a:pt x="0" y="2479257"/>
                  </a:cubicBezTo>
                  <a:lnTo>
                    <a:pt x="0" y="15362"/>
                  </a:lnTo>
                  <a:cubicBezTo>
                    <a:pt x="0" y="11288"/>
                    <a:pt x="1619" y="7380"/>
                    <a:pt x="4500" y="4500"/>
                  </a:cubicBezTo>
                  <a:cubicBezTo>
                    <a:pt x="7380" y="1619"/>
                    <a:pt x="11288" y="0"/>
                    <a:pt x="1536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0" y="-47625"/>
              <a:ext cx="4645529" cy="2542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8115691" y="3277401"/>
            <a:ext cx="8808940" cy="5980899"/>
            <a:chOff x="0" y="-47625"/>
            <a:chExt cx="3217506" cy="2184550"/>
          </a:xfrm>
        </p:grpSpPr>
        <p:sp>
          <p:nvSpPr>
            <p:cNvPr id="145" name="Google Shape;145;p3"/>
            <p:cNvSpPr/>
            <p:nvPr/>
          </p:nvSpPr>
          <p:spPr>
            <a:xfrm>
              <a:off x="0" y="0"/>
              <a:ext cx="3217506" cy="2136925"/>
            </a:xfrm>
            <a:custGeom>
              <a:rect b="b" l="l" r="r" t="t"/>
              <a:pathLst>
                <a:path extrusionOk="0" h="2136925" w="3217506">
                  <a:moveTo>
                    <a:pt x="43944" y="0"/>
                  </a:moveTo>
                  <a:lnTo>
                    <a:pt x="3173562" y="0"/>
                  </a:lnTo>
                  <a:cubicBezTo>
                    <a:pt x="3197831" y="0"/>
                    <a:pt x="3217506" y="19674"/>
                    <a:pt x="3217506" y="43944"/>
                  </a:cubicBezTo>
                  <a:lnTo>
                    <a:pt x="3217506" y="2092982"/>
                  </a:lnTo>
                  <a:cubicBezTo>
                    <a:pt x="3217506" y="2117251"/>
                    <a:pt x="3197831" y="2136925"/>
                    <a:pt x="3173562" y="2136925"/>
                  </a:cubicBezTo>
                  <a:lnTo>
                    <a:pt x="43944" y="2136925"/>
                  </a:lnTo>
                  <a:cubicBezTo>
                    <a:pt x="19674" y="2136925"/>
                    <a:pt x="0" y="2117251"/>
                    <a:pt x="0" y="2092982"/>
                  </a:cubicBezTo>
                  <a:lnTo>
                    <a:pt x="0" y="43944"/>
                  </a:lnTo>
                  <a:cubicBezTo>
                    <a:pt x="0" y="19674"/>
                    <a:pt x="19674" y="0"/>
                    <a:pt x="4394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 txBox="1"/>
            <p:nvPr/>
          </p:nvSpPr>
          <p:spPr>
            <a:xfrm>
              <a:off x="0" y="-47625"/>
              <a:ext cx="3217506" cy="21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16972142" y="833462"/>
            <a:ext cx="384404" cy="371824"/>
          </a:xfrm>
          <a:custGeom>
            <a:rect b="b" l="l" r="r" t="t"/>
            <a:pathLst>
              <a:path extrusionOk="0" h="371824" w="384404">
                <a:moveTo>
                  <a:pt x="0" y="0"/>
                </a:moveTo>
                <a:lnTo>
                  <a:pt x="384404" y="0"/>
                </a:lnTo>
                <a:lnTo>
                  <a:pt x="384404" y="371823"/>
                </a:lnTo>
                <a:lnTo>
                  <a:pt x="0" y="37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/>
          <p:nvPr/>
        </p:nvSpPr>
        <p:spPr>
          <a:xfrm>
            <a:off x="974420" y="912857"/>
            <a:ext cx="436460" cy="292428"/>
          </a:xfrm>
          <a:custGeom>
            <a:rect b="b" l="l" r="r" t="t"/>
            <a:pathLst>
              <a:path extrusionOk="0" h="292428" w="436460">
                <a:moveTo>
                  <a:pt x="0" y="0"/>
                </a:moveTo>
                <a:lnTo>
                  <a:pt x="436460" y="0"/>
                </a:lnTo>
                <a:lnTo>
                  <a:pt x="436460" y="292428"/>
                </a:lnTo>
                <a:lnTo>
                  <a:pt x="0" y="29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9" name="Google Shape;149;p3"/>
          <p:cNvGrpSpPr/>
          <p:nvPr/>
        </p:nvGrpSpPr>
        <p:grpSpPr>
          <a:xfrm>
            <a:off x="1363369" y="1611596"/>
            <a:ext cx="15561262" cy="1426600"/>
            <a:chOff x="0" y="-47625"/>
            <a:chExt cx="5683822" cy="521072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5683822" cy="473447"/>
            </a:xfrm>
            <a:custGeom>
              <a:rect b="b" l="l" r="r" t="t"/>
              <a:pathLst>
                <a:path extrusionOk="0" h="473447" w="5683822">
                  <a:moveTo>
                    <a:pt x="49751" y="0"/>
                  </a:moveTo>
                  <a:lnTo>
                    <a:pt x="5634071" y="0"/>
                  </a:lnTo>
                  <a:cubicBezTo>
                    <a:pt x="5647266" y="0"/>
                    <a:pt x="5659920" y="5242"/>
                    <a:pt x="5669250" y="14572"/>
                  </a:cubicBezTo>
                  <a:cubicBezTo>
                    <a:pt x="5678581" y="23902"/>
                    <a:pt x="5683822" y="36556"/>
                    <a:pt x="5683822" y="49751"/>
                  </a:cubicBezTo>
                  <a:lnTo>
                    <a:pt x="5683822" y="423696"/>
                  </a:lnTo>
                  <a:cubicBezTo>
                    <a:pt x="5683822" y="436890"/>
                    <a:pt x="5678581" y="449545"/>
                    <a:pt x="5669250" y="458875"/>
                  </a:cubicBezTo>
                  <a:cubicBezTo>
                    <a:pt x="5659920" y="468205"/>
                    <a:pt x="5647266" y="473447"/>
                    <a:pt x="5634071" y="473447"/>
                  </a:cubicBezTo>
                  <a:lnTo>
                    <a:pt x="49751" y="473447"/>
                  </a:lnTo>
                  <a:cubicBezTo>
                    <a:pt x="36556" y="473447"/>
                    <a:pt x="23902" y="468205"/>
                    <a:pt x="14572" y="458875"/>
                  </a:cubicBezTo>
                  <a:cubicBezTo>
                    <a:pt x="5242" y="449545"/>
                    <a:pt x="0" y="436890"/>
                    <a:pt x="0" y="423696"/>
                  </a:cubicBezTo>
                  <a:lnTo>
                    <a:pt x="0" y="49751"/>
                  </a:lnTo>
                  <a:cubicBezTo>
                    <a:pt x="0" y="36556"/>
                    <a:pt x="5242" y="23902"/>
                    <a:pt x="14572" y="14572"/>
                  </a:cubicBezTo>
                  <a:cubicBezTo>
                    <a:pt x="23902" y="5242"/>
                    <a:pt x="36556" y="0"/>
                    <a:pt x="49751" y="0"/>
                  </a:cubicBezTo>
                  <a:close/>
                </a:path>
              </a:pathLst>
            </a:custGeom>
            <a:solidFill>
              <a:srgbClr val="EA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0" y="-47625"/>
              <a:ext cx="5683822" cy="52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3"/>
          <p:cNvGrpSpPr/>
          <p:nvPr/>
        </p:nvGrpSpPr>
        <p:grpSpPr>
          <a:xfrm>
            <a:off x="8558509" y="6865621"/>
            <a:ext cx="7970815" cy="1990481"/>
            <a:chOff x="0" y="-47625"/>
            <a:chExt cx="2911377" cy="727032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2911377" cy="679407"/>
            </a:xfrm>
            <a:custGeom>
              <a:rect b="b" l="l" r="r" t="t"/>
              <a:pathLst>
                <a:path extrusionOk="0" h="679407" w="2911377">
                  <a:moveTo>
                    <a:pt x="29139" y="0"/>
                  </a:moveTo>
                  <a:lnTo>
                    <a:pt x="2882238" y="0"/>
                  </a:lnTo>
                  <a:cubicBezTo>
                    <a:pt x="2898331" y="0"/>
                    <a:pt x="2911377" y="13046"/>
                    <a:pt x="2911377" y="29139"/>
                  </a:cubicBezTo>
                  <a:lnTo>
                    <a:pt x="2911377" y="650269"/>
                  </a:lnTo>
                  <a:cubicBezTo>
                    <a:pt x="2911377" y="666361"/>
                    <a:pt x="2898331" y="679407"/>
                    <a:pt x="2882238" y="679407"/>
                  </a:cubicBezTo>
                  <a:lnTo>
                    <a:pt x="29139" y="679407"/>
                  </a:lnTo>
                  <a:cubicBezTo>
                    <a:pt x="13046" y="679407"/>
                    <a:pt x="0" y="666361"/>
                    <a:pt x="0" y="650269"/>
                  </a:cubicBezTo>
                  <a:lnTo>
                    <a:pt x="0" y="29139"/>
                  </a:lnTo>
                  <a:cubicBezTo>
                    <a:pt x="0" y="13046"/>
                    <a:pt x="13046" y="0"/>
                    <a:pt x="29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 txBox="1"/>
            <p:nvPr/>
          </p:nvSpPr>
          <p:spPr>
            <a:xfrm>
              <a:off x="0" y="-47625"/>
              <a:ext cx="2911377" cy="727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3"/>
          <p:cNvSpPr/>
          <p:nvPr/>
        </p:nvSpPr>
        <p:spPr>
          <a:xfrm>
            <a:off x="2133933" y="3593666"/>
            <a:ext cx="5120602" cy="5120602"/>
          </a:xfrm>
          <a:custGeom>
            <a:rect b="b" l="l" r="r" t="t"/>
            <a:pathLst>
              <a:path extrusionOk="0" h="5120602" w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3"/>
          <p:cNvSpPr txBox="1"/>
          <p:nvPr/>
        </p:nvSpPr>
        <p:spPr>
          <a:xfrm>
            <a:off x="6125755" y="946580"/>
            <a:ext cx="6036490" cy="349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BUSINESS PRESENTATION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1892245" y="1917773"/>
            <a:ext cx="1111150" cy="849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2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3241315" y="2031420"/>
            <a:ext cx="13037666" cy="774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개요 및 핵심 내용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8936650" y="7810132"/>
            <a:ext cx="7214532" cy="656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혁신적인 기술을 도입하여 서비스 품질을 향상시키고, 데이터 분석을 통해 고객의 니즈를 정확히 파악하여 장기적인 성장 전략을 마련할 계획입니다.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10199320" y="7290141"/>
            <a:ext cx="4689193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핵심 내용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8622345" y="4027431"/>
            <a:ext cx="2475496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프로젝트 배경   |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11240192" y="5144430"/>
            <a:ext cx="5289132" cy="666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수기로 진행되는 보험 처리로 인한 불필요한 반복 작업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11240192" y="4042282"/>
            <a:ext cx="5289132" cy="32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업무 서류 분류 및 검증 업무 자동화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8622345" y="5071387"/>
            <a:ext cx="2475496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프로젝트 목적   |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8622345" y="6115867"/>
            <a:ext cx="2475496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프로젝트 기간   |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11240192" y="6152388"/>
            <a:ext cx="5038789" cy="32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2025.10.30 - 2025.11.06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2F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4"/>
          <p:cNvGrpSpPr/>
          <p:nvPr/>
        </p:nvGrpSpPr>
        <p:grpSpPr>
          <a:xfrm>
            <a:off x="324754" y="106285"/>
            <a:ext cx="17638491" cy="9652583"/>
            <a:chOff x="0" y="-47625"/>
            <a:chExt cx="4645529" cy="2542244"/>
          </a:xfrm>
        </p:grpSpPr>
        <p:sp>
          <p:nvSpPr>
            <p:cNvPr id="172" name="Google Shape;172;p4"/>
            <p:cNvSpPr/>
            <p:nvPr/>
          </p:nvSpPr>
          <p:spPr>
            <a:xfrm>
              <a:off x="0" y="0"/>
              <a:ext cx="4645528" cy="2494619"/>
            </a:xfrm>
            <a:custGeom>
              <a:rect b="b" l="l" r="r" t="t"/>
              <a:pathLst>
                <a:path extrusionOk="0" h="2494619" w="4645528">
                  <a:moveTo>
                    <a:pt x="15362" y="0"/>
                  </a:moveTo>
                  <a:lnTo>
                    <a:pt x="4630166" y="0"/>
                  </a:lnTo>
                  <a:cubicBezTo>
                    <a:pt x="4638651" y="0"/>
                    <a:pt x="4645528" y="6878"/>
                    <a:pt x="4645528" y="15362"/>
                  </a:cubicBezTo>
                  <a:lnTo>
                    <a:pt x="4645528" y="2479257"/>
                  </a:lnTo>
                  <a:cubicBezTo>
                    <a:pt x="4645528" y="2483331"/>
                    <a:pt x="4643910" y="2487238"/>
                    <a:pt x="4641029" y="2490120"/>
                  </a:cubicBezTo>
                  <a:cubicBezTo>
                    <a:pt x="4638148" y="2493001"/>
                    <a:pt x="4634240" y="2494619"/>
                    <a:pt x="4630166" y="2494619"/>
                  </a:cubicBezTo>
                  <a:lnTo>
                    <a:pt x="15362" y="2494619"/>
                  </a:lnTo>
                  <a:cubicBezTo>
                    <a:pt x="6878" y="2494619"/>
                    <a:pt x="0" y="2487741"/>
                    <a:pt x="0" y="2479257"/>
                  </a:cubicBezTo>
                  <a:lnTo>
                    <a:pt x="0" y="15362"/>
                  </a:lnTo>
                  <a:cubicBezTo>
                    <a:pt x="0" y="11288"/>
                    <a:pt x="1619" y="7380"/>
                    <a:pt x="4500" y="4500"/>
                  </a:cubicBezTo>
                  <a:cubicBezTo>
                    <a:pt x="7380" y="1619"/>
                    <a:pt x="11288" y="0"/>
                    <a:pt x="1536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0" y="-47625"/>
              <a:ext cx="4645529" cy="2542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4"/>
          <p:cNvSpPr/>
          <p:nvPr/>
        </p:nvSpPr>
        <p:spPr>
          <a:xfrm>
            <a:off x="16972142" y="833462"/>
            <a:ext cx="384404" cy="371824"/>
          </a:xfrm>
          <a:custGeom>
            <a:rect b="b" l="l" r="r" t="t"/>
            <a:pathLst>
              <a:path extrusionOk="0" h="371824" w="384404">
                <a:moveTo>
                  <a:pt x="0" y="0"/>
                </a:moveTo>
                <a:lnTo>
                  <a:pt x="384404" y="0"/>
                </a:lnTo>
                <a:lnTo>
                  <a:pt x="384404" y="371823"/>
                </a:lnTo>
                <a:lnTo>
                  <a:pt x="0" y="37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4"/>
          <p:cNvSpPr/>
          <p:nvPr/>
        </p:nvSpPr>
        <p:spPr>
          <a:xfrm>
            <a:off x="974420" y="912857"/>
            <a:ext cx="436460" cy="292428"/>
          </a:xfrm>
          <a:custGeom>
            <a:rect b="b" l="l" r="r" t="t"/>
            <a:pathLst>
              <a:path extrusionOk="0" h="292428" w="436460">
                <a:moveTo>
                  <a:pt x="0" y="0"/>
                </a:moveTo>
                <a:lnTo>
                  <a:pt x="436460" y="0"/>
                </a:lnTo>
                <a:lnTo>
                  <a:pt x="436460" y="292428"/>
                </a:lnTo>
                <a:lnTo>
                  <a:pt x="0" y="29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4"/>
          <p:cNvSpPr txBox="1"/>
          <p:nvPr/>
        </p:nvSpPr>
        <p:spPr>
          <a:xfrm>
            <a:off x="6125755" y="946580"/>
            <a:ext cx="6036490" cy="349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BUSINESS PRESENTATION</a:t>
            </a:r>
            <a:endParaRPr/>
          </a:p>
        </p:txBody>
      </p:sp>
      <p:grpSp>
        <p:nvGrpSpPr>
          <p:cNvPr id="177" name="Google Shape;177;p4"/>
          <p:cNvGrpSpPr/>
          <p:nvPr/>
        </p:nvGrpSpPr>
        <p:grpSpPr>
          <a:xfrm>
            <a:off x="1698038" y="1685916"/>
            <a:ext cx="15561262" cy="1426600"/>
            <a:chOff x="0" y="-47625"/>
            <a:chExt cx="5683822" cy="521072"/>
          </a:xfrm>
        </p:grpSpPr>
        <p:sp>
          <p:nvSpPr>
            <p:cNvPr id="178" name="Google Shape;178;p4"/>
            <p:cNvSpPr/>
            <p:nvPr/>
          </p:nvSpPr>
          <p:spPr>
            <a:xfrm>
              <a:off x="0" y="0"/>
              <a:ext cx="5683822" cy="473447"/>
            </a:xfrm>
            <a:custGeom>
              <a:rect b="b" l="l" r="r" t="t"/>
              <a:pathLst>
                <a:path extrusionOk="0" h="473447" w="5683822">
                  <a:moveTo>
                    <a:pt x="49751" y="0"/>
                  </a:moveTo>
                  <a:lnTo>
                    <a:pt x="5634071" y="0"/>
                  </a:lnTo>
                  <a:cubicBezTo>
                    <a:pt x="5647266" y="0"/>
                    <a:pt x="5659920" y="5242"/>
                    <a:pt x="5669250" y="14572"/>
                  </a:cubicBezTo>
                  <a:cubicBezTo>
                    <a:pt x="5678581" y="23902"/>
                    <a:pt x="5683822" y="36556"/>
                    <a:pt x="5683822" y="49751"/>
                  </a:cubicBezTo>
                  <a:lnTo>
                    <a:pt x="5683822" y="423696"/>
                  </a:lnTo>
                  <a:cubicBezTo>
                    <a:pt x="5683822" y="436890"/>
                    <a:pt x="5678581" y="449545"/>
                    <a:pt x="5669250" y="458875"/>
                  </a:cubicBezTo>
                  <a:cubicBezTo>
                    <a:pt x="5659920" y="468205"/>
                    <a:pt x="5647266" y="473447"/>
                    <a:pt x="5634071" y="473447"/>
                  </a:cubicBezTo>
                  <a:lnTo>
                    <a:pt x="49751" y="473447"/>
                  </a:lnTo>
                  <a:cubicBezTo>
                    <a:pt x="36556" y="473447"/>
                    <a:pt x="23902" y="468205"/>
                    <a:pt x="14572" y="458875"/>
                  </a:cubicBezTo>
                  <a:cubicBezTo>
                    <a:pt x="5242" y="449545"/>
                    <a:pt x="0" y="436890"/>
                    <a:pt x="0" y="423696"/>
                  </a:cubicBezTo>
                  <a:lnTo>
                    <a:pt x="0" y="49751"/>
                  </a:lnTo>
                  <a:cubicBezTo>
                    <a:pt x="0" y="36556"/>
                    <a:pt x="5242" y="23902"/>
                    <a:pt x="14572" y="14572"/>
                  </a:cubicBezTo>
                  <a:cubicBezTo>
                    <a:pt x="23902" y="5242"/>
                    <a:pt x="36556" y="0"/>
                    <a:pt x="49751" y="0"/>
                  </a:cubicBezTo>
                  <a:close/>
                </a:path>
              </a:pathLst>
            </a:custGeom>
            <a:solidFill>
              <a:srgbClr val="EA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0" y="-47625"/>
              <a:ext cx="5683822" cy="52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4"/>
          <p:cNvSpPr txBox="1"/>
          <p:nvPr/>
        </p:nvSpPr>
        <p:spPr>
          <a:xfrm>
            <a:off x="1892245" y="1917773"/>
            <a:ext cx="1111150" cy="84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2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3241315" y="2031420"/>
            <a:ext cx="13037666" cy="774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스키마란?</a:t>
            </a:r>
            <a:endParaRPr/>
          </a:p>
        </p:txBody>
      </p:sp>
      <p:grpSp>
        <p:nvGrpSpPr>
          <p:cNvPr id="182" name="Google Shape;182;p4"/>
          <p:cNvGrpSpPr/>
          <p:nvPr/>
        </p:nvGrpSpPr>
        <p:grpSpPr>
          <a:xfrm>
            <a:off x="1410880" y="3277402"/>
            <a:ext cx="4874034" cy="2820354"/>
            <a:chOff x="0" y="-47625"/>
            <a:chExt cx="1780263" cy="1030148"/>
          </a:xfrm>
        </p:grpSpPr>
        <p:sp>
          <p:nvSpPr>
            <p:cNvPr id="183" name="Google Shape;183;p4"/>
            <p:cNvSpPr/>
            <p:nvPr/>
          </p:nvSpPr>
          <p:spPr>
            <a:xfrm>
              <a:off x="0" y="0"/>
              <a:ext cx="1780263" cy="982523"/>
            </a:xfrm>
            <a:custGeom>
              <a:rect b="b" l="l" r="r" t="t"/>
              <a:pathLst>
                <a:path extrusionOk="0" h="982523" w="1780263">
                  <a:moveTo>
                    <a:pt x="79420" y="0"/>
                  </a:moveTo>
                  <a:lnTo>
                    <a:pt x="1700843" y="0"/>
                  </a:lnTo>
                  <a:cubicBezTo>
                    <a:pt x="1721907" y="0"/>
                    <a:pt x="1742108" y="8367"/>
                    <a:pt x="1757002" y="23262"/>
                  </a:cubicBezTo>
                  <a:cubicBezTo>
                    <a:pt x="1771896" y="38156"/>
                    <a:pt x="1780263" y="58357"/>
                    <a:pt x="1780263" y="79420"/>
                  </a:cubicBezTo>
                  <a:lnTo>
                    <a:pt x="1780263" y="903103"/>
                  </a:lnTo>
                  <a:cubicBezTo>
                    <a:pt x="1780263" y="924166"/>
                    <a:pt x="1771896" y="944367"/>
                    <a:pt x="1757002" y="959261"/>
                  </a:cubicBezTo>
                  <a:cubicBezTo>
                    <a:pt x="1742108" y="974155"/>
                    <a:pt x="1721907" y="982523"/>
                    <a:pt x="1700843" y="982523"/>
                  </a:cubicBezTo>
                  <a:lnTo>
                    <a:pt x="79420" y="982523"/>
                  </a:lnTo>
                  <a:cubicBezTo>
                    <a:pt x="58357" y="982523"/>
                    <a:pt x="38156" y="974155"/>
                    <a:pt x="23262" y="959261"/>
                  </a:cubicBezTo>
                  <a:cubicBezTo>
                    <a:pt x="8367" y="944367"/>
                    <a:pt x="0" y="924166"/>
                    <a:pt x="0" y="903103"/>
                  </a:cubicBezTo>
                  <a:lnTo>
                    <a:pt x="0" y="79420"/>
                  </a:lnTo>
                  <a:cubicBezTo>
                    <a:pt x="0" y="58357"/>
                    <a:pt x="8367" y="38156"/>
                    <a:pt x="23262" y="23262"/>
                  </a:cubicBezTo>
                  <a:cubicBezTo>
                    <a:pt x="38156" y="8367"/>
                    <a:pt x="58357" y="0"/>
                    <a:pt x="7942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0" y="-47625"/>
              <a:ext cx="1780263" cy="1030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4"/>
          <p:cNvGrpSpPr/>
          <p:nvPr/>
        </p:nvGrpSpPr>
        <p:grpSpPr>
          <a:xfrm>
            <a:off x="6715433" y="3321061"/>
            <a:ext cx="5016293" cy="2820354"/>
            <a:chOff x="0" y="-47625"/>
            <a:chExt cx="1832224" cy="1030148"/>
          </a:xfrm>
        </p:grpSpPr>
        <p:sp>
          <p:nvSpPr>
            <p:cNvPr id="186" name="Google Shape;186;p4"/>
            <p:cNvSpPr/>
            <p:nvPr/>
          </p:nvSpPr>
          <p:spPr>
            <a:xfrm>
              <a:off x="0" y="0"/>
              <a:ext cx="1832224" cy="982523"/>
            </a:xfrm>
            <a:custGeom>
              <a:rect b="b" l="l" r="r" t="t"/>
              <a:pathLst>
                <a:path extrusionOk="0" h="982523" w="1832224">
                  <a:moveTo>
                    <a:pt x="77168" y="0"/>
                  </a:moveTo>
                  <a:lnTo>
                    <a:pt x="1755056" y="0"/>
                  </a:lnTo>
                  <a:cubicBezTo>
                    <a:pt x="1797675" y="0"/>
                    <a:pt x="1832224" y="34549"/>
                    <a:pt x="1832224" y="77168"/>
                  </a:cubicBezTo>
                  <a:lnTo>
                    <a:pt x="1832224" y="905355"/>
                  </a:lnTo>
                  <a:cubicBezTo>
                    <a:pt x="1832224" y="947973"/>
                    <a:pt x="1797675" y="982523"/>
                    <a:pt x="1755056" y="982523"/>
                  </a:cubicBezTo>
                  <a:lnTo>
                    <a:pt x="77168" y="982523"/>
                  </a:lnTo>
                  <a:cubicBezTo>
                    <a:pt x="34549" y="982523"/>
                    <a:pt x="0" y="947973"/>
                    <a:pt x="0" y="905355"/>
                  </a:cubicBezTo>
                  <a:lnTo>
                    <a:pt x="0" y="77168"/>
                  </a:lnTo>
                  <a:cubicBezTo>
                    <a:pt x="0" y="34549"/>
                    <a:pt x="34549" y="0"/>
                    <a:pt x="77168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0" y="-47625"/>
              <a:ext cx="1832224" cy="1030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4"/>
          <p:cNvGrpSpPr/>
          <p:nvPr/>
        </p:nvGrpSpPr>
        <p:grpSpPr>
          <a:xfrm>
            <a:off x="12101810" y="3321061"/>
            <a:ext cx="4870332" cy="2820354"/>
            <a:chOff x="0" y="-47625"/>
            <a:chExt cx="1778911" cy="1030148"/>
          </a:xfrm>
        </p:grpSpPr>
        <p:sp>
          <p:nvSpPr>
            <p:cNvPr id="189" name="Google Shape;189;p4"/>
            <p:cNvSpPr/>
            <p:nvPr/>
          </p:nvSpPr>
          <p:spPr>
            <a:xfrm>
              <a:off x="0" y="0"/>
              <a:ext cx="1778911" cy="982523"/>
            </a:xfrm>
            <a:custGeom>
              <a:rect b="b" l="l" r="r" t="t"/>
              <a:pathLst>
                <a:path extrusionOk="0" h="982523" w="1778911">
                  <a:moveTo>
                    <a:pt x="79480" y="0"/>
                  </a:moveTo>
                  <a:lnTo>
                    <a:pt x="1699431" y="0"/>
                  </a:lnTo>
                  <a:cubicBezTo>
                    <a:pt x="1743326" y="0"/>
                    <a:pt x="1778911" y="35585"/>
                    <a:pt x="1778911" y="79480"/>
                  </a:cubicBezTo>
                  <a:lnTo>
                    <a:pt x="1778911" y="903042"/>
                  </a:lnTo>
                  <a:cubicBezTo>
                    <a:pt x="1778911" y="946938"/>
                    <a:pt x="1743326" y="982523"/>
                    <a:pt x="1699431" y="982523"/>
                  </a:cubicBezTo>
                  <a:lnTo>
                    <a:pt x="79480" y="982523"/>
                  </a:lnTo>
                  <a:cubicBezTo>
                    <a:pt x="35585" y="982523"/>
                    <a:pt x="0" y="946938"/>
                    <a:pt x="0" y="903042"/>
                  </a:cubicBezTo>
                  <a:lnTo>
                    <a:pt x="0" y="79480"/>
                  </a:lnTo>
                  <a:cubicBezTo>
                    <a:pt x="0" y="35585"/>
                    <a:pt x="35585" y="0"/>
                    <a:pt x="7948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0" y="-47625"/>
              <a:ext cx="1778911" cy="1030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4"/>
          <p:cNvGrpSpPr/>
          <p:nvPr/>
        </p:nvGrpSpPr>
        <p:grpSpPr>
          <a:xfrm>
            <a:off x="7118692" y="4440990"/>
            <a:ext cx="4050616" cy="1001272"/>
            <a:chOff x="0" y="-47625"/>
            <a:chExt cx="1479506" cy="365719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1479506" cy="318094"/>
            </a:xfrm>
            <a:custGeom>
              <a:rect b="b" l="l" r="r" t="t"/>
              <a:pathLst>
                <a:path extrusionOk="0" h="318094" w="1479506">
                  <a:moveTo>
                    <a:pt x="159047" y="0"/>
                  </a:moveTo>
                  <a:lnTo>
                    <a:pt x="1320459" y="0"/>
                  </a:lnTo>
                  <a:cubicBezTo>
                    <a:pt x="1362641" y="0"/>
                    <a:pt x="1403095" y="16757"/>
                    <a:pt x="1432922" y="46584"/>
                  </a:cubicBezTo>
                  <a:cubicBezTo>
                    <a:pt x="1462749" y="76411"/>
                    <a:pt x="1479506" y="116865"/>
                    <a:pt x="1479506" y="159047"/>
                  </a:cubicBezTo>
                  <a:lnTo>
                    <a:pt x="1479506" y="159047"/>
                  </a:lnTo>
                  <a:cubicBezTo>
                    <a:pt x="1479506" y="246886"/>
                    <a:pt x="1408298" y="318094"/>
                    <a:pt x="1320459" y="318094"/>
                  </a:cubicBezTo>
                  <a:lnTo>
                    <a:pt x="159047" y="318094"/>
                  </a:lnTo>
                  <a:cubicBezTo>
                    <a:pt x="71208" y="318094"/>
                    <a:pt x="0" y="246886"/>
                    <a:pt x="0" y="159047"/>
                  </a:cubicBezTo>
                  <a:lnTo>
                    <a:pt x="0" y="159047"/>
                  </a:lnTo>
                  <a:cubicBezTo>
                    <a:pt x="0" y="71208"/>
                    <a:pt x="71208" y="0"/>
                    <a:pt x="159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 txBox="1"/>
            <p:nvPr/>
          </p:nvSpPr>
          <p:spPr>
            <a:xfrm>
              <a:off x="0" y="-47625"/>
              <a:ext cx="1479506" cy="365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4"/>
          <p:cNvSpPr txBox="1"/>
          <p:nvPr/>
        </p:nvSpPr>
        <p:spPr>
          <a:xfrm>
            <a:off x="7118692" y="3876301"/>
            <a:ext cx="4050616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POINT 02.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7331966" y="4670565"/>
            <a:ext cx="362406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테이블, 열, 자료형, 제약조건 , 관계 등을 포함</a:t>
            </a:r>
            <a:endParaRPr/>
          </a:p>
        </p:txBody>
      </p:sp>
      <p:grpSp>
        <p:nvGrpSpPr>
          <p:cNvPr id="196" name="Google Shape;196;p4"/>
          <p:cNvGrpSpPr/>
          <p:nvPr/>
        </p:nvGrpSpPr>
        <p:grpSpPr>
          <a:xfrm>
            <a:off x="12464157" y="4440990"/>
            <a:ext cx="4050616" cy="1001272"/>
            <a:chOff x="0" y="-47625"/>
            <a:chExt cx="1479506" cy="365719"/>
          </a:xfrm>
        </p:grpSpPr>
        <p:sp>
          <p:nvSpPr>
            <p:cNvPr id="197" name="Google Shape;197;p4"/>
            <p:cNvSpPr/>
            <p:nvPr/>
          </p:nvSpPr>
          <p:spPr>
            <a:xfrm>
              <a:off x="0" y="0"/>
              <a:ext cx="1479506" cy="318094"/>
            </a:xfrm>
            <a:custGeom>
              <a:rect b="b" l="l" r="r" t="t"/>
              <a:pathLst>
                <a:path extrusionOk="0" h="318094" w="1479506">
                  <a:moveTo>
                    <a:pt x="159047" y="0"/>
                  </a:moveTo>
                  <a:lnTo>
                    <a:pt x="1320459" y="0"/>
                  </a:lnTo>
                  <a:cubicBezTo>
                    <a:pt x="1362641" y="0"/>
                    <a:pt x="1403095" y="16757"/>
                    <a:pt x="1432922" y="46584"/>
                  </a:cubicBezTo>
                  <a:cubicBezTo>
                    <a:pt x="1462749" y="76411"/>
                    <a:pt x="1479506" y="116865"/>
                    <a:pt x="1479506" y="159047"/>
                  </a:cubicBezTo>
                  <a:lnTo>
                    <a:pt x="1479506" y="159047"/>
                  </a:lnTo>
                  <a:cubicBezTo>
                    <a:pt x="1479506" y="246886"/>
                    <a:pt x="1408298" y="318094"/>
                    <a:pt x="1320459" y="318094"/>
                  </a:cubicBezTo>
                  <a:lnTo>
                    <a:pt x="159047" y="318094"/>
                  </a:lnTo>
                  <a:cubicBezTo>
                    <a:pt x="71208" y="318094"/>
                    <a:pt x="0" y="246886"/>
                    <a:pt x="0" y="159047"/>
                  </a:cubicBezTo>
                  <a:lnTo>
                    <a:pt x="0" y="159047"/>
                  </a:lnTo>
                  <a:cubicBezTo>
                    <a:pt x="0" y="71208"/>
                    <a:pt x="71208" y="0"/>
                    <a:pt x="159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 txBox="1"/>
            <p:nvPr/>
          </p:nvSpPr>
          <p:spPr>
            <a:xfrm>
              <a:off x="0" y="-47625"/>
              <a:ext cx="1479506" cy="365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4"/>
          <p:cNvSpPr txBox="1"/>
          <p:nvPr/>
        </p:nvSpPr>
        <p:spPr>
          <a:xfrm>
            <a:off x="12464157" y="3876301"/>
            <a:ext cx="4050616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POINT 03.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2677430" y="4670565"/>
            <a:ext cx="362406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 데이터가 아닌 데이터의 ‘틀’을 정의</a:t>
            </a:r>
            <a:endParaRPr/>
          </a:p>
        </p:txBody>
      </p:sp>
      <p:grpSp>
        <p:nvGrpSpPr>
          <p:cNvPr id="201" name="Google Shape;201;p4"/>
          <p:cNvGrpSpPr/>
          <p:nvPr/>
        </p:nvGrpSpPr>
        <p:grpSpPr>
          <a:xfrm>
            <a:off x="1795509" y="4457159"/>
            <a:ext cx="4050616" cy="1001272"/>
            <a:chOff x="0" y="-47625"/>
            <a:chExt cx="1479506" cy="365719"/>
          </a:xfrm>
        </p:grpSpPr>
        <p:sp>
          <p:nvSpPr>
            <p:cNvPr id="202" name="Google Shape;202;p4"/>
            <p:cNvSpPr/>
            <p:nvPr/>
          </p:nvSpPr>
          <p:spPr>
            <a:xfrm>
              <a:off x="0" y="0"/>
              <a:ext cx="1479506" cy="318094"/>
            </a:xfrm>
            <a:custGeom>
              <a:rect b="b" l="l" r="r" t="t"/>
              <a:pathLst>
                <a:path extrusionOk="0" h="318094" w="1479506">
                  <a:moveTo>
                    <a:pt x="159047" y="0"/>
                  </a:moveTo>
                  <a:lnTo>
                    <a:pt x="1320459" y="0"/>
                  </a:lnTo>
                  <a:cubicBezTo>
                    <a:pt x="1362641" y="0"/>
                    <a:pt x="1403095" y="16757"/>
                    <a:pt x="1432922" y="46584"/>
                  </a:cubicBezTo>
                  <a:cubicBezTo>
                    <a:pt x="1462749" y="76411"/>
                    <a:pt x="1479506" y="116865"/>
                    <a:pt x="1479506" y="159047"/>
                  </a:cubicBezTo>
                  <a:lnTo>
                    <a:pt x="1479506" y="159047"/>
                  </a:lnTo>
                  <a:cubicBezTo>
                    <a:pt x="1479506" y="246886"/>
                    <a:pt x="1408298" y="318094"/>
                    <a:pt x="1320459" y="318094"/>
                  </a:cubicBezTo>
                  <a:lnTo>
                    <a:pt x="159047" y="318094"/>
                  </a:lnTo>
                  <a:cubicBezTo>
                    <a:pt x="71208" y="318094"/>
                    <a:pt x="0" y="246886"/>
                    <a:pt x="0" y="159047"/>
                  </a:cubicBezTo>
                  <a:lnTo>
                    <a:pt x="0" y="159047"/>
                  </a:lnTo>
                  <a:cubicBezTo>
                    <a:pt x="0" y="71208"/>
                    <a:pt x="71208" y="0"/>
                    <a:pt x="159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0" y="-47625"/>
              <a:ext cx="1479506" cy="365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4"/>
          <p:cNvSpPr txBox="1"/>
          <p:nvPr/>
        </p:nvSpPr>
        <p:spPr>
          <a:xfrm>
            <a:off x="1932363" y="3784308"/>
            <a:ext cx="40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POINT 01.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2105519" y="4670565"/>
            <a:ext cx="362406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데이터베이스의 구조를 정의하는 설계도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2F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5"/>
          <p:cNvGrpSpPr/>
          <p:nvPr/>
        </p:nvGrpSpPr>
        <p:grpSpPr>
          <a:xfrm>
            <a:off x="324754" y="189348"/>
            <a:ext cx="17638491" cy="9652583"/>
            <a:chOff x="0" y="-47625"/>
            <a:chExt cx="4645529" cy="2542244"/>
          </a:xfrm>
        </p:grpSpPr>
        <p:sp>
          <p:nvSpPr>
            <p:cNvPr id="211" name="Google Shape;211;p5"/>
            <p:cNvSpPr/>
            <p:nvPr/>
          </p:nvSpPr>
          <p:spPr>
            <a:xfrm>
              <a:off x="0" y="0"/>
              <a:ext cx="4645528" cy="2494619"/>
            </a:xfrm>
            <a:custGeom>
              <a:rect b="b" l="l" r="r" t="t"/>
              <a:pathLst>
                <a:path extrusionOk="0" h="2494619" w="4645528">
                  <a:moveTo>
                    <a:pt x="15362" y="0"/>
                  </a:moveTo>
                  <a:lnTo>
                    <a:pt x="4630166" y="0"/>
                  </a:lnTo>
                  <a:cubicBezTo>
                    <a:pt x="4638651" y="0"/>
                    <a:pt x="4645528" y="6878"/>
                    <a:pt x="4645528" y="15362"/>
                  </a:cubicBezTo>
                  <a:lnTo>
                    <a:pt x="4645528" y="2479257"/>
                  </a:lnTo>
                  <a:cubicBezTo>
                    <a:pt x="4645528" y="2483331"/>
                    <a:pt x="4643910" y="2487238"/>
                    <a:pt x="4641029" y="2490120"/>
                  </a:cubicBezTo>
                  <a:cubicBezTo>
                    <a:pt x="4638148" y="2493001"/>
                    <a:pt x="4634240" y="2494619"/>
                    <a:pt x="4630166" y="2494619"/>
                  </a:cubicBezTo>
                  <a:lnTo>
                    <a:pt x="15362" y="2494619"/>
                  </a:lnTo>
                  <a:cubicBezTo>
                    <a:pt x="6878" y="2494619"/>
                    <a:pt x="0" y="2487741"/>
                    <a:pt x="0" y="2479257"/>
                  </a:cubicBezTo>
                  <a:lnTo>
                    <a:pt x="0" y="15362"/>
                  </a:lnTo>
                  <a:cubicBezTo>
                    <a:pt x="0" y="11288"/>
                    <a:pt x="1619" y="7380"/>
                    <a:pt x="4500" y="4500"/>
                  </a:cubicBezTo>
                  <a:cubicBezTo>
                    <a:pt x="7380" y="1619"/>
                    <a:pt x="11288" y="0"/>
                    <a:pt x="1536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 txBox="1"/>
            <p:nvPr/>
          </p:nvSpPr>
          <p:spPr>
            <a:xfrm>
              <a:off x="0" y="-47625"/>
              <a:ext cx="4645529" cy="2542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5"/>
          <p:cNvGrpSpPr/>
          <p:nvPr/>
        </p:nvGrpSpPr>
        <p:grpSpPr>
          <a:xfrm>
            <a:off x="3933307" y="3299954"/>
            <a:ext cx="2889094" cy="1001272"/>
            <a:chOff x="0" y="-47625"/>
            <a:chExt cx="1055255" cy="365719"/>
          </a:xfrm>
        </p:grpSpPr>
        <p:sp>
          <p:nvSpPr>
            <p:cNvPr id="214" name="Google Shape;214;p5"/>
            <p:cNvSpPr/>
            <p:nvPr/>
          </p:nvSpPr>
          <p:spPr>
            <a:xfrm>
              <a:off x="0" y="0"/>
              <a:ext cx="1055255" cy="318094"/>
            </a:xfrm>
            <a:custGeom>
              <a:rect b="b" l="l" r="r" t="t"/>
              <a:pathLst>
                <a:path extrusionOk="0" h="318094" w="1055255">
                  <a:moveTo>
                    <a:pt x="159047" y="0"/>
                  </a:moveTo>
                  <a:lnTo>
                    <a:pt x="896208" y="0"/>
                  </a:lnTo>
                  <a:cubicBezTo>
                    <a:pt x="984047" y="0"/>
                    <a:pt x="1055255" y="71208"/>
                    <a:pt x="1055255" y="159047"/>
                  </a:cubicBezTo>
                  <a:lnTo>
                    <a:pt x="1055255" y="159047"/>
                  </a:lnTo>
                  <a:cubicBezTo>
                    <a:pt x="1055255" y="201229"/>
                    <a:pt x="1038498" y="241683"/>
                    <a:pt x="1008671" y="271510"/>
                  </a:cubicBezTo>
                  <a:cubicBezTo>
                    <a:pt x="978844" y="301337"/>
                    <a:pt x="938390" y="318094"/>
                    <a:pt x="896208" y="318094"/>
                  </a:cubicBezTo>
                  <a:lnTo>
                    <a:pt x="159047" y="318094"/>
                  </a:lnTo>
                  <a:cubicBezTo>
                    <a:pt x="71208" y="318094"/>
                    <a:pt x="0" y="246886"/>
                    <a:pt x="0" y="159047"/>
                  </a:cubicBezTo>
                  <a:lnTo>
                    <a:pt x="0" y="159047"/>
                  </a:lnTo>
                  <a:cubicBezTo>
                    <a:pt x="0" y="71208"/>
                    <a:pt x="71208" y="0"/>
                    <a:pt x="15904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 txBox="1"/>
            <p:nvPr/>
          </p:nvSpPr>
          <p:spPr>
            <a:xfrm>
              <a:off x="0" y="-47625"/>
              <a:ext cx="1055255" cy="365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5"/>
          <p:cNvSpPr/>
          <p:nvPr/>
        </p:nvSpPr>
        <p:spPr>
          <a:xfrm>
            <a:off x="16972142" y="833462"/>
            <a:ext cx="384404" cy="371824"/>
          </a:xfrm>
          <a:custGeom>
            <a:rect b="b" l="l" r="r" t="t"/>
            <a:pathLst>
              <a:path extrusionOk="0" h="371824" w="384404">
                <a:moveTo>
                  <a:pt x="0" y="0"/>
                </a:moveTo>
                <a:lnTo>
                  <a:pt x="384404" y="0"/>
                </a:lnTo>
                <a:lnTo>
                  <a:pt x="384404" y="371823"/>
                </a:lnTo>
                <a:lnTo>
                  <a:pt x="0" y="37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5"/>
          <p:cNvSpPr/>
          <p:nvPr/>
        </p:nvSpPr>
        <p:spPr>
          <a:xfrm>
            <a:off x="974420" y="912857"/>
            <a:ext cx="436460" cy="292428"/>
          </a:xfrm>
          <a:custGeom>
            <a:rect b="b" l="l" r="r" t="t"/>
            <a:pathLst>
              <a:path extrusionOk="0" h="292428" w="436460">
                <a:moveTo>
                  <a:pt x="0" y="0"/>
                </a:moveTo>
                <a:lnTo>
                  <a:pt x="436460" y="0"/>
                </a:lnTo>
                <a:lnTo>
                  <a:pt x="436460" y="292428"/>
                </a:lnTo>
                <a:lnTo>
                  <a:pt x="0" y="29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5"/>
          <p:cNvSpPr txBox="1"/>
          <p:nvPr/>
        </p:nvSpPr>
        <p:spPr>
          <a:xfrm>
            <a:off x="6125755" y="946580"/>
            <a:ext cx="6036490" cy="349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BUSINESS PRESENTATION</a:t>
            </a:r>
            <a:endParaRPr/>
          </a:p>
        </p:txBody>
      </p:sp>
      <p:grpSp>
        <p:nvGrpSpPr>
          <p:cNvPr id="219" name="Google Shape;219;p5"/>
          <p:cNvGrpSpPr/>
          <p:nvPr/>
        </p:nvGrpSpPr>
        <p:grpSpPr>
          <a:xfrm>
            <a:off x="1363369" y="1611596"/>
            <a:ext cx="15561262" cy="1426600"/>
            <a:chOff x="0" y="-47625"/>
            <a:chExt cx="5683822" cy="521072"/>
          </a:xfrm>
        </p:grpSpPr>
        <p:sp>
          <p:nvSpPr>
            <p:cNvPr id="220" name="Google Shape;220;p5"/>
            <p:cNvSpPr/>
            <p:nvPr/>
          </p:nvSpPr>
          <p:spPr>
            <a:xfrm>
              <a:off x="0" y="0"/>
              <a:ext cx="5683822" cy="473447"/>
            </a:xfrm>
            <a:custGeom>
              <a:rect b="b" l="l" r="r" t="t"/>
              <a:pathLst>
                <a:path extrusionOk="0" h="473447" w="5683822">
                  <a:moveTo>
                    <a:pt x="49751" y="0"/>
                  </a:moveTo>
                  <a:lnTo>
                    <a:pt x="5634071" y="0"/>
                  </a:lnTo>
                  <a:cubicBezTo>
                    <a:pt x="5647266" y="0"/>
                    <a:pt x="5659920" y="5242"/>
                    <a:pt x="5669250" y="14572"/>
                  </a:cubicBezTo>
                  <a:cubicBezTo>
                    <a:pt x="5678581" y="23902"/>
                    <a:pt x="5683822" y="36556"/>
                    <a:pt x="5683822" y="49751"/>
                  </a:cubicBezTo>
                  <a:lnTo>
                    <a:pt x="5683822" y="423696"/>
                  </a:lnTo>
                  <a:cubicBezTo>
                    <a:pt x="5683822" y="436890"/>
                    <a:pt x="5678581" y="449545"/>
                    <a:pt x="5669250" y="458875"/>
                  </a:cubicBezTo>
                  <a:cubicBezTo>
                    <a:pt x="5659920" y="468205"/>
                    <a:pt x="5647266" y="473447"/>
                    <a:pt x="5634071" y="473447"/>
                  </a:cubicBezTo>
                  <a:lnTo>
                    <a:pt x="49751" y="473447"/>
                  </a:lnTo>
                  <a:cubicBezTo>
                    <a:pt x="36556" y="473447"/>
                    <a:pt x="23902" y="468205"/>
                    <a:pt x="14572" y="458875"/>
                  </a:cubicBezTo>
                  <a:cubicBezTo>
                    <a:pt x="5242" y="449545"/>
                    <a:pt x="0" y="436890"/>
                    <a:pt x="0" y="423696"/>
                  </a:cubicBezTo>
                  <a:lnTo>
                    <a:pt x="0" y="49751"/>
                  </a:lnTo>
                  <a:cubicBezTo>
                    <a:pt x="0" y="36556"/>
                    <a:pt x="5242" y="23902"/>
                    <a:pt x="14572" y="14572"/>
                  </a:cubicBezTo>
                  <a:cubicBezTo>
                    <a:pt x="23902" y="5242"/>
                    <a:pt x="36556" y="0"/>
                    <a:pt x="49751" y="0"/>
                  </a:cubicBezTo>
                  <a:close/>
                </a:path>
              </a:pathLst>
            </a:custGeom>
            <a:solidFill>
              <a:srgbClr val="EA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 txBox="1"/>
            <p:nvPr/>
          </p:nvSpPr>
          <p:spPr>
            <a:xfrm>
              <a:off x="0" y="-47625"/>
              <a:ext cx="5683822" cy="52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5"/>
          <p:cNvSpPr txBox="1"/>
          <p:nvPr/>
        </p:nvSpPr>
        <p:spPr>
          <a:xfrm>
            <a:off x="1892245" y="1917773"/>
            <a:ext cx="1111150" cy="84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2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3241315" y="2031420"/>
            <a:ext cx="13037666" cy="774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스키마 구성 요소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4140107" y="3648606"/>
            <a:ext cx="2475496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항목</a:t>
            </a:r>
            <a:endParaRPr/>
          </a:p>
        </p:txBody>
      </p:sp>
      <p:grpSp>
        <p:nvGrpSpPr>
          <p:cNvPr id="225" name="Google Shape;225;p5"/>
          <p:cNvGrpSpPr/>
          <p:nvPr/>
        </p:nvGrpSpPr>
        <p:grpSpPr>
          <a:xfrm>
            <a:off x="10982774" y="3291029"/>
            <a:ext cx="4303660" cy="1001272"/>
            <a:chOff x="0" y="-47625"/>
            <a:chExt cx="1571932" cy="365719"/>
          </a:xfrm>
        </p:grpSpPr>
        <p:sp>
          <p:nvSpPr>
            <p:cNvPr id="226" name="Google Shape;226;p5"/>
            <p:cNvSpPr/>
            <p:nvPr/>
          </p:nvSpPr>
          <p:spPr>
            <a:xfrm>
              <a:off x="0" y="0"/>
              <a:ext cx="1571932" cy="318094"/>
            </a:xfrm>
            <a:custGeom>
              <a:rect b="b" l="l" r="r" t="t"/>
              <a:pathLst>
                <a:path extrusionOk="0" h="318094" w="1571932">
                  <a:moveTo>
                    <a:pt x="159047" y="0"/>
                  </a:moveTo>
                  <a:lnTo>
                    <a:pt x="1412885" y="0"/>
                  </a:lnTo>
                  <a:cubicBezTo>
                    <a:pt x="1500724" y="0"/>
                    <a:pt x="1571932" y="71208"/>
                    <a:pt x="1571932" y="159047"/>
                  </a:cubicBezTo>
                  <a:lnTo>
                    <a:pt x="1571932" y="159047"/>
                  </a:lnTo>
                  <a:cubicBezTo>
                    <a:pt x="1571932" y="246886"/>
                    <a:pt x="1500724" y="318094"/>
                    <a:pt x="1412885" y="318094"/>
                  </a:cubicBezTo>
                  <a:lnTo>
                    <a:pt x="159047" y="318094"/>
                  </a:lnTo>
                  <a:cubicBezTo>
                    <a:pt x="71208" y="318094"/>
                    <a:pt x="0" y="246886"/>
                    <a:pt x="0" y="159047"/>
                  </a:cubicBezTo>
                  <a:lnTo>
                    <a:pt x="0" y="159047"/>
                  </a:lnTo>
                  <a:cubicBezTo>
                    <a:pt x="0" y="71208"/>
                    <a:pt x="71208" y="0"/>
                    <a:pt x="15904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0" y="-47625"/>
              <a:ext cx="1571932" cy="365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5"/>
          <p:cNvSpPr txBox="1"/>
          <p:nvPr/>
        </p:nvSpPr>
        <p:spPr>
          <a:xfrm>
            <a:off x="11283180" y="3676371"/>
            <a:ext cx="3702848" cy="3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상세 내용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4139979" y="4653651"/>
            <a:ext cx="2475496" cy="32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테이블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11446082" y="4756804"/>
            <a:ext cx="3702848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데이터를 저장하는 구조적 단위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4139979" y="5869493"/>
            <a:ext cx="2475496" cy="32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열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11304715" y="5725348"/>
            <a:ext cx="3702848" cy="611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각 데이터 속성</a:t>
            </a:r>
            <a:endParaRPr b="0" i="0" sz="1800" u="none" cap="none" strike="noStrik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(예 : 이름, 나이, 이메일)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4140107" y="7075459"/>
            <a:ext cx="2475496" cy="32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11841641" y="7101494"/>
            <a:ext cx="3702848" cy="29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한 개의 실제 데이터 레코드.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4139979" y="8541673"/>
            <a:ext cx="2475496" cy="32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외래키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Foregin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11841641" y="8559453"/>
            <a:ext cx="3702848" cy="29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다른 테이블과의 관계를 정의</a:t>
            </a:r>
            <a:endParaRPr b="0" i="0" sz="1800" u="none" cap="none" strike="noStrik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5"/>
          <p:cNvCxnSpPr/>
          <p:nvPr/>
        </p:nvCxnSpPr>
        <p:spPr>
          <a:xfrm>
            <a:off x="4305159" y="5347735"/>
            <a:ext cx="2310316" cy="9525"/>
          </a:xfrm>
          <a:prstGeom prst="straightConnector1">
            <a:avLst/>
          </a:prstGeom>
          <a:noFill/>
          <a:ln cap="rnd" cmpd="sng" w="19050">
            <a:solidFill>
              <a:srgbClr val="6D97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8" name="Google Shape;238;p5"/>
          <p:cNvCxnSpPr/>
          <p:nvPr/>
        </p:nvCxnSpPr>
        <p:spPr>
          <a:xfrm>
            <a:off x="4305159" y="6696397"/>
            <a:ext cx="2310316" cy="0"/>
          </a:xfrm>
          <a:prstGeom prst="straightConnector1">
            <a:avLst/>
          </a:prstGeom>
          <a:noFill/>
          <a:ln cap="rnd" cmpd="sng" w="19050">
            <a:solidFill>
              <a:srgbClr val="6D97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9" name="Google Shape;239;p5"/>
          <p:cNvCxnSpPr/>
          <p:nvPr/>
        </p:nvCxnSpPr>
        <p:spPr>
          <a:xfrm>
            <a:off x="11442219" y="6696397"/>
            <a:ext cx="3384769" cy="0"/>
          </a:xfrm>
          <a:prstGeom prst="straightConnector1">
            <a:avLst/>
          </a:prstGeom>
          <a:noFill/>
          <a:ln cap="rnd" cmpd="sng" w="19050">
            <a:solidFill>
              <a:srgbClr val="6D97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40" name="Google Shape;240;p5"/>
          <p:cNvCxnSpPr/>
          <p:nvPr/>
        </p:nvCxnSpPr>
        <p:spPr>
          <a:xfrm>
            <a:off x="11463755" y="7941598"/>
            <a:ext cx="3384769" cy="0"/>
          </a:xfrm>
          <a:prstGeom prst="straightConnector1">
            <a:avLst/>
          </a:prstGeom>
          <a:noFill/>
          <a:ln cap="rnd" cmpd="sng" w="19050">
            <a:solidFill>
              <a:srgbClr val="6D97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41" name="Google Shape;241;p5"/>
          <p:cNvCxnSpPr/>
          <p:nvPr/>
        </p:nvCxnSpPr>
        <p:spPr>
          <a:xfrm>
            <a:off x="11463755" y="5424540"/>
            <a:ext cx="3384769" cy="0"/>
          </a:xfrm>
          <a:prstGeom prst="straightConnector1">
            <a:avLst/>
          </a:prstGeom>
          <a:noFill/>
          <a:ln cap="rnd" cmpd="sng" w="19050">
            <a:solidFill>
              <a:srgbClr val="6D97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42" name="Google Shape;242;p5"/>
          <p:cNvCxnSpPr/>
          <p:nvPr/>
        </p:nvCxnSpPr>
        <p:spPr>
          <a:xfrm>
            <a:off x="4305159" y="7941598"/>
            <a:ext cx="2310316" cy="0"/>
          </a:xfrm>
          <a:prstGeom prst="straightConnector1">
            <a:avLst/>
          </a:prstGeom>
          <a:noFill/>
          <a:ln cap="rnd" cmpd="sng" w="19050">
            <a:solidFill>
              <a:srgbClr val="6D9799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6"/>
          <p:cNvGrpSpPr/>
          <p:nvPr/>
        </p:nvGrpSpPr>
        <p:grpSpPr>
          <a:xfrm>
            <a:off x="324754" y="226795"/>
            <a:ext cx="17638491" cy="9652583"/>
            <a:chOff x="0" y="-47625"/>
            <a:chExt cx="4645529" cy="2542244"/>
          </a:xfrm>
        </p:grpSpPr>
        <p:sp>
          <p:nvSpPr>
            <p:cNvPr id="248" name="Google Shape;248;p6"/>
            <p:cNvSpPr/>
            <p:nvPr/>
          </p:nvSpPr>
          <p:spPr>
            <a:xfrm>
              <a:off x="0" y="0"/>
              <a:ext cx="4645528" cy="2494619"/>
            </a:xfrm>
            <a:custGeom>
              <a:rect b="b" l="l" r="r" t="t"/>
              <a:pathLst>
                <a:path extrusionOk="0" h="2494619" w="4645528">
                  <a:moveTo>
                    <a:pt x="15362" y="0"/>
                  </a:moveTo>
                  <a:lnTo>
                    <a:pt x="4630166" y="0"/>
                  </a:lnTo>
                  <a:cubicBezTo>
                    <a:pt x="4638651" y="0"/>
                    <a:pt x="4645528" y="6878"/>
                    <a:pt x="4645528" y="15362"/>
                  </a:cubicBezTo>
                  <a:lnTo>
                    <a:pt x="4645528" y="2479257"/>
                  </a:lnTo>
                  <a:cubicBezTo>
                    <a:pt x="4645528" y="2483331"/>
                    <a:pt x="4643910" y="2487238"/>
                    <a:pt x="4641029" y="2490120"/>
                  </a:cubicBezTo>
                  <a:cubicBezTo>
                    <a:pt x="4638148" y="2493001"/>
                    <a:pt x="4634240" y="2494619"/>
                    <a:pt x="4630166" y="2494619"/>
                  </a:cubicBezTo>
                  <a:lnTo>
                    <a:pt x="15362" y="2494619"/>
                  </a:lnTo>
                  <a:cubicBezTo>
                    <a:pt x="6878" y="2494619"/>
                    <a:pt x="0" y="2487741"/>
                    <a:pt x="0" y="2479257"/>
                  </a:cubicBezTo>
                  <a:lnTo>
                    <a:pt x="0" y="15362"/>
                  </a:lnTo>
                  <a:cubicBezTo>
                    <a:pt x="0" y="11288"/>
                    <a:pt x="1619" y="7380"/>
                    <a:pt x="4500" y="4500"/>
                  </a:cubicBezTo>
                  <a:cubicBezTo>
                    <a:pt x="7380" y="1619"/>
                    <a:pt x="11288" y="0"/>
                    <a:pt x="1536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6"/>
            <p:cNvSpPr txBox="1"/>
            <p:nvPr/>
          </p:nvSpPr>
          <p:spPr>
            <a:xfrm>
              <a:off x="0" y="-47625"/>
              <a:ext cx="4645529" cy="2542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6"/>
          <p:cNvSpPr/>
          <p:nvPr/>
        </p:nvSpPr>
        <p:spPr>
          <a:xfrm>
            <a:off x="16972142" y="833462"/>
            <a:ext cx="384404" cy="371824"/>
          </a:xfrm>
          <a:custGeom>
            <a:rect b="b" l="l" r="r" t="t"/>
            <a:pathLst>
              <a:path extrusionOk="0" h="371824" w="384404">
                <a:moveTo>
                  <a:pt x="0" y="0"/>
                </a:moveTo>
                <a:lnTo>
                  <a:pt x="384404" y="0"/>
                </a:lnTo>
                <a:lnTo>
                  <a:pt x="384404" y="371823"/>
                </a:lnTo>
                <a:lnTo>
                  <a:pt x="0" y="37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6"/>
          <p:cNvSpPr/>
          <p:nvPr/>
        </p:nvSpPr>
        <p:spPr>
          <a:xfrm>
            <a:off x="974420" y="912857"/>
            <a:ext cx="436460" cy="292428"/>
          </a:xfrm>
          <a:custGeom>
            <a:rect b="b" l="l" r="r" t="t"/>
            <a:pathLst>
              <a:path extrusionOk="0" h="292428" w="436460">
                <a:moveTo>
                  <a:pt x="0" y="0"/>
                </a:moveTo>
                <a:lnTo>
                  <a:pt x="436460" y="0"/>
                </a:lnTo>
                <a:lnTo>
                  <a:pt x="436460" y="292428"/>
                </a:lnTo>
                <a:lnTo>
                  <a:pt x="0" y="29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2" name="Google Shape;252;p6"/>
          <p:cNvGrpSpPr/>
          <p:nvPr/>
        </p:nvGrpSpPr>
        <p:grpSpPr>
          <a:xfrm>
            <a:off x="1363369" y="1611596"/>
            <a:ext cx="15561262" cy="1426600"/>
            <a:chOff x="0" y="-47625"/>
            <a:chExt cx="5683822" cy="521072"/>
          </a:xfrm>
        </p:grpSpPr>
        <p:sp>
          <p:nvSpPr>
            <p:cNvPr id="253" name="Google Shape;253;p6"/>
            <p:cNvSpPr/>
            <p:nvPr/>
          </p:nvSpPr>
          <p:spPr>
            <a:xfrm>
              <a:off x="0" y="0"/>
              <a:ext cx="5683822" cy="473447"/>
            </a:xfrm>
            <a:custGeom>
              <a:rect b="b" l="l" r="r" t="t"/>
              <a:pathLst>
                <a:path extrusionOk="0" h="473447" w="5683822">
                  <a:moveTo>
                    <a:pt x="49751" y="0"/>
                  </a:moveTo>
                  <a:lnTo>
                    <a:pt x="5634071" y="0"/>
                  </a:lnTo>
                  <a:cubicBezTo>
                    <a:pt x="5647266" y="0"/>
                    <a:pt x="5659920" y="5242"/>
                    <a:pt x="5669250" y="14572"/>
                  </a:cubicBezTo>
                  <a:cubicBezTo>
                    <a:pt x="5678581" y="23902"/>
                    <a:pt x="5683822" y="36556"/>
                    <a:pt x="5683822" y="49751"/>
                  </a:cubicBezTo>
                  <a:lnTo>
                    <a:pt x="5683822" y="423696"/>
                  </a:lnTo>
                  <a:cubicBezTo>
                    <a:pt x="5683822" y="436890"/>
                    <a:pt x="5678581" y="449545"/>
                    <a:pt x="5669250" y="458875"/>
                  </a:cubicBezTo>
                  <a:cubicBezTo>
                    <a:pt x="5659920" y="468205"/>
                    <a:pt x="5647266" y="473447"/>
                    <a:pt x="5634071" y="473447"/>
                  </a:cubicBezTo>
                  <a:lnTo>
                    <a:pt x="49751" y="473447"/>
                  </a:lnTo>
                  <a:cubicBezTo>
                    <a:pt x="36556" y="473447"/>
                    <a:pt x="23902" y="468205"/>
                    <a:pt x="14572" y="458875"/>
                  </a:cubicBezTo>
                  <a:cubicBezTo>
                    <a:pt x="5242" y="449545"/>
                    <a:pt x="0" y="436890"/>
                    <a:pt x="0" y="423696"/>
                  </a:cubicBezTo>
                  <a:lnTo>
                    <a:pt x="0" y="49751"/>
                  </a:lnTo>
                  <a:cubicBezTo>
                    <a:pt x="0" y="36556"/>
                    <a:pt x="5242" y="23902"/>
                    <a:pt x="14572" y="14572"/>
                  </a:cubicBezTo>
                  <a:cubicBezTo>
                    <a:pt x="23902" y="5242"/>
                    <a:pt x="36556" y="0"/>
                    <a:pt x="49751" y="0"/>
                  </a:cubicBezTo>
                  <a:close/>
                </a:path>
              </a:pathLst>
            </a:custGeom>
            <a:solidFill>
              <a:srgbClr val="EA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0" y="-47625"/>
              <a:ext cx="5683822" cy="52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6"/>
          <p:cNvGrpSpPr/>
          <p:nvPr/>
        </p:nvGrpSpPr>
        <p:grpSpPr>
          <a:xfrm>
            <a:off x="1388128" y="4055810"/>
            <a:ext cx="15489995" cy="1687219"/>
            <a:chOff x="0" y="-47625"/>
            <a:chExt cx="5657792" cy="616265"/>
          </a:xfrm>
        </p:grpSpPr>
        <p:sp>
          <p:nvSpPr>
            <p:cNvPr id="256" name="Google Shape;256;p6"/>
            <p:cNvSpPr/>
            <p:nvPr/>
          </p:nvSpPr>
          <p:spPr>
            <a:xfrm>
              <a:off x="0" y="0"/>
              <a:ext cx="5657791" cy="568640"/>
            </a:xfrm>
            <a:custGeom>
              <a:rect b="b" l="l" r="r" t="t"/>
              <a:pathLst>
                <a:path extrusionOk="0" h="568640" w="5657791">
                  <a:moveTo>
                    <a:pt x="24990" y="0"/>
                  </a:moveTo>
                  <a:lnTo>
                    <a:pt x="5632802" y="0"/>
                  </a:lnTo>
                  <a:cubicBezTo>
                    <a:pt x="5639429" y="0"/>
                    <a:pt x="5645786" y="2633"/>
                    <a:pt x="5650472" y="7319"/>
                  </a:cubicBezTo>
                  <a:cubicBezTo>
                    <a:pt x="5655159" y="12006"/>
                    <a:pt x="5657791" y="18362"/>
                    <a:pt x="5657791" y="24990"/>
                  </a:cubicBezTo>
                  <a:lnTo>
                    <a:pt x="5657791" y="543650"/>
                  </a:lnTo>
                  <a:cubicBezTo>
                    <a:pt x="5657791" y="557451"/>
                    <a:pt x="5646603" y="568640"/>
                    <a:pt x="5632802" y="568640"/>
                  </a:cubicBezTo>
                  <a:lnTo>
                    <a:pt x="24990" y="568640"/>
                  </a:lnTo>
                  <a:cubicBezTo>
                    <a:pt x="11188" y="568640"/>
                    <a:pt x="0" y="557451"/>
                    <a:pt x="0" y="543650"/>
                  </a:cubicBezTo>
                  <a:lnTo>
                    <a:pt x="0" y="24990"/>
                  </a:lnTo>
                  <a:cubicBezTo>
                    <a:pt x="0" y="18362"/>
                    <a:pt x="2633" y="12006"/>
                    <a:pt x="7319" y="7319"/>
                  </a:cubicBezTo>
                  <a:cubicBezTo>
                    <a:pt x="12006" y="2633"/>
                    <a:pt x="18362" y="0"/>
                    <a:pt x="24990" y="0"/>
                  </a:cubicBezTo>
                  <a:close/>
                </a:path>
              </a:pathLst>
            </a:custGeom>
            <a:solidFill>
              <a:srgbClr val="F2F2F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6"/>
            <p:cNvSpPr txBox="1"/>
            <p:nvPr/>
          </p:nvSpPr>
          <p:spPr>
            <a:xfrm>
              <a:off x="0" y="-47625"/>
              <a:ext cx="5657792" cy="61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6"/>
          <p:cNvGrpSpPr/>
          <p:nvPr/>
        </p:nvGrpSpPr>
        <p:grpSpPr>
          <a:xfrm>
            <a:off x="1375250" y="6164350"/>
            <a:ext cx="15561168" cy="2304556"/>
            <a:chOff x="0" y="-47625"/>
            <a:chExt cx="5683822" cy="754405"/>
          </a:xfrm>
        </p:grpSpPr>
        <p:sp>
          <p:nvSpPr>
            <p:cNvPr id="259" name="Google Shape;259;p6"/>
            <p:cNvSpPr/>
            <p:nvPr/>
          </p:nvSpPr>
          <p:spPr>
            <a:xfrm>
              <a:off x="0" y="0"/>
              <a:ext cx="5683822" cy="706780"/>
            </a:xfrm>
            <a:custGeom>
              <a:rect b="b" l="l" r="r" t="t"/>
              <a:pathLst>
                <a:path extrusionOk="0" h="706780" w="5683822">
                  <a:moveTo>
                    <a:pt x="24876" y="0"/>
                  </a:moveTo>
                  <a:lnTo>
                    <a:pt x="5658946" y="0"/>
                  </a:lnTo>
                  <a:cubicBezTo>
                    <a:pt x="5665544" y="0"/>
                    <a:pt x="5671871" y="2621"/>
                    <a:pt x="5676536" y="7286"/>
                  </a:cubicBezTo>
                  <a:cubicBezTo>
                    <a:pt x="5681201" y="11951"/>
                    <a:pt x="5683822" y="18278"/>
                    <a:pt x="5683822" y="24876"/>
                  </a:cubicBezTo>
                  <a:lnTo>
                    <a:pt x="5683822" y="681905"/>
                  </a:lnTo>
                  <a:cubicBezTo>
                    <a:pt x="5683822" y="688502"/>
                    <a:pt x="5681201" y="694829"/>
                    <a:pt x="5676536" y="699495"/>
                  </a:cubicBezTo>
                  <a:cubicBezTo>
                    <a:pt x="5671871" y="704160"/>
                    <a:pt x="5665544" y="706780"/>
                    <a:pt x="5658946" y="706780"/>
                  </a:cubicBezTo>
                  <a:lnTo>
                    <a:pt x="24876" y="706780"/>
                  </a:lnTo>
                  <a:cubicBezTo>
                    <a:pt x="11137" y="706780"/>
                    <a:pt x="0" y="695643"/>
                    <a:pt x="0" y="681905"/>
                  </a:cubicBezTo>
                  <a:lnTo>
                    <a:pt x="0" y="24876"/>
                  </a:lnTo>
                  <a:cubicBezTo>
                    <a:pt x="0" y="18278"/>
                    <a:pt x="2621" y="11951"/>
                    <a:pt x="7286" y="7286"/>
                  </a:cubicBezTo>
                  <a:cubicBezTo>
                    <a:pt x="11951" y="2621"/>
                    <a:pt x="18278" y="0"/>
                    <a:pt x="24876" y="0"/>
                  </a:cubicBezTo>
                  <a:close/>
                </a:path>
              </a:pathLst>
            </a:custGeom>
            <a:solidFill>
              <a:srgbClr val="F2F2F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6"/>
            <p:cNvSpPr txBox="1"/>
            <p:nvPr/>
          </p:nvSpPr>
          <p:spPr>
            <a:xfrm>
              <a:off x="0" y="-47625"/>
              <a:ext cx="5683822" cy="754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6"/>
          <p:cNvSpPr txBox="1"/>
          <p:nvPr/>
        </p:nvSpPr>
        <p:spPr>
          <a:xfrm>
            <a:off x="6125755" y="946580"/>
            <a:ext cx="6036490" cy="349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BUSINESS PRESENTATION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1892245" y="1917773"/>
            <a:ext cx="1111150" cy="84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2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3241315" y="2031420"/>
            <a:ext cx="13037666" cy="774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보험금 청구 시 필요한 주요 서류 목록</a:t>
            </a:r>
            <a:endParaRPr/>
          </a:p>
        </p:txBody>
      </p:sp>
      <p:sp>
        <p:nvSpPr>
          <p:cNvPr id="264" name="Google Shape;264;p6"/>
          <p:cNvSpPr txBox="1"/>
          <p:nvPr/>
        </p:nvSpPr>
        <p:spPr>
          <a:xfrm>
            <a:off x="5685788" y="4329614"/>
            <a:ext cx="10593193" cy="1184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보험금 청구서 ( 보험가입자 정보, 보험금 청구 사유, 계좌 정보)  → OCR로 기본 정보 자동 추출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신분증 사본 (본인 확인용) → OCR/AI 로 이름, 주민번호 자동 인식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통장 사본 ( 입금 계좌 확인) → 이미지 인식 + 계좌번호 추출</a:t>
            </a:r>
            <a:endParaRPr/>
          </a:p>
        </p:txBody>
      </p:sp>
      <p:sp>
        <p:nvSpPr>
          <p:cNvPr id="265" name="Google Shape;265;p6"/>
          <p:cNvSpPr txBox="1"/>
          <p:nvPr/>
        </p:nvSpPr>
        <p:spPr>
          <a:xfrm>
            <a:off x="2168681" y="4697372"/>
            <a:ext cx="329469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기본 서류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5831035" y="6423814"/>
            <a:ext cx="10593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진단서 (진단명, 발병일, 병명, 코드(ICD)  → NLP로 병명코드 매핑 자동화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진료비 세부 내역서 (진료 항목별 비용)  → 표 구조 OCR + 금액 필드 인식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입퇴원 확인서 → 입원 기간, 병명 →  날짜 정보 자동 추출로 보험 조건 매칭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처방전 (약품명, 복용기간) → 악품명 데이터베이스 연동 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2168681" y="7207886"/>
            <a:ext cx="329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의료 관련 서류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2F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7"/>
          <p:cNvGrpSpPr/>
          <p:nvPr/>
        </p:nvGrpSpPr>
        <p:grpSpPr>
          <a:xfrm>
            <a:off x="324754" y="226795"/>
            <a:ext cx="17638491" cy="9652583"/>
            <a:chOff x="0" y="-47625"/>
            <a:chExt cx="4645529" cy="2542244"/>
          </a:xfrm>
        </p:grpSpPr>
        <p:sp>
          <p:nvSpPr>
            <p:cNvPr id="273" name="Google Shape;273;p7"/>
            <p:cNvSpPr/>
            <p:nvPr/>
          </p:nvSpPr>
          <p:spPr>
            <a:xfrm>
              <a:off x="0" y="0"/>
              <a:ext cx="4645528" cy="2494619"/>
            </a:xfrm>
            <a:custGeom>
              <a:rect b="b" l="l" r="r" t="t"/>
              <a:pathLst>
                <a:path extrusionOk="0" h="2494619" w="4645528">
                  <a:moveTo>
                    <a:pt x="15362" y="0"/>
                  </a:moveTo>
                  <a:lnTo>
                    <a:pt x="4630166" y="0"/>
                  </a:lnTo>
                  <a:cubicBezTo>
                    <a:pt x="4638651" y="0"/>
                    <a:pt x="4645528" y="6878"/>
                    <a:pt x="4645528" y="15362"/>
                  </a:cubicBezTo>
                  <a:lnTo>
                    <a:pt x="4645528" y="2479257"/>
                  </a:lnTo>
                  <a:cubicBezTo>
                    <a:pt x="4645528" y="2483331"/>
                    <a:pt x="4643910" y="2487238"/>
                    <a:pt x="4641029" y="2490120"/>
                  </a:cubicBezTo>
                  <a:cubicBezTo>
                    <a:pt x="4638148" y="2493001"/>
                    <a:pt x="4634240" y="2494619"/>
                    <a:pt x="4630166" y="2494619"/>
                  </a:cubicBezTo>
                  <a:lnTo>
                    <a:pt x="15362" y="2494619"/>
                  </a:lnTo>
                  <a:cubicBezTo>
                    <a:pt x="6878" y="2494619"/>
                    <a:pt x="0" y="2487741"/>
                    <a:pt x="0" y="2479257"/>
                  </a:cubicBezTo>
                  <a:lnTo>
                    <a:pt x="0" y="15362"/>
                  </a:lnTo>
                  <a:cubicBezTo>
                    <a:pt x="0" y="11288"/>
                    <a:pt x="1619" y="7380"/>
                    <a:pt x="4500" y="4500"/>
                  </a:cubicBezTo>
                  <a:cubicBezTo>
                    <a:pt x="7380" y="1619"/>
                    <a:pt x="11288" y="0"/>
                    <a:pt x="1536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0" y="-47625"/>
              <a:ext cx="4645529" cy="2542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7"/>
          <p:cNvSpPr/>
          <p:nvPr/>
        </p:nvSpPr>
        <p:spPr>
          <a:xfrm>
            <a:off x="16972142" y="833462"/>
            <a:ext cx="384404" cy="371824"/>
          </a:xfrm>
          <a:custGeom>
            <a:rect b="b" l="l" r="r" t="t"/>
            <a:pathLst>
              <a:path extrusionOk="0" h="371824" w="384404">
                <a:moveTo>
                  <a:pt x="0" y="0"/>
                </a:moveTo>
                <a:lnTo>
                  <a:pt x="384404" y="0"/>
                </a:lnTo>
                <a:lnTo>
                  <a:pt x="384404" y="371823"/>
                </a:lnTo>
                <a:lnTo>
                  <a:pt x="0" y="371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7"/>
          <p:cNvSpPr/>
          <p:nvPr/>
        </p:nvSpPr>
        <p:spPr>
          <a:xfrm>
            <a:off x="974420" y="912857"/>
            <a:ext cx="436460" cy="292428"/>
          </a:xfrm>
          <a:custGeom>
            <a:rect b="b" l="l" r="r" t="t"/>
            <a:pathLst>
              <a:path extrusionOk="0" h="292428" w="436460">
                <a:moveTo>
                  <a:pt x="0" y="0"/>
                </a:moveTo>
                <a:lnTo>
                  <a:pt x="436460" y="0"/>
                </a:lnTo>
                <a:lnTo>
                  <a:pt x="436460" y="292428"/>
                </a:lnTo>
                <a:lnTo>
                  <a:pt x="0" y="29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7" name="Google Shape;277;p7"/>
          <p:cNvGrpSpPr/>
          <p:nvPr/>
        </p:nvGrpSpPr>
        <p:grpSpPr>
          <a:xfrm>
            <a:off x="1363369" y="1611596"/>
            <a:ext cx="15561262" cy="1426600"/>
            <a:chOff x="0" y="-47625"/>
            <a:chExt cx="5683822" cy="521072"/>
          </a:xfrm>
        </p:grpSpPr>
        <p:sp>
          <p:nvSpPr>
            <p:cNvPr id="278" name="Google Shape;278;p7"/>
            <p:cNvSpPr/>
            <p:nvPr/>
          </p:nvSpPr>
          <p:spPr>
            <a:xfrm>
              <a:off x="0" y="0"/>
              <a:ext cx="5683822" cy="473447"/>
            </a:xfrm>
            <a:custGeom>
              <a:rect b="b" l="l" r="r" t="t"/>
              <a:pathLst>
                <a:path extrusionOk="0" h="473447" w="5683822">
                  <a:moveTo>
                    <a:pt x="49751" y="0"/>
                  </a:moveTo>
                  <a:lnTo>
                    <a:pt x="5634071" y="0"/>
                  </a:lnTo>
                  <a:cubicBezTo>
                    <a:pt x="5647266" y="0"/>
                    <a:pt x="5659920" y="5242"/>
                    <a:pt x="5669250" y="14572"/>
                  </a:cubicBezTo>
                  <a:cubicBezTo>
                    <a:pt x="5678581" y="23902"/>
                    <a:pt x="5683822" y="36556"/>
                    <a:pt x="5683822" y="49751"/>
                  </a:cubicBezTo>
                  <a:lnTo>
                    <a:pt x="5683822" y="423696"/>
                  </a:lnTo>
                  <a:cubicBezTo>
                    <a:pt x="5683822" y="436890"/>
                    <a:pt x="5678581" y="449545"/>
                    <a:pt x="5669250" y="458875"/>
                  </a:cubicBezTo>
                  <a:cubicBezTo>
                    <a:pt x="5659920" y="468205"/>
                    <a:pt x="5647266" y="473447"/>
                    <a:pt x="5634071" y="473447"/>
                  </a:cubicBezTo>
                  <a:lnTo>
                    <a:pt x="49751" y="473447"/>
                  </a:lnTo>
                  <a:cubicBezTo>
                    <a:pt x="36556" y="473447"/>
                    <a:pt x="23902" y="468205"/>
                    <a:pt x="14572" y="458875"/>
                  </a:cubicBezTo>
                  <a:cubicBezTo>
                    <a:pt x="5242" y="449545"/>
                    <a:pt x="0" y="436890"/>
                    <a:pt x="0" y="423696"/>
                  </a:cubicBezTo>
                  <a:lnTo>
                    <a:pt x="0" y="49751"/>
                  </a:lnTo>
                  <a:cubicBezTo>
                    <a:pt x="0" y="36556"/>
                    <a:pt x="5242" y="23902"/>
                    <a:pt x="14572" y="14572"/>
                  </a:cubicBezTo>
                  <a:cubicBezTo>
                    <a:pt x="23902" y="5242"/>
                    <a:pt x="36556" y="0"/>
                    <a:pt x="49751" y="0"/>
                  </a:cubicBezTo>
                  <a:close/>
                </a:path>
              </a:pathLst>
            </a:custGeom>
            <a:solidFill>
              <a:srgbClr val="EA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7"/>
            <p:cNvSpPr txBox="1"/>
            <p:nvPr/>
          </p:nvSpPr>
          <p:spPr>
            <a:xfrm>
              <a:off x="0" y="-47625"/>
              <a:ext cx="5683822" cy="52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7"/>
          <p:cNvGrpSpPr/>
          <p:nvPr/>
        </p:nvGrpSpPr>
        <p:grpSpPr>
          <a:xfrm>
            <a:off x="1388128" y="4055810"/>
            <a:ext cx="15489995" cy="1687219"/>
            <a:chOff x="0" y="-47625"/>
            <a:chExt cx="5657792" cy="616265"/>
          </a:xfrm>
        </p:grpSpPr>
        <p:sp>
          <p:nvSpPr>
            <p:cNvPr id="281" name="Google Shape;281;p7"/>
            <p:cNvSpPr/>
            <p:nvPr/>
          </p:nvSpPr>
          <p:spPr>
            <a:xfrm>
              <a:off x="0" y="0"/>
              <a:ext cx="5657791" cy="568640"/>
            </a:xfrm>
            <a:custGeom>
              <a:rect b="b" l="l" r="r" t="t"/>
              <a:pathLst>
                <a:path extrusionOk="0" h="568640" w="5657791">
                  <a:moveTo>
                    <a:pt x="24990" y="0"/>
                  </a:moveTo>
                  <a:lnTo>
                    <a:pt x="5632802" y="0"/>
                  </a:lnTo>
                  <a:cubicBezTo>
                    <a:pt x="5639429" y="0"/>
                    <a:pt x="5645786" y="2633"/>
                    <a:pt x="5650472" y="7319"/>
                  </a:cubicBezTo>
                  <a:cubicBezTo>
                    <a:pt x="5655159" y="12006"/>
                    <a:pt x="5657791" y="18362"/>
                    <a:pt x="5657791" y="24990"/>
                  </a:cubicBezTo>
                  <a:lnTo>
                    <a:pt x="5657791" y="543650"/>
                  </a:lnTo>
                  <a:cubicBezTo>
                    <a:pt x="5657791" y="557451"/>
                    <a:pt x="5646603" y="568640"/>
                    <a:pt x="5632802" y="568640"/>
                  </a:cubicBezTo>
                  <a:lnTo>
                    <a:pt x="24990" y="568640"/>
                  </a:lnTo>
                  <a:cubicBezTo>
                    <a:pt x="11188" y="568640"/>
                    <a:pt x="0" y="557451"/>
                    <a:pt x="0" y="543650"/>
                  </a:cubicBezTo>
                  <a:lnTo>
                    <a:pt x="0" y="24990"/>
                  </a:lnTo>
                  <a:cubicBezTo>
                    <a:pt x="0" y="18362"/>
                    <a:pt x="2633" y="12006"/>
                    <a:pt x="7319" y="7319"/>
                  </a:cubicBezTo>
                  <a:cubicBezTo>
                    <a:pt x="12006" y="2633"/>
                    <a:pt x="18362" y="0"/>
                    <a:pt x="24990" y="0"/>
                  </a:cubicBezTo>
                  <a:close/>
                </a:path>
              </a:pathLst>
            </a:custGeom>
            <a:solidFill>
              <a:srgbClr val="F2F2F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7"/>
            <p:cNvSpPr txBox="1"/>
            <p:nvPr/>
          </p:nvSpPr>
          <p:spPr>
            <a:xfrm>
              <a:off x="0" y="-47625"/>
              <a:ext cx="5657792" cy="616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7"/>
          <p:cNvGrpSpPr/>
          <p:nvPr/>
        </p:nvGrpSpPr>
        <p:grpSpPr>
          <a:xfrm>
            <a:off x="1375247" y="6164346"/>
            <a:ext cx="15502879" cy="1712078"/>
            <a:chOff x="0" y="-47625"/>
            <a:chExt cx="5662497" cy="625345"/>
          </a:xfrm>
        </p:grpSpPr>
        <p:sp>
          <p:nvSpPr>
            <p:cNvPr id="284" name="Google Shape;284;p7"/>
            <p:cNvSpPr/>
            <p:nvPr/>
          </p:nvSpPr>
          <p:spPr>
            <a:xfrm>
              <a:off x="0" y="0"/>
              <a:ext cx="5662497" cy="577720"/>
            </a:xfrm>
            <a:custGeom>
              <a:rect b="b" l="l" r="r" t="t"/>
              <a:pathLst>
                <a:path extrusionOk="0" h="577720" w="5662497">
                  <a:moveTo>
                    <a:pt x="24969" y="0"/>
                  </a:moveTo>
                  <a:lnTo>
                    <a:pt x="5637527" y="0"/>
                  </a:lnTo>
                  <a:cubicBezTo>
                    <a:pt x="5651317" y="0"/>
                    <a:pt x="5662497" y="11179"/>
                    <a:pt x="5662497" y="24969"/>
                  </a:cubicBezTo>
                  <a:lnTo>
                    <a:pt x="5662497" y="552750"/>
                  </a:lnTo>
                  <a:cubicBezTo>
                    <a:pt x="5662497" y="559373"/>
                    <a:pt x="5659866" y="565724"/>
                    <a:pt x="5655183" y="570406"/>
                  </a:cubicBezTo>
                  <a:cubicBezTo>
                    <a:pt x="5650500" y="575089"/>
                    <a:pt x="5644150" y="577720"/>
                    <a:pt x="5637527" y="577720"/>
                  </a:cubicBezTo>
                  <a:lnTo>
                    <a:pt x="24969" y="577720"/>
                  </a:lnTo>
                  <a:cubicBezTo>
                    <a:pt x="18347" y="577720"/>
                    <a:pt x="11996" y="575089"/>
                    <a:pt x="7313" y="570406"/>
                  </a:cubicBezTo>
                  <a:cubicBezTo>
                    <a:pt x="2631" y="565724"/>
                    <a:pt x="0" y="559373"/>
                    <a:pt x="0" y="552750"/>
                  </a:cubicBezTo>
                  <a:lnTo>
                    <a:pt x="0" y="24969"/>
                  </a:lnTo>
                  <a:cubicBezTo>
                    <a:pt x="0" y="18347"/>
                    <a:pt x="2631" y="11996"/>
                    <a:pt x="7313" y="7313"/>
                  </a:cubicBezTo>
                  <a:cubicBezTo>
                    <a:pt x="11996" y="2631"/>
                    <a:pt x="18347" y="0"/>
                    <a:pt x="24969" y="0"/>
                  </a:cubicBezTo>
                  <a:close/>
                </a:path>
              </a:pathLst>
            </a:custGeom>
            <a:solidFill>
              <a:srgbClr val="F2F2F2">
                <a:alpha val="4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7"/>
            <p:cNvSpPr txBox="1"/>
            <p:nvPr/>
          </p:nvSpPr>
          <p:spPr>
            <a:xfrm>
              <a:off x="0" y="-47625"/>
              <a:ext cx="5662496" cy="625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7"/>
          <p:cNvSpPr txBox="1"/>
          <p:nvPr/>
        </p:nvSpPr>
        <p:spPr>
          <a:xfrm>
            <a:off x="6125755" y="946580"/>
            <a:ext cx="6036490" cy="349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BUSINESS PRESENTATION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1892245" y="1917773"/>
            <a:ext cx="1111150" cy="84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2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3241315" y="2031420"/>
            <a:ext cx="13037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보험금 청구 시 필요한 주요 서류 목록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5685788" y="4329614"/>
            <a:ext cx="10593193" cy="1184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사고 경위서 (사고 원인 , 일시, 장소) → 텍스트 분서으로 사고 유형 분류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경찰 / 소방서 사고 확인서  (공문서 기반 사고 증빙 )  → 문서 분류 모델로 공문서 자동 인식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수리견적서 / 영수증 ( 자동차 , 재산 손해 보상용)  → OCR로 금액 및 항목 식별 </a:t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2168681" y="4697372"/>
            <a:ext cx="329469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사고 관련 서류(손해 보험)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5958021" y="6648207"/>
            <a:ext cx="10593193" cy="784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사망 진산서 ( 사망 원인 , 시각)  → 병명 코드 / 사인 분석</a:t>
            </a:r>
            <a:endParaRPr/>
          </a:p>
          <a:p>
            <a:pPr indent="-215903" lvl="1" marL="431806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가족관계증명서 ( 수익자 확인)  → OCR  + 관계 필드 추출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2168681" y="6866011"/>
            <a:ext cx="329469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799"/>
                </a:solidFill>
                <a:latin typeface="Arial"/>
                <a:ea typeface="Arial"/>
                <a:cs typeface="Arial"/>
                <a:sym typeface="Arial"/>
              </a:rPr>
              <a:t>사망 보험금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</dc:creator>
</cp:coreProperties>
</file>